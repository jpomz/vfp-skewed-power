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915" r:id="rId4"/>
    <p:sldId id="258" r:id="rId5"/>
  </p:sldIdLst>
  <p:sldSz cx="12192000" cy="1463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14A"/>
    <a:srgbClr val="13A1FF"/>
    <a:srgbClr val="7F7F7F"/>
    <a:srgbClr val="F253A8"/>
    <a:srgbClr val="BC36FF"/>
    <a:srgbClr val="BC54F0"/>
    <a:srgbClr val="9C37CE"/>
    <a:srgbClr val="7C409A"/>
    <a:srgbClr val="E1BAFC"/>
    <a:srgbClr val="9D1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50" d="100"/>
          <a:sy n="50" d="100"/>
        </p:scale>
        <p:origin x="28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960401-C00D-4C97-9760-512D4C5F0D5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1143000"/>
            <a:ext cx="2571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565335-84EB-4614-9D4E-CB52ADEDA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7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43125" y="1143000"/>
            <a:ext cx="25717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 </a:t>
            </a:r>
            <a:r>
              <a:rPr lang="en-US" dirty="0">
                <a:sym typeface="Wingdings" panose="05000000000000000000" pitchFamily="2" charset="2"/>
              </a:rPr>
              <a:t> one J, estimate strengths metabolic</a:t>
            </a:r>
          </a:p>
          <a:p>
            <a:r>
              <a:rPr lang="en-US" dirty="0">
                <a:sym typeface="Wingdings" panose="05000000000000000000" pitchFamily="2" charset="2"/>
              </a:rPr>
              <a:t>Using strengths,</a:t>
            </a:r>
            <a:r>
              <a:rPr lang="en-US" baseline="0" dirty="0">
                <a:sym typeface="Wingdings" panose="05000000000000000000" pitchFamily="2" charset="2"/>
              </a:rPr>
              <a:t> calculate local </a:t>
            </a:r>
            <a:r>
              <a:rPr lang="en-US" b="1" baseline="0" dirty="0">
                <a:sym typeface="Wingdings" panose="05000000000000000000" pitchFamily="2" charset="2"/>
              </a:rPr>
              <a:t>STABILITY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27B6BC-A51E-4F8B-A465-291A10E66A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063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94375"/>
            <a:ext cx="9144000" cy="509354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684349"/>
            <a:ext cx="9144000" cy="35322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8660-B115-4A56-A442-57F2E8C7E01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38807-1817-465B-88EC-4BCF6E726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8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8660-B115-4A56-A442-57F2E8C7E01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38807-1817-465B-88EC-4BCF6E726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053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47443"/>
            <a:ext cx="10515600" cy="608583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9790857"/>
            <a:ext cx="10515600" cy="32003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8660-B115-4A56-A442-57F2E8C7E01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38807-1817-465B-88EC-4BCF6E726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46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894667"/>
            <a:ext cx="5181600" cy="9282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894667"/>
            <a:ext cx="5181600" cy="9282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8660-B115-4A56-A442-57F2E8C7E01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38807-1817-465B-88EC-4BCF6E726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62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78935"/>
            <a:ext cx="10515600" cy="28278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3586482"/>
            <a:ext cx="5157787" cy="175767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5344161"/>
            <a:ext cx="5157787" cy="78604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3586482"/>
            <a:ext cx="5183188" cy="175767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5344161"/>
            <a:ext cx="5183188" cy="78604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8660-B115-4A56-A442-57F2E8C7E01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38807-1817-465B-88EC-4BCF6E726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54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8660-B115-4A56-A442-57F2E8C7E01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38807-1817-465B-88EC-4BCF6E726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95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8660-B115-4A56-A442-57F2E8C7E01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38807-1817-465B-88EC-4BCF6E726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10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975360"/>
            <a:ext cx="3932237" cy="34137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106508"/>
            <a:ext cx="6172200" cy="103970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4389121"/>
            <a:ext cx="3932237" cy="81313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8660-B115-4A56-A442-57F2E8C7E01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38807-1817-465B-88EC-4BCF6E726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043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975360"/>
            <a:ext cx="3932237" cy="34137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106508"/>
            <a:ext cx="6172200" cy="1039706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4389121"/>
            <a:ext cx="3932237" cy="81313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8660-B115-4A56-A442-57F2E8C7E01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38807-1817-465B-88EC-4BCF6E726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98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8660-B115-4A56-A442-57F2E8C7E01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38807-1817-465B-88EC-4BCF6E726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90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78934"/>
            <a:ext cx="2628900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78934"/>
            <a:ext cx="7734300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8660-B115-4A56-A442-57F2E8C7E01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38807-1817-465B-88EC-4BCF6E726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0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78935"/>
            <a:ext cx="10515600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894667"/>
            <a:ext cx="10515600" cy="9282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3560215"/>
            <a:ext cx="274320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88660-B115-4A56-A442-57F2E8C7E01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3560215"/>
            <a:ext cx="411480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3560215"/>
            <a:ext cx="274320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38807-1817-465B-88EC-4BCF6E726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29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21.png"/><Relationship Id="rId18" Type="http://schemas.openxmlformats.org/officeDocument/2006/relationships/image" Target="../media/image23.png"/><Relationship Id="rId3" Type="http://schemas.openxmlformats.org/officeDocument/2006/relationships/image" Target="../media/image2.png"/><Relationship Id="rId21" Type="http://schemas.openxmlformats.org/officeDocument/2006/relationships/image" Target="../media/image25.png"/><Relationship Id="rId7" Type="http://schemas.openxmlformats.org/officeDocument/2006/relationships/image" Target="../media/image18.png"/><Relationship Id="rId12" Type="http://schemas.openxmlformats.org/officeDocument/2006/relationships/image" Target="../media/image20.png"/><Relationship Id="rId17" Type="http://schemas.openxmlformats.org/officeDocument/2006/relationships/image" Target="../media/image22.png"/><Relationship Id="rId2" Type="http://schemas.openxmlformats.org/officeDocument/2006/relationships/image" Target="../media/image14.png"/><Relationship Id="rId16" Type="http://schemas.openxmlformats.org/officeDocument/2006/relationships/image" Target="../media/image20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9.png"/><Relationship Id="rId5" Type="http://schemas.openxmlformats.org/officeDocument/2006/relationships/image" Target="../media/image16.png"/><Relationship Id="rId15" Type="http://schemas.openxmlformats.org/officeDocument/2006/relationships/image" Target="../media/image190.png"/><Relationship Id="rId10" Type="http://schemas.openxmlformats.org/officeDocument/2006/relationships/image" Target="../media/image19.png"/><Relationship Id="rId19" Type="http://schemas.openxmlformats.org/officeDocument/2006/relationships/image" Target="../media/image230.png"/><Relationship Id="rId4" Type="http://schemas.openxmlformats.org/officeDocument/2006/relationships/image" Target="../media/image15.png"/><Relationship Id="rId9" Type="http://schemas.openxmlformats.org/officeDocument/2006/relationships/image" Target="../media/image180.png"/><Relationship Id="rId14" Type="http://schemas.openxmlformats.org/officeDocument/2006/relationships/image" Target="../media/image14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roup 345">
            <a:extLst>
              <a:ext uri="{FF2B5EF4-FFF2-40B4-BE49-F238E27FC236}">
                <a16:creationId xmlns:a16="http://schemas.microsoft.com/office/drawing/2014/main" id="{5581505A-D2BA-2F01-3DDB-46B71F38121D}"/>
              </a:ext>
            </a:extLst>
          </p:cNvPr>
          <p:cNvGrpSpPr/>
          <p:nvPr/>
        </p:nvGrpSpPr>
        <p:grpSpPr>
          <a:xfrm>
            <a:off x="4483397" y="1287459"/>
            <a:ext cx="3099816" cy="3300307"/>
            <a:chOff x="4483397" y="1287459"/>
            <a:chExt cx="3099816" cy="3300307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389ECEB-596A-6CA0-B8C4-DECCD09162F2}"/>
                </a:ext>
              </a:extLst>
            </p:cNvPr>
            <p:cNvSpPr txBox="1"/>
            <p:nvPr/>
          </p:nvSpPr>
          <p:spPr>
            <a:xfrm>
              <a:off x="4483397" y="1287459"/>
              <a:ext cx="30998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+mj-lt"/>
                </a:rPr>
                <a:t>Sampling Probability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7B8CC65-3885-D91D-50AF-583DC2B5F8CB}"/>
                </a:ext>
              </a:extLst>
            </p:cNvPr>
            <p:cNvSpPr/>
            <p:nvPr/>
          </p:nvSpPr>
          <p:spPr>
            <a:xfrm flipH="1">
              <a:off x="6343850" y="1982681"/>
              <a:ext cx="45720" cy="2252003"/>
            </a:xfrm>
            <a:prstGeom prst="rect">
              <a:avLst/>
            </a:prstGeom>
            <a:solidFill>
              <a:srgbClr val="821D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A41D140-91BD-9A2F-60E6-2A48967C9939}"/>
                </a:ext>
              </a:extLst>
            </p:cNvPr>
            <p:cNvSpPr/>
            <p:nvPr/>
          </p:nvSpPr>
          <p:spPr>
            <a:xfrm flipH="1">
              <a:off x="6207173" y="1982681"/>
              <a:ext cx="45720" cy="2252003"/>
            </a:xfrm>
            <a:prstGeom prst="rect">
              <a:avLst/>
            </a:prstGeom>
            <a:solidFill>
              <a:srgbClr val="821D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5F40458-7D1B-2F5F-4661-65485BA869D4}"/>
                </a:ext>
              </a:extLst>
            </p:cNvPr>
            <p:cNvSpPr/>
            <p:nvPr/>
          </p:nvSpPr>
          <p:spPr>
            <a:xfrm flipH="1">
              <a:off x="6070496" y="1982681"/>
              <a:ext cx="45720" cy="2252003"/>
            </a:xfrm>
            <a:prstGeom prst="rect">
              <a:avLst/>
            </a:prstGeom>
            <a:solidFill>
              <a:srgbClr val="821D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EB06C97-D61E-EBED-0A2E-76D4CDEB4435}"/>
                </a:ext>
              </a:extLst>
            </p:cNvPr>
            <p:cNvSpPr/>
            <p:nvPr/>
          </p:nvSpPr>
          <p:spPr>
            <a:xfrm flipH="1">
              <a:off x="5933819" y="1982681"/>
              <a:ext cx="45720" cy="2252003"/>
            </a:xfrm>
            <a:prstGeom prst="rect">
              <a:avLst/>
            </a:prstGeom>
            <a:solidFill>
              <a:srgbClr val="821D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05645F9-08CE-88A7-FB01-440245124709}"/>
                </a:ext>
              </a:extLst>
            </p:cNvPr>
            <p:cNvSpPr/>
            <p:nvPr/>
          </p:nvSpPr>
          <p:spPr>
            <a:xfrm flipH="1">
              <a:off x="5797142" y="2061814"/>
              <a:ext cx="45719" cy="2172870"/>
            </a:xfrm>
            <a:prstGeom prst="rect">
              <a:avLst/>
            </a:prstGeom>
            <a:solidFill>
              <a:srgbClr val="821D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9026A69-8F5F-890D-BD78-3CC84D59A500}"/>
                </a:ext>
              </a:extLst>
            </p:cNvPr>
            <p:cNvSpPr/>
            <p:nvPr/>
          </p:nvSpPr>
          <p:spPr>
            <a:xfrm flipH="1">
              <a:off x="5660466" y="2594827"/>
              <a:ext cx="45719" cy="1639858"/>
            </a:xfrm>
            <a:prstGeom prst="rect">
              <a:avLst/>
            </a:prstGeom>
            <a:solidFill>
              <a:srgbClr val="821D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25F1ABB-D344-6C50-10E9-BB313AF3408A}"/>
                </a:ext>
              </a:extLst>
            </p:cNvPr>
            <p:cNvSpPr/>
            <p:nvPr/>
          </p:nvSpPr>
          <p:spPr>
            <a:xfrm flipH="1">
              <a:off x="5523790" y="3070314"/>
              <a:ext cx="45719" cy="1164369"/>
            </a:xfrm>
            <a:prstGeom prst="rect">
              <a:avLst/>
            </a:prstGeom>
            <a:solidFill>
              <a:srgbClr val="821D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ACC87E0-6B43-2554-40D4-A73B499AABEF}"/>
                </a:ext>
              </a:extLst>
            </p:cNvPr>
            <p:cNvSpPr/>
            <p:nvPr/>
          </p:nvSpPr>
          <p:spPr>
            <a:xfrm flipH="1">
              <a:off x="5384650" y="3454362"/>
              <a:ext cx="45720" cy="780324"/>
            </a:xfrm>
            <a:prstGeom prst="rect">
              <a:avLst/>
            </a:prstGeom>
            <a:solidFill>
              <a:srgbClr val="821D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2D20DD0-366A-F354-2FE4-DC280882E358}"/>
                </a:ext>
              </a:extLst>
            </p:cNvPr>
            <p:cNvSpPr/>
            <p:nvPr/>
          </p:nvSpPr>
          <p:spPr>
            <a:xfrm flipH="1">
              <a:off x="5238829" y="3906139"/>
              <a:ext cx="45719" cy="328546"/>
            </a:xfrm>
            <a:prstGeom prst="rect">
              <a:avLst/>
            </a:prstGeom>
            <a:solidFill>
              <a:srgbClr val="821D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E2065E67-CCDB-4D74-596C-2517B1E61208}"/>
                </a:ext>
              </a:extLst>
            </p:cNvPr>
            <p:cNvCxnSpPr>
              <a:cxnSpLocks/>
            </p:cNvCxnSpPr>
            <p:nvPr/>
          </p:nvCxnSpPr>
          <p:spPr>
            <a:xfrm>
              <a:off x="5138246" y="1831154"/>
              <a:ext cx="0" cy="2419241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E63607D-69FE-06C5-3622-00687D67A1CD}"/>
                </a:ext>
              </a:extLst>
            </p:cNvPr>
            <p:cNvSpPr txBox="1"/>
            <p:nvPr/>
          </p:nvSpPr>
          <p:spPr>
            <a:xfrm>
              <a:off x="5379572" y="4279989"/>
              <a:ext cx="14434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Body Size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257681B5-FD8A-8CD8-136F-E3E3CA17617D}"/>
                </a:ext>
              </a:extLst>
            </p:cNvPr>
            <p:cNvSpPr txBox="1"/>
            <p:nvPr/>
          </p:nvSpPr>
          <p:spPr>
            <a:xfrm rot="16200000">
              <a:off x="3629946" y="2788790"/>
              <a:ext cx="24384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Probability of being collected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51E2BBF-9136-A30D-D10E-C98E041C4C78}"/>
                </a:ext>
              </a:extLst>
            </p:cNvPr>
            <p:cNvSpPr/>
            <p:nvPr/>
          </p:nvSpPr>
          <p:spPr>
            <a:xfrm flipH="1">
              <a:off x="6890558" y="1978666"/>
              <a:ext cx="45720" cy="2252003"/>
            </a:xfrm>
            <a:prstGeom prst="rect">
              <a:avLst/>
            </a:prstGeom>
            <a:solidFill>
              <a:srgbClr val="821D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A4A3E49B-7E53-7BAC-1B01-6844E8F091E8}"/>
                </a:ext>
              </a:extLst>
            </p:cNvPr>
            <p:cNvSpPr/>
            <p:nvPr/>
          </p:nvSpPr>
          <p:spPr>
            <a:xfrm flipH="1">
              <a:off x="6753881" y="1978666"/>
              <a:ext cx="45720" cy="2252003"/>
            </a:xfrm>
            <a:prstGeom prst="rect">
              <a:avLst/>
            </a:prstGeom>
            <a:solidFill>
              <a:srgbClr val="821D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87631E0A-EF9C-4BAD-BA2F-FD39FDDE6451}"/>
                </a:ext>
              </a:extLst>
            </p:cNvPr>
            <p:cNvSpPr/>
            <p:nvPr/>
          </p:nvSpPr>
          <p:spPr>
            <a:xfrm flipH="1">
              <a:off x="6617204" y="1978666"/>
              <a:ext cx="45720" cy="2252003"/>
            </a:xfrm>
            <a:prstGeom prst="rect">
              <a:avLst/>
            </a:prstGeom>
            <a:solidFill>
              <a:srgbClr val="821D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E7E0302-3030-7468-E58C-EE632629F675}"/>
                </a:ext>
              </a:extLst>
            </p:cNvPr>
            <p:cNvSpPr/>
            <p:nvPr/>
          </p:nvSpPr>
          <p:spPr>
            <a:xfrm flipH="1">
              <a:off x="6480527" y="1978666"/>
              <a:ext cx="45720" cy="2252003"/>
            </a:xfrm>
            <a:prstGeom prst="rect">
              <a:avLst/>
            </a:prstGeom>
            <a:solidFill>
              <a:srgbClr val="821D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6D3EBBEE-36D2-9AB9-B06C-235D6434485A}"/>
                </a:ext>
              </a:extLst>
            </p:cNvPr>
            <p:cNvSpPr/>
            <p:nvPr/>
          </p:nvSpPr>
          <p:spPr>
            <a:xfrm flipH="1">
              <a:off x="7027235" y="1978666"/>
              <a:ext cx="45720" cy="2252003"/>
            </a:xfrm>
            <a:prstGeom prst="rect">
              <a:avLst/>
            </a:prstGeom>
            <a:solidFill>
              <a:srgbClr val="821D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AB38CEB4-E2B1-C4D5-B1DA-C30AB3AE3957}"/>
                </a:ext>
              </a:extLst>
            </p:cNvPr>
            <p:cNvCxnSpPr>
              <a:cxnSpLocks/>
            </p:cNvCxnSpPr>
            <p:nvPr/>
          </p:nvCxnSpPr>
          <p:spPr>
            <a:xfrm>
              <a:off x="5115241" y="4224914"/>
              <a:ext cx="1986464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6" name="Multiplication Sign 105">
            <a:extLst>
              <a:ext uri="{FF2B5EF4-FFF2-40B4-BE49-F238E27FC236}">
                <a16:creationId xmlns:a16="http://schemas.microsoft.com/office/drawing/2014/main" id="{D740C831-95C4-5881-5F5B-6E8313D0DE40}"/>
              </a:ext>
            </a:extLst>
          </p:cNvPr>
          <p:cNvSpPr/>
          <p:nvPr/>
        </p:nvSpPr>
        <p:spPr>
          <a:xfrm>
            <a:off x="3575953" y="2699968"/>
            <a:ext cx="630936" cy="630936"/>
          </a:xfrm>
          <a:prstGeom prst="mathMultiply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Equals 106">
            <a:extLst>
              <a:ext uri="{FF2B5EF4-FFF2-40B4-BE49-F238E27FC236}">
                <a16:creationId xmlns:a16="http://schemas.microsoft.com/office/drawing/2014/main" id="{5C8FD625-1543-BB62-8907-84BFE6B4B807}"/>
              </a:ext>
            </a:extLst>
          </p:cNvPr>
          <p:cNvSpPr/>
          <p:nvPr/>
        </p:nvSpPr>
        <p:spPr>
          <a:xfrm>
            <a:off x="7859721" y="2701425"/>
            <a:ext cx="630936" cy="628022"/>
          </a:xfrm>
          <a:prstGeom prst="mathEqual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A0346048-8953-CDAE-31DA-14D46A530611}"/>
              </a:ext>
            </a:extLst>
          </p:cNvPr>
          <p:cNvGrpSpPr/>
          <p:nvPr/>
        </p:nvGrpSpPr>
        <p:grpSpPr>
          <a:xfrm>
            <a:off x="8767164" y="1237494"/>
            <a:ext cx="3099816" cy="3350272"/>
            <a:chOff x="7978708" y="132086"/>
            <a:chExt cx="3099816" cy="33502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B84FDC3B-0D27-AC35-FBFC-38A4AEDFF0FF}"/>
                    </a:ext>
                  </a:extLst>
                </p:cNvPr>
                <p:cNvSpPr txBox="1"/>
                <p:nvPr/>
              </p:nvSpPr>
              <p:spPr>
                <a:xfrm>
                  <a:off x="7978708" y="132086"/>
                  <a:ext cx="309981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+mj-lt"/>
                    </a:rPr>
                    <a:t>Censored Body Size Distribution, </a:t>
                  </a:r>
                  <a14:m>
                    <m:oMath xmlns:m="http://schemas.openxmlformats.org/officeDocument/2006/math">
                      <m:acc>
                        <m:accPr>
                          <m:chr m:val="⃖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</m:oMath>
                  </a14:m>
                  <a:endParaRPr lang="en-US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B84FDC3B-0D27-AC35-FBFC-38A4AEDFF0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8708" y="132086"/>
                  <a:ext cx="3099816" cy="646331"/>
                </a:xfrm>
                <a:prstGeom prst="rect">
                  <a:avLst/>
                </a:prstGeom>
                <a:blipFill>
                  <a:blip r:embed="rId2"/>
                  <a:stretch>
                    <a:fillRect t="-3774" b="-150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760F469-DBFA-033D-0F82-0869CE4FB8A3}"/>
                </a:ext>
              </a:extLst>
            </p:cNvPr>
            <p:cNvSpPr txBox="1"/>
            <p:nvPr/>
          </p:nvSpPr>
          <p:spPr>
            <a:xfrm rot="16200000">
              <a:off x="7608172" y="1763680"/>
              <a:ext cx="14434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Frequency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1AA66DA-FF06-FB11-2E20-BB4F8EA7AAAE}"/>
                </a:ext>
              </a:extLst>
            </p:cNvPr>
            <p:cNvSpPr/>
            <p:nvPr/>
          </p:nvSpPr>
          <p:spPr>
            <a:xfrm>
              <a:off x="8661593" y="2637231"/>
              <a:ext cx="45719" cy="4742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45B0660D-87C4-1A72-8CCA-3481157B4AEE}"/>
                </a:ext>
              </a:extLst>
            </p:cNvPr>
            <p:cNvSpPr/>
            <p:nvPr/>
          </p:nvSpPr>
          <p:spPr>
            <a:xfrm>
              <a:off x="8800001" y="2331156"/>
              <a:ext cx="45719" cy="78032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582CAC0A-A3F8-F60A-E90A-802E8D522B1C}"/>
                </a:ext>
              </a:extLst>
            </p:cNvPr>
            <p:cNvSpPr/>
            <p:nvPr/>
          </p:nvSpPr>
          <p:spPr>
            <a:xfrm>
              <a:off x="8938409" y="2019258"/>
              <a:ext cx="45719" cy="1092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049A259C-C50A-5C5A-71E7-51EB7D4A6FE8}"/>
                </a:ext>
              </a:extLst>
            </p:cNvPr>
            <p:cNvSpPr/>
            <p:nvPr/>
          </p:nvSpPr>
          <p:spPr>
            <a:xfrm>
              <a:off x="9076817" y="1838388"/>
              <a:ext cx="45719" cy="12730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FD44CA73-1776-4084-AF3D-6F86CA463B42}"/>
                </a:ext>
              </a:extLst>
            </p:cNvPr>
            <p:cNvSpPr/>
            <p:nvPr/>
          </p:nvSpPr>
          <p:spPr>
            <a:xfrm>
              <a:off x="9215225" y="2019258"/>
              <a:ext cx="45719" cy="10922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BF41EF4A-55F9-8EE3-3B49-AF98581C7353}"/>
                </a:ext>
              </a:extLst>
            </p:cNvPr>
            <p:cNvSpPr/>
            <p:nvPr/>
          </p:nvSpPr>
          <p:spPr>
            <a:xfrm>
              <a:off x="9353633" y="2210176"/>
              <a:ext cx="45719" cy="9013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48BA672-B12D-AB39-5D90-8D49BB81B5D0}"/>
                </a:ext>
              </a:extLst>
            </p:cNvPr>
            <p:cNvSpPr/>
            <p:nvPr/>
          </p:nvSpPr>
          <p:spPr>
            <a:xfrm>
              <a:off x="9492041" y="2436265"/>
              <a:ext cx="45719" cy="6752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6D100A0-33AA-E5A5-DD1B-DC8B25D638D5}"/>
                </a:ext>
              </a:extLst>
            </p:cNvPr>
            <p:cNvSpPr/>
            <p:nvPr/>
          </p:nvSpPr>
          <p:spPr>
            <a:xfrm>
              <a:off x="9630449" y="2637231"/>
              <a:ext cx="45719" cy="4742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321EA72F-367A-7842-14A6-5ABC16D2E06A}"/>
                </a:ext>
              </a:extLst>
            </p:cNvPr>
            <p:cNvSpPr/>
            <p:nvPr/>
          </p:nvSpPr>
          <p:spPr>
            <a:xfrm>
              <a:off x="9768857" y="2782932"/>
              <a:ext cx="45719" cy="328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C523189-36BB-BB07-CCFC-B2579E7B0CD3}"/>
                </a:ext>
              </a:extLst>
            </p:cNvPr>
            <p:cNvSpPr/>
            <p:nvPr/>
          </p:nvSpPr>
          <p:spPr>
            <a:xfrm>
              <a:off x="9907265" y="2898488"/>
              <a:ext cx="45719" cy="2129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01A9956D-6EE4-16D9-CB7E-58B37A4ABE5A}"/>
                </a:ext>
              </a:extLst>
            </p:cNvPr>
            <p:cNvSpPr/>
            <p:nvPr/>
          </p:nvSpPr>
          <p:spPr>
            <a:xfrm>
              <a:off x="10045673" y="2943706"/>
              <a:ext cx="45719" cy="1677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45B035E-B653-3B78-2BFB-8741DE9DB8D9}"/>
                </a:ext>
              </a:extLst>
            </p:cNvPr>
            <p:cNvSpPr/>
            <p:nvPr/>
          </p:nvSpPr>
          <p:spPr>
            <a:xfrm>
              <a:off x="10184081" y="2988924"/>
              <a:ext cx="45719" cy="122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28DD3563-FC7E-01D7-4AEB-F6A05B20EBC0}"/>
                </a:ext>
              </a:extLst>
            </p:cNvPr>
            <p:cNvSpPr/>
            <p:nvPr/>
          </p:nvSpPr>
          <p:spPr>
            <a:xfrm>
              <a:off x="10322489" y="2988924"/>
              <a:ext cx="45719" cy="122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21AD0D9-7C75-19F3-A862-A3D519D289D2}"/>
                </a:ext>
              </a:extLst>
            </p:cNvPr>
            <p:cNvCxnSpPr>
              <a:cxnSpLocks/>
            </p:cNvCxnSpPr>
            <p:nvPr/>
          </p:nvCxnSpPr>
          <p:spPr>
            <a:xfrm>
              <a:off x="8561009" y="707948"/>
              <a:ext cx="0" cy="2419241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956A0AC0-2EFE-F2FD-1B02-350624F55D5D}"/>
                </a:ext>
              </a:extLst>
            </p:cNvPr>
            <p:cNvSpPr txBox="1"/>
            <p:nvPr/>
          </p:nvSpPr>
          <p:spPr>
            <a:xfrm>
              <a:off x="8835219" y="3174581"/>
              <a:ext cx="14434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Body Size</a:t>
              </a: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AE54F1FA-519A-205C-FB71-A7BEB2491733}"/>
                </a:ext>
              </a:extLst>
            </p:cNvPr>
            <p:cNvCxnSpPr>
              <a:cxnSpLocks/>
            </p:cNvCxnSpPr>
            <p:nvPr/>
          </p:nvCxnSpPr>
          <p:spPr>
            <a:xfrm>
              <a:off x="8535384" y="3106303"/>
              <a:ext cx="1986464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6EF82B3-1413-0462-7642-898DE78C00A2}"/>
              </a:ext>
            </a:extLst>
          </p:cNvPr>
          <p:cNvGrpSpPr/>
          <p:nvPr/>
        </p:nvGrpSpPr>
        <p:grpSpPr>
          <a:xfrm>
            <a:off x="199629" y="1323066"/>
            <a:ext cx="3376324" cy="3169450"/>
            <a:chOff x="430933" y="563541"/>
            <a:chExt cx="3376324" cy="31694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0B8D6713-55A4-8152-07BC-ACA271429FAF}"/>
                    </a:ext>
                  </a:extLst>
                </p:cNvPr>
                <p:cNvSpPr txBox="1"/>
                <p:nvPr/>
              </p:nvSpPr>
              <p:spPr>
                <a:xfrm>
                  <a:off x="430933" y="563541"/>
                  <a:ext cx="33763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+mj-lt"/>
                    </a:rPr>
                    <a:t>True Body Size Distribution,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a14:m>
                  <a:endParaRPr lang="en-US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0B8D6713-55A4-8152-07BC-ACA271429F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933" y="563541"/>
                  <a:ext cx="3376324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083" t="-6557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47EB73B6-8BDB-279E-8A51-01EB642B1B75}"/>
                </a:ext>
              </a:extLst>
            </p:cNvPr>
            <p:cNvGrpSpPr/>
            <p:nvPr/>
          </p:nvGrpSpPr>
          <p:grpSpPr>
            <a:xfrm>
              <a:off x="714102" y="958581"/>
              <a:ext cx="2341544" cy="2774410"/>
              <a:chOff x="302494" y="958581"/>
              <a:chExt cx="2341544" cy="277441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C2ED9E6-4137-2E60-E584-B45C9E430259}"/>
                  </a:ext>
                </a:extLst>
              </p:cNvPr>
              <p:cNvSpPr/>
              <p:nvPr/>
            </p:nvSpPr>
            <p:spPr>
              <a:xfrm>
                <a:off x="788063" y="1110110"/>
                <a:ext cx="45719" cy="225200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EB72FA5-0237-A833-B064-DFBC00A46061}"/>
                  </a:ext>
                </a:extLst>
              </p:cNvPr>
              <p:cNvSpPr/>
              <p:nvPr/>
            </p:nvSpPr>
            <p:spPr>
              <a:xfrm>
                <a:off x="926471" y="1440901"/>
                <a:ext cx="45719" cy="19212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F01D81E-0D24-9320-3B85-308D124517B7}"/>
                  </a:ext>
                </a:extLst>
              </p:cNvPr>
              <p:cNvSpPr/>
              <p:nvPr/>
            </p:nvSpPr>
            <p:spPr>
              <a:xfrm>
                <a:off x="1064879" y="1832787"/>
                <a:ext cx="45719" cy="15293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D128B16-40C0-B229-E950-09383B532DE1}"/>
                  </a:ext>
                </a:extLst>
              </p:cNvPr>
              <p:cNvSpPr/>
              <p:nvPr/>
            </p:nvSpPr>
            <p:spPr>
              <a:xfrm>
                <a:off x="1203287" y="2089021"/>
                <a:ext cx="45719" cy="12730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CFA9473-B14E-7307-4BA1-C2284F4A7743}"/>
                  </a:ext>
                </a:extLst>
              </p:cNvPr>
              <p:cNvSpPr/>
              <p:nvPr/>
            </p:nvSpPr>
            <p:spPr>
              <a:xfrm>
                <a:off x="1341695" y="2269891"/>
                <a:ext cx="45719" cy="10922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9315AEE-7D28-FB7F-2232-4D45BD1E172D}"/>
                  </a:ext>
                </a:extLst>
              </p:cNvPr>
              <p:cNvSpPr/>
              <p:nvPr/>
            </p:nvSpPr>
            <p:spPr>
              <a:xfrm>
                <a:off x="1480103" y="2460809"/>
                <a:ext cx="45719" cy="90130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AD9A17C-AC7C-4B01-0743-1F1632F5E48F}"/>
                  </a:ext>
                </a:extLst>
              </p:cNvPr>
              <p:cNvSpPr/>
              <p:nvPr/>
            </p:nvSpPr>
            <p:spPr>
              <a:xfrm>
                <a:off x="1618511" y="2686898"/>
                <a:ext cx="45719" cy="67521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917BE83-0C2A-D810-B5CD-292CBAD8F30E}"/>
                  </a:ext>
                </a:extLst>
              </p:cNvPr>
              <p:cNvSpPr/>
              <p:nvPr/>
            </p:nvSpPr>
            <p:spPr>
              <a:xfrm>
                <a:off x="1756919" y="2887864"/>
                <a:ext cx="45719" cy="4742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C9E6709-09FC-2C7D-FD29-010D5F946F87}"/>
                  </a:ext>
                </a:extLst>
              </p:cNvPr>
              <p:cNvSpPr/>
              <p:nvPr/>
            </p:nvSpPr>
            <p:spPr>
              <a:xfrm>
                <a:off x="1895327" y="3033565"/>
                <a:ext cx="45719" cy="32854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9BCFAEE-4BC6-DD9B-327C-F45ECC250755}"/>
                  </a:ext>
                </a:extLst>
              </p:cNvPr>
              <p:cNvSpPr/>
              <p:nvPr/>
            </p:nvSpPr>
            <p:spPr>
              <a:xfrm>
                <a:off x="2033735" y="3149121"/>
                <a:ext cx="45719" cy="2129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65B40D83-28F1-7B1D-7492-49E98693D6AB}"/>
                  </a:ext>
                </a:extLst>
              </p:cNvPr>
              <p:cNvSpPr/>
              <p:nvPr/>
            </p:nvSpPr>
            <p:spPr>
              <a:xfrm>
                <a:off x="2172143" y="3194339"/>
                <a:ext cx="45719" cy="1677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BE8CDB2-376F-D1D6-C1A4-4321ACDAEE79}"/>
                  </a:ext>
                </a:extLst>
              </p:cNvPr>
              <p:cNvSpPr/>
              <p:nvPr/>
            </p:nvSpPr>
            <p:spPr>
              <a:xfrm>
                <a:off x="2310551" y="3239557"/>
                <a:ext cx="45719" cy="1225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2A13574-F0EA-F526-6440-4DE263FFD70B}"/>
                  </a:ext>
                </a:extLst>
              </p:cNvPr>
              <p:cNvSpPr/>
              <p:nvPr/>
            </p:nvSpPr>
            <p:spPr>
              <a:xfrm>
                <a:off x="2448959" y="3239557"/>
                <a:ext cx="45719" cy="1225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238C4C11-7D04-2555-24DA-68F7620D63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7479" y="958581"/>
                <a:ext cx="0" cy="2419241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31A6565-DEDE-2F2D-A6B8-8D77F5F81BDF}"/>
                  </a:ext>
                </a:extLst>
              </p:cNvPr>
              <p:cNvSpPr txBox="1"/>
              <p:nvPr/>
            </p:nvSpPr>
            <p:spPr>
              <a:xfrm>
                <a:off x="915613" y="3425214"/>
                <a:ext cx="14434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Body Size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EA2AAB1-05A8-7AE7-7509-64A89DFB34F9}"/>
                  </a:ext>
                </a:extLst>
              </p:cNvPr>
              <p:cNvSpPr txBox="1"/>
              <p:nvPr/>
            </p:nvSpPr>
            <p:spPr>
              <a:xfrm rot="16200000">
                <a:off x="-265358" y="2014313"/>
                <a:ext cx="14434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Frequency</a:t>
                </a:r>
              </a:p>
            </p:txBody>
          </p: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7422821D-0827-B880-B97A-41161AE1DF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574" y="3353145"/>
                <a:ext cx="1986464" cy="0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5964D595-DE92-0FC0-87C4-BA2E3D555AC5}"/>
              </a:ext>
            </a:extLst>
          </p:cNvPr>
          <p:cNvGrpSpPr/>
          <p:nvPr/>
        </p:nvGrpSpPr>
        <p:grpSpPr>
          <a:xfrm>
            <a:off x="122727" y="5624401"/>
            <a:ext cx="3099816" cy="3303284"/>
            <a:chOff x="387522" y="3425838"/>
            <a:chExt cx="3099816" cy="3303284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F71115CE-CC5A-9B5D-AD2E-43B524469D3F}"/>
                </a:ext>
              </a:extLst>
            </p:cNvPr>
            <p:cNvSpPr/>
            <p:nvPr/>
          </p:nvSpPr>
          <p:spPr>
            <a:xfrm>
              <a:off x="1188218" y="5892070"/>
              <a:ext cx="45719" cy="4742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CCBBD585-BFA5-262F-F4CB-BD85975C3CC8}"/>
                </a:ext>
              </a:extLst>
            </p:cNvPr>
            <p:cNvSpPr/>
            <p:nvPr/>
          </p:nvSpPr>
          <p:spPr>
            <a:xfrm>
              <a:off x="1326626" y="5585995"/>
              <a:ext cx="45719" cy="78032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E0FFDCA2-EB8C-0E65-F4C9-22CA800445AC}"/>
                </a:ext>
              </a:extLst>
            </p:cNvPr>
            <p:cNvSpPr/>
            <p:nvPr/>
          </p:nvSpPr>
          <p:spPr>
            <a:xfrm>
              <a:off x="1465034" y="5274097"/>
              <a:ext cx="45719" cy="1092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6A4E44BC-0429-A138-0EB0-6A604D1C4F6F}"/>
                </a:ext>
              </a:extLst>
            </p:cNvPr>
            <p:cNvSpPr/>
            <p:nvPr/>
          </p:nvSpPr>
          <p:spPr>
            <a:xfrm>
              <a:off x="1603442" y="5093227"/>
              <a:ext cx="45719" cy="12730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D7139602-0166-4D2A-2F72-F252C4504E5C}"/>
                </a:ext>
              </a:extLst>
            </p:cNvPr>
            <p:cNvSpPr/>
            <p:nvPr/>
          </p:nvSpPr>
          <p:spPr>
            <a:xfrm>
              <a:off x="1741850" y="5274097"/>
              <a:ext cx="45719" cy="10922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1FA3B5E5-FB09-1CC0-87C0-A0B20669952F}"/>
                </a:ext>
              </a:extLst>
            </p:cNvPr>
            <p:cNvSpPr/>
            <p:nvPr/>
          </p:nvSpPr>
          <p:spPr>
            <a:xfrm>
              <a:off x="1880258" y="5465015"/>
              <a:ext cx="45719" cy="9013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5024765-078D-3F91-14B0-60CB2FA5575E}"/>
                </a:ext>
              </a:extLst>
            </p:cNvPr>
            <p:cNvSpPr/>
            <p:nvPr/>
          </p:nvSpPr>
          <p:spPr>
            <a:xfrm>
              <a:off x="2018666" y="5691104"/>
              <a:ext cx="45719" cy="6752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A752CFCC-F3A7-9C26-1D5F-4E164482B11E}"/>
                </a:ext>
              </a:extLst>
            </p:cNvPr>
            <p:cNvSpPr/>
            <p:nvPr/>
          </p:nvSpPr>
          <p:spPr>
            <a:xfrm>
              <a:off x="2157074" y="5892070"/>
              <a:ext cx="45719" cy="4742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E910B697-B0D5-AA0E-8CB6-150818766DA8}"/>
                </a:ext>
              </a:extLst>
            </p:cNvPr>
            <p:cNvSpPr/>
            <p:nvPr/>
          </p:nvSpPr>
          <p:spPr>
            <a:xfrm>
              <a:off x="2295482" y="6037771"/>
              <a:ext cx="45719" cy="328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4FECBFC1-E76B-744C-5076-71EDDD0B9A9B}"/>
                </a:ext>
              </a:extLst>
            </p:cNvPr>
            <p:cNvSpPr/>
            <p:nvPr/>
          </p:nvSpPr>
          <p:spPr>
            <a:xfrm>
              <a:off x="2433890" y="6153327"/>
              <a:ext cx="45719" cy="2129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9F4743DA-E497-05EA-358C-ABBB9D6A66C9}"/>
                </a:ext>
              </a:extLst>
            </p:cNvPr>
            <p:cNvSpPr/>
            <p:nvPr/>
          </p:nvSpPr>
          <p:spPr>
            <a:xfrm>
              <a:off x="2572298" y="6198545"/>
              <a:ext cx="45719" cy="1677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72A8A84F-3694-7BE1-9BF7-523FB2F3E0E8}"/>
                </a:ext>
              </a:extLst>
            </p:cNvPr>
            <p:cNvSpPr/>
            <p:nvPr/>
          </p:nvSpPr>
          <p:spPr>
            <a:xfrm>
              <a:off x="2710706" y="6243763"/>
              <a:ext cx="45719" cy="122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58C6950E-29AC-D3DC-6CC6-B1FC179D4FAB}"/>
                </a:ext>
              </a:extLst>
            </p:cNvPr>
            <p:cNvSpPr/>
            <p:nvPr/>
          </p:nvSpPr>
          <p:spPr>
            <a:xfrm>
              <a:off x="2849114" y="6243763"/>
              <a:ext cx="45719" cy="122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D0862DD1-C311-6D54-D073-E2696F92206B}"/>
                </a:ext>
              </a:extLst>
            </p:cNvPr>
            <p:cNvGrpSpPr/>
            <p:nvPr/>
          </p:nvGrpSpPr>
          <p:grpSpPr>
            <a:xfrm>
              <a:off x="387522" y="3425838"/>
              <a:ext cx="3099816" cy="3303284"/>
              <a:chOff x="334966" y="421632"/>
              <a:chExt cx="3099816" cy="3303284"/>
            </a:xfrm>
          </p:grpSpPr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1AEAD391-491D-7207-6AC9-88411CE7049B}"/>
                  </a:ext>
                </a:extLst>
              </p:cNvPr>
              <p:cNvSpPr txBox="1"/>
              <p:nvPr/>
            </p:nvSpPr>
            <p:spPr>
              <a:xfrm>
                <a:off x="334966" y="421632"/>
                <a:ext cx="30998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+mj-lt"/>
                  </a:rPr>
                  <a:t>True vs. Empirical Distributions</a:t>
                </a:r>
              </a:p>
            </p:txBody>
          </p: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E8855BEE-8FAD-9C44-59AE-B53D1E7A6321}"/>
                  </a:ext>
                </a:extLst>
              </p:cNvPr>
              <p:cNvGrpSpPr/>
              <p:nvPr/>
            </p:nvGrpSpPr>
            <p:grpSpPr>
              <a:xfrm>
                <a:off x="714102" y="958581"/>
                <a:ext cx="2352177" cy="2766335"/>
                <a:chOff x="302494" y="958581"/>
                <a:chExt cx="2352177" cy="2766335"/>
              </a:xfrm>
            </p:grpSpPr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8DE97E49-8EFC-DC94-D471-FA80D6E09172}"/>
                    </a:ext>
                  </a:extLst>
                </p:cNvPr>
                <p:cNvSpPr/>
                <p:nvPr/>
              </p:nvSpPr>
              <p:spPr>
                <a:xfrm>
                  <a:off x="788063" y="1110110"/>
                  <a:ext cx="45719" cy="225200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A34D0447-06B8-6801-06E8-6F022E91E536}"/>
                    </a:ext>
                  </a:extLst>
                </p:cNvPr>
                <p:cNvSpPr/>
                <p:nvPr/>
              </p:nvSpPr>
              <p:spPr>
                <a:xfrm>
                  <a:off x="926471" y="1440901"/>
                  <a:ext cx="45719" cy="192121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4002530E-0FDD-FAEF-8B9B-6F5AB1F18DC8}"/>
                    </a:ext>
                  </a:extLst>
                </p:cNvPr>
                <p:cNvSpPr/>
                <p:nvPr/>
              </p:nvSpPr>
              <p:spPr>
                <a:xfrm>
                  <a:off x="1064879" y="1832787"/>
                  <a:ext cx="45719" cy="15293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75B8A58C-5E98-0A87-0D77-A71B873103CB}"/>
                    </a:ext>
                  </a:extLst>
                </p:cNvPr>
                <p:cNvSpPr/>
                <p:nvPr/>
              </p:nvSpPr>
              <p:spPr>
                <a:xfrm>
                  <a:off x="1203287" y="2089021"/>
                  <a:ext cx="45719" cy="12730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81882B04-45D3-DD9D-0765-D50C2551CB91}"/>
                    </a:ext>
                  </a:extLst>
                </p:cNvPr>
                <p:cNvSpPr/>
                <p:nvPr/>
              </p:nvSpPr>
              <p:spPr>
                <a:xfrm>
                  <a:off x="1341695" y="2269891"/>
                  <a:ext cx="45719" cy="109222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0035939D-08C0-9D60-A58F-DB503C5BB1D1}"/>
                    </a:ext>
                  </a:extLst>
                </p:cNvPr>
                <p:cNvSpPr/>
                <p:nvPr/>
              </p:nvSpPr>
              <p:spPr>
                <a:xfrm>
                  <a:off x="1480103" y="2460809"/>
                  <a:ext cx="45719" cy="90130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DD27B6A1-CC11-B208-1520-AF6930DA3000}"/>
                    </a:ext>
                  </a:extLst>
                </p:cNvPr>
                <p:cNvSpPr/>
                <p:nvPr/>
              </p:nvSpPr>
              <p:spPr>
                <a:xfrm>
                  <a:off x="1618511" y="2686898"/>
                  <a:ext cx="45719" cy="6752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6382598F-1079-C823-ADB2-C6AB5E12CB26}"/>
                    </a:ext>
                  </a:extLst>
                </p:cNvPr>
                <p:cNvSpPr/>
                <p:nvPr/>
              </p:nvSpPr>
              <p:spPr>
                <a:xfrm>
                  <a:off x="1756919" y="2887864"/>
                  <a:ext cx="45719" cy="47424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24D605D8-B87E-7498-D53E-A00050195720}"/>
                    </a:ext>
                  </a:extLst>
                </p:cNvPr>
                <p:cNvSpPr/>
                <p:nvPr/>
              </p:nvSpPr>
              <p:spPr>
                <a:xfrm>
                  <a:off x="1895327" y="3033565"/>
                  <a:ext cx="45719" cy="32854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" name="Rectangle 156">
                  <a:extLst>
                    <a:ext uri="{FF2B5EF4-FFF2-40B4-BE49-F238E27FC236}">
                      <a16:creationId xmlns:a16="http://schemas.microsoft.com/office/drawing/2014/main" id="{8C65B884-79F0-B752-55A8-70359AB8BDD6}"/>
                    </a:ext>
                  </a:extLst>
                </p:cNvPr>
                <p:cNvSpPr/>
                <p:nvPr/>
              </p:nvSpPr>
              <p:spPr>
                <a:xfrm>
                  <a:off x="2033735" y="3149121"/>
                  <a:ext cx="45719" cy="21299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FC70E88D-249F-AB3A-B342-9F54C623F3B1}"/>
                    </a:ext>
                  </a:extLst>
                </p:cNvPr>
                <p:cNvSpPr/>
                <p:nvPr/>
              </p:nvSpPr>
              <p:spPr>
                <a:xfrm>
                  <a:off x="2172143" y="3194339"/>
                  <a:ext cx="45719" cy="16777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6496D5D7-8A13-E788-4388-6FF0103E783E}"/>
                    </a:ext>
                  </a:extLst>
                </p:cNvPr>
                <p:cNvSpPr/>
                <p:nvPr/>
              </p:nvSpPr>
              <p:spPr>
                <a:xfrm>
                  <a:off x="2310551" y="3239557"/>
                  <a:ext cx="45719" cy="12255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B0005C12-3314-CB5A-E358-822261C592EC}"/>
                    </a:ext>
                  </a:extLst>
                </p:cNvPr>
                <p:cNvSpPr/>
                <p:nvPr/>
              </p:nvSpPr>
              <p:spPr>
                <a:xfrm>
                  <a:off x="2448959" y="3239557"/>
                  <a:ext cx="45719" cy="12255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A464D4FE-9422-DD1D-29A0-A3BAC5E428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7479" y="958581"/>
                  <a:ext cx="0" cy="2419241"/>
                </a:xfrm>
                <a:prstGeom prst="line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029FD55D-8C01-C053-B1DB-DD893A60BA2D}"/>
                    </a:ext>
                  </a:extLst>
                </p:cNvPr>
                <p:cNvSpPr txBox="1"/>
                <p:nvPr/>
              </p:nvSpPr>
              <p:spPr>
                <a:xfrm>
                  <a:off x="873602" y="3417139"/>
                  <a:ext cx="144348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/>
                    <a:t>Body Size</a:t>
                  </a:r>
                </a:p>
              </p:txBody>
            </p:sp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23DA8A0A-2130-39D7-D989-79A9B2041DF1}"/>
                    </a:ext>
                  </a:extLst>
                </p:cNvPr>
                <p:cNvSpPr txBox="1"/>
                <p:nvPr/>
              </p:nvSpPr>
              <p:spPr>
                <a:xfrm rot="16200000">
                  <a:off x="-265358" y="2014313"/>
                  <a:ext cx="144348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/>
                    <a:t>Frequency</a:t>
                  </a:r>
                </a:p>
              </p:txBody>
            </p: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2C176EBC-E429-F679-FBC5-19B98A769D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8207" y="3353145"/>
                  <a:ext cx="1986464" cy="0"/>
                </a:xfrm>
                <a:prstGeom prst="line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83759FD7-023F-66F4-75DD-EA8897C2A380}"/>
              </a:ext>
            </a:extLst>
          </p:cNvPr>
          <p:cNvGrpSpPr/>
          <p:nvPr/>
        </p:nvGrpSpPr>
        <p:grpSpPr>
          <a:xfrm>
            <a:off x="4813161" y="6129697"/>
            <a:ext cx="2352177" cy="2826092"/>
            <a:chOff x="3213916" y="6035715"/>
            <a:chExt cx="2352177" cy="2826092"/>
          </a:xfrm>
        </p:grpSpPr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04DE34E1-517C-8F0C-8EE4-1A741BDA37B3}"/>
                </a:ext>
              </a:extLst>
            </p:cNvPr>
            <p:cNvCxnSpPr>
              <a:cxnSpLocks/>
            </p:cNvCxnSpPr>
            <p:nvPr/>
          </p:nvCxnSpPr>
          <p:spPr>
            <a:xfrm>
              <a:off x="3598901" y="6035715"/>
              <a:ext cx="0" cy="2419241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193880E4-DA0B-E451-ED66-7BC7A7AB56C8}"/>
                </a:ext>
              </a:extLst>
            </p:cNvPr>
            <p:cNvSpPr txBox="1"/>
            <p:nvPr/>
          </p:nvSpPr>
          <p:spPr>
            <a:xfrm>
              <a:off x="3841214" y="8554030"/>
              <a:ext cx="14434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Body Size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9DB2FC2B-8372-2814-0C7E-1A20BF28AACB}"/>
                </a:ext>
              </a:extLst>
            </p:cNvPr>
            <p:cNvSpPr txBox="1"/>
            <p:nvPr/>
          </p:nvSpPr>
          <p:spPr>
            <a:xfrm rot="16200000">
              <a:off x="2646064" y="7091447"/>
              <a:ext cx="14434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Frequency</a:t>
              </a:r>
            </a:p>
          </p:txBody>
        </p: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E945CC62-01E6-5731-C246-F0B2BE57AF80}"/>
                </a:ext>
              </a:extLst>
            </p:cNvPr>
            <p:cNvCxnSpPr>
              <a:cxnSpLocks/>
            </p:cNvCxnSpPr>
            <p:nvPr/>
          </p:nvCxnSpPr>
          <p:spPr>
            <a:xfrm>
              <a:off x="3579629" y="8449328"/>
              <a:ext cx="1986464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D8FC174A-5299-7A37-03B1-991A9029E589}"/>
                </a:ext>
              </a:extLst>
            </p:cNvPr>
            <p:cNvSpPr/>
            <p:nvPr/>
          </p:nvSpPr>
          <p:spPr>
            <a:xfrm>
              <a:off x="3860444" y="6137139"/>
              <a:ext cx="1673352" cy="2112264"/>
            </a:xfrm>
            <a:custGeom>
              <a:avLst/>
              <a:gdLst>
                <a:gd name="connsiteX0" fmla="*/ 0 w 1673352"/>
                <a:gd name="connsiteY0" fmla="*/ 0 h 2112264"/>
                <a:gd name="connsiteX1" fmla="*/ 374904 w 1673352"/>
                <a:gd name="connsiteY1" fmla="*/ 1362456 h 2112264"/>
                <a:gd name="connsiteX2" fmla="*/ 886968 w 1673352"/>
                <a:gd name="connsiteY2" fmla="*/ 1901952 h 2112264"/>
                <a:gd name="connsiteX3" fmla="*/ 1673352 w 1673352"/>
                <a:gd name="connsiteY3" fmla="*/ 2112264 h 211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352" h="2112264">
                  <a:moveTo>
                    <a:pt x="0" y="0"/>
                  </a:moveTo>
                  <a:cubicBezTo>
                    <a:pt x="113538" y="522732"/>
                    <a:pt x="227076" y="1045464"/>
                    <a:pt x="374904" y="1362456"/>
                  </a:cubicBezTo>
                  <a:cubicBezTo>
                    <a:pt x="522732" y="1679448"/>
                    <a:pt x="670560" y="1776984"/>
                    <a:pt x="886968" y="1901952"/>
                  </a:cubicBezTo>
                  <a:cubicBezTo>
                    <a:pt x="1103376" y="2026920"/>
                    <a:pt x="1388364" y="2069592"/>
                    <a:pt x="1673352" y="2112264"/>
                  </a:cubicBezTo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AE8DC8EA-C9FC-6EA2-3AD1-16E5E3895593}"/>
                </a:ext>
              </a:extLst>
            </p:cNvPr>
            <p:cNvSpPr/>
            <p:nvPr/>
          </p:nvSpPr>
          <p:spPr>
            <a:xfrm>
              <a:off x="3765927" y="7266636"/>
              <a:ext cx="1728216" cy="1014984"/>
            </a:xfrm>
            <a:custGeom>
              <a:avLst/>
              <a:gdLst>
                <a:gd name="connsiteX0" fmla="*/ 0 w 1728216"/>
                <a:gd name="connsiteY0" fmla="*/ 0 h 1014984"/>
                <a:gd name="connsiteX1" fmla="*/ 338328 w 1728216"/>
                <a:gd name="connsiteY1" fmla="*/ 521208 h 1014984"/>
                <a:gd name="connsiteX2" fmla="*/ 603504 w 1728216"/>
                <a:gd name="connsiteY2" fmla="*/ 768096 h 1014984"/>
                <a:gd name="connsiteX3" fmla="*/ 1005840 w 1728216"/>
                <a:gd name="connsiteY3" fmla="*/ 923544 h 1014984"/>
                <a:gd name="connsiteX4" fmla="*/ 1728216 w 1728216"/>
                <a:gd name="connsiteY4" fmla="*/ 1014984 h 1014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8216" h="1014984">
                  <a:moveTo>
                    <a:pt x="0" y="0"/>
                  </a:moveTo>
                  <a:cubicBezTo>
                    <a:pt x="118872" y="196596"/>
                    <a:pt x="237744" y="393192"/>
                    <a:pt x="338328" y="521208"/>
                  </a:cubicBezTo>
                  <a:cubicBezTo>
                    <a:pt x="438912" y="649224"/>
                    <a:pt x="492252" y="701040"/>
                    <a:pt x="603504" y="768096"/>
                  </a:cubicBezTo>
                  <a:cubicBezTo>
                    <a:pt x="714756" y="835152"/>
                    <a:pt x="818388" y="882396"/>
                    <a:pt x="1005840" y="923544"/>
                  </a:cubicBezTo>
                  <a:cubicBezTo>
                    <a:pt x="1193292" y="964692"/>
                    <a:pt x="1460754" y="989838"/>
                    <a:pt x="1728216" y="1014984"/>
                  </a:cubicBez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2E79ED38-9C33-E2AB-794B-4CBFC7882D4A}"/>
                  </a:ext>
                </a:extLst>
              </p:cNvPr>
              <p:cNvSpPr txBox="1"/>
              <p:nvPr/>
            </p:nvSpPr>
            <p:spPr>
              <a:xfrm>
                <a:off x="4756698" y="4664079"/>
                <a:ext cx="2678603" cy="7715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2E79ED38-9C33-E2AB-794B-4CBFC7882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698" y="4664079"/>
                <a:ext cx="2678603" cy="7715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4" name="Group 303">
            <a:extLst>
              <a:ext uri="{FF2B5EF4-FFF2-40B4-BE49-F238E27FC236}">
                <a16:creationId xmlns:a16="http://schemas.microsoft.com/office/drawing/2014/main" id="{57655BA8-E939-FF3C-C457-1249CDC3EBF3}"/>
              </a:ext>
            </a:extLst>
          </p:cNvPr>
          <p:cNvGrpSpPr/>
          <p:nvPr/>
        </p:nvGrpSpPr>
        <p:grpSpPr>
          <a:xfrm>
            <a:off x="480300" y="10084741"/>
            <a:ext cx="3099816" cy="3360819"/>
            <a:chOff x="480300" y="10027591"/>
            <a:chExt cx="3099816" cy="3360819"/>
          </a:xfrm>
        </p:grpSpPr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56AC01B8-307B-0B9A-16A5-0F5CBE50165D}"/>
                </a:ext>
              </a:extLst>
            </p:cNvPr>
            <p:cNvGrpSpPr/>
            <p:nvPr/>
          </p:nvGrpSpPr>
          <p:grpSpPr>
            <a:xfrm>
              <a:off x="480300" y="10027591"/>
              <a:ext cx="3099816" cy="3360819"/>
              <a:chOff x="7978708" y="132086"/>
              <a:chExt cx="3099816" cy="336081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9" name="TextBox 248">
                    <a:extLst>
                      <a:ext uri="{FF2B5EF4-FFF2-40B4-BE49-F238E27FC236}">
                        <a16:creationId xmlns:a16="http://schemas.microsoft.com/office/drawing/2014/main" id="{768AC0A6-766D-923F-CB10-C3A6B75FBD81}"/>
                      </a:ext>
                    </a:extLst>
                  </p:cNvPr>
                  <p:cNvSpPr txBox="1"/>
                  <p:nvPr/>
                </p:nvSpPr>
                <p:spPr>
                  <a:xfrm>
                    <a:off x="7978708" y="132086"/>
                    <a:ext cx="309981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>
                        <a:latin typeface="+mj-lt"/>
                      </a:rPr>
                      <a:t>Estimate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oMath>
                    </a14:m>
                    <a:endParaRPr lang="en-US" dirty="0">
                      <a:latin typeface="+mj-lt"/>
                    </a:endParaRPr>
                  </a:p>
                </p:txBody>
              </p:sp>
            </mc:Choice>
            <mc:Fallback xmlns="">
              <p:sp>
                <p:nvSpPr>
                  <p:cNvPr id="249" name="TextBox 248">
                    <a:extLst>
                      <a:ext uri="{FF2B5EF4-FFF2-40B4-BE49-F238E27FC236}">
                        <a16:creationId xmlns:a16="http://schemas.microsoft.com/office/drawing/2014/main" id="{768AC0A6-766D-923F-CB10-C3A6B75FBD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78708" y="132086"/>
                    <a:ext cx="309981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6557" b="-262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62EC63B1-3438-C583-DE66-C5CE2101B005}"/>
                  </a:ext>
                </a:extLst>
              </p:cNvPr>
              <p:cNvSpPr txBox="1"/>
              <p:nvPr/>
            </p:nvSpPr>
            <p:spPr>
              <a:xfrm rot="16200000">
                <a:off x="7608172" y="1763680"/>
                <a:ext cx="14434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Frequency</a:t>
                </a:r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5601918C-BBC8-F3CE-3516-25CA59ED197A}"/>
                  </a:ext>
                </a:extLst>
              </p:cNvPr>
              <p:cNvSpPr/>
              <p:nvPr/>
            </p:nvSpPr>
            <p:spPr>
              <a:xfrm>
                <a:off x="8661593" y="2637231"/>
                <a:ext cx="45719" cy="47424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E1C44B0E-D347-EBEB-AF58-299390C95835}"/>
                  </a:ext>
                </a:extLst>
              </p:cNvPr>
              <p:cNvSpPr/>
              <p:nvPr/>
            </p:nvSpPr>
            <p:spPr>
              <a:xfrm>
                <a:off x="8800001" y="2331156"/>
                <a:ext cx="45719" cy="78032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BF9E8EAC-D4A8-F967-44BA-8EF599481000}"/>
                  </a:ext>
                </a:extLst>
              </p:cNvPr>
              <p:cNvSpPr/>
              <p:nvPr/>
            </p:nvSpPr>
            <p:spPr>
              <a:xfrm>
                <a:off x="8938409" y="2019258"/>
                <a:ext cx="45719" cy="109222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72DA9A86-55BD-4407-2121-F521456D2415}"/>
                  </a:ext>
                </a:extLst>
              </p:cNvPr>
              <p:cNvSpPr/>
              <p:nvPr/>
            </p:nvSpPr>
            <p:spPr>
              <a:xfrm>
                <a:off x="9076817" y="1838388"/>
                <a:ext cx="45719" cy="127309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DA482ECF-60F4-E99E-C81B-71F4271AA066}"/>
                  </a:ext>
                </a:extLst>
              </p:cNvPr>
              <p:cNvSpPr/>
              <p:nvPr/>
            </p:nvSpPr>
            <p:spPr>
              <a:xfrm>
                <a:off x="9215225" y="2019258"/>
                <a:ext cx="45719" cy="109222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066B7539-EEA0-6263-BD61-A790FA0AAA73}"/>
                  </a:ext>
                </a:extLst>
              </p:cNvPr>
              <p:cNvSpPr/>
              <p:nvPr/>
            </p:nvSpPr>
            <p:spPr>
              <a:xfrm>
                <a:off x="9353633" y="2210176"/>
                <a:ext cx="45719" cy="9013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3ADB7566-6D64-0A11-4F04-67FEF84BB691}"/>
                  </a:ext>
                </a:extLst>
              </p:cNvPr>
              <p:cNvSpPr/>
              <p:nvPr/>
            </p:nvSpPr>
            <p:spPr>
              <a:xfrm>
                <a:off x="9492041" y="2436265"/>
                <a:ext cx="45719" cy="6752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FB103DFA-68F8-A2E6-BE4D-B05A4E39BD09}"/>
                  </a:ext>
                </a:extLst>
              </p:cNvPr>
              <p:cNvSpPr/>
              <p:nvPr/>
            </p:nvSpPr>
            <p:spPr>
              <a:xfrm>
                <a:off x="9630449" y="2637231"/>
                <a:ext cx="45719" cy="474247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8B15DF1F-8D86-C909-13B3-5CE7D1D2E5CF}"/>
                  </a:ext>
                </a:extLst>
              </p:cNvPr>
              <p:cNvSpPr/>
              <p:nvPr/>
            </p:nvSpPr>
            <p:spPr>
              <a:xfrm>
                <a:off x="9768857" y="2782932"/>
                <a:ext cx="45719" cy="32854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0109B03D-7C86-3CB5-C272-1A28A3617FBF}"/>
                  </a:ext>
                </a:extLst>
              </p:cNvPr>
              <p:cNvSpPr/>
              <p:nvPr/>
            </p:nvSpPr>
            <p:spPr>
              <a:xfrm>
                <a:off x="9907265" y="2898488"/>
                <a:ext cx="45719" cy="21299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7C31BA0B-33F1-0B96-F64A-4B10653488A3}"/>
                  </a:ext>
                </a:extLst>
              </p:cNvPr>
              <p:cNvSpPr/>
              <p:nvPr/>
            </p:nvSpPr>
            <p:spPr>
              <a:xfrm>
                <a:off x="10045673" y="2943706"/>
                <a:ext cx="45719" cy="16777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DD01B99E-E009-6829-C3EB-59C662D1EB99}"/>
                  </a:ext>
                </a:extLst>
              </p:cNvPr>
              <p:cNvSpPr/>
              <p:nvPr/>
            </p:nvSpPr>
            <p:spPr>
              <a:xfrm>
                <a:off x="10184081" y="2988924"/>
                <a:ext cx="45719" cy="12255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075970F4-8375-856C-C86B-9AA54C0173C1}"/>
                  </a:ext>
                </a:extLst>
              </p:cNvPr>
              <p:cNvSpPr/>
              <p:nvPr/>
            </p:nvSpPr>
            <p:spPr>
              <a:xfrm>
                <a:off x="10322489" y="2988924"/>
                <a:ext cx="45719" cy="12255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E4014F8F-5DD9-27F9-FA70-63B4DB204F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61009" y="707948"/>
                <a:ext cx="0" cy="2419241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44202C05-6CA0-A8FF-CF4B-3A4A75C842E2}"/>
                  </a:ext>
                </a:extLst>
              </p:cNvPr>
              <p:cNvSpPr txBox="1"/>
              <p:nvPr/>
            </p:nvSpPr>
            <p:spPr>
              <a:xfrm>
                <a:off x="8660864" y="3185128"/>
                <a:ext cx="14434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Body Size</a:t>
                </a:r>
              </a:p>
            </p:txBody>
          </p: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799571D1-79FD-BA70-6E33-02876B4B7E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35384" y="3106303"/>
                <a:ext cx="1986464" cy="0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2EF66863-4F5A-0324-772C-3658E870590E}"/>
                    </a:ext>
                  </a:extLst>
                </p:cNvPr>
                <p:cNvSpPr txBox="1"/>
                <p:nvPr/>
              </p:nvSpPr>
              <p:spPr>
                <a:xfrm>
                  <a:off x="1113614" y="10652665"/>
                  <a:ext cx="110582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2EF66863-4F5A-0324-772C-3658E87059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3614" y="10652665"/>
                  <a:ext cx="110582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9" name="Arrow: Down 268">
              <a:extLst>
                <a:ext uri="{FF2B5EF4-FFF2-40B4-BE49-F238E27FC236}">
                  <a16:creationId xmlns:a16="http://schemas.microsoft.com/office/drawing/2014/main" id="{2D5469A0-F184-5BA7-D5D8-E8EC01EB4DD5}"/>
                </a:ext>
              </a:extLst>
            </p:cNvPr>
            <p:cNvSpPr/>
            <p:nvPr/>
          </p:nvSpPr>
          <p:spPr>
            <a:xfrm>
              <a:off x="1541393" y="11216362"/>
              <a:ext cx="92680" cy="369329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0" name="Arrow: Right 269">
            <a:extLst>
              <a:ext uri="{FF2B5EF4-FFF2-40B4-BE49-F238E27FC236}">
                <a16:creationId xmlns:a16="http://schemas.microsoft.com/office/drawing/2014/main" id="{9948DA6A-FE7D-BF9C-74CC-68EFBB6B13F9}"/>
              </a:ext>
            </a:extLst>
          </p:cNvPr>
          <p:cNvSpPr/>
          <p:nvPr/>
        </p:nvSpPr>
        <p:spPr>
          <a:xfrm>
            <a:off x="2929509" y="11275090"/>
            <a:ext cx="1130136" cy="524263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1B95EEC8-2485-5362-0278-19B872656A62}"/>
              </a:ext>
            </a:extLst>
          </p:cNvPr>
          <p:cNvSpPr txBox="1"/>
          <p:nvPr/>
        </p:nvSpPr>
        <p:spPr>
          <a:xfrm>
            <a:off x="2605938" y="10866993"/>
            <a:ext cx="1659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Censor Data</a:t>
            </a:r>
          </a:p>
        </p:txBody>
      </p: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6A7CAA0C-256A-C48E-3E7C-458DF306C250}"/>
              </a:ext>
            </a:extLst>
          </p:cNvPr>
          <p:cNvGrpSpPr/>
          <p:nvPr/>
        </p:nvGrpSpPr>
        <p:grpSpPr>
          <a:xfrm>
            <a:off x="4059645" y="10119226"/>
            <a:ext cx="3099816" cy="3307713"/>
            <a:chOff x="7916427" y="195882"/>
            <a:chExt cx="3099816" cy="33077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B87DB041-F732-1880-DAB1-0EB8E9CE3E96}"/>
                    </a:ext>
                  </a:extLst>
                </p:cNvPr>
                <p:cNvSpPr txBox="1"/>
                <p:nvPr/>
              </p:nvSpPr>
              <p:spPr>
                <a:xfrm>
                  <a:off x="7916427" y="195882"/>
                  <a:ext cx="30998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+mj-lt"/>
                    </a:rPr>
                    <a:t>Censored data,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</m:oMath>
                  </a14:m>
                  <a:endParaRPr lang="en-US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B87DB041-F732-1880-DAB1-0EB8E9CE3E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6427" y="195882"/>
                  <a:ext cx="3099816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8197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48BA8233-B6CD-00B1-ECD7-21DDB3F7503E}"/>
                </a:ext>
              </a:extLst>
            </p:cNvPr>
            <p:cNvSpPr txBox="1"/>
            <p:nvPr/>
          </p:nvSpPr>
          <p:spPr>
            <a:xfrm rot="16200000">
              <a:off x="7608172" y="1763680"/>
              <a:ext cx="14434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Frequency</a:t>
              </a: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C7668C0F-6820-0729-36CD-85D3798D48E1}"/>
                </a:ext>
              </a:extLst>
            </p:cNvPr>
            <p:cNvSpPr/>
            <p:nvPr/>
          </p:nvSpPr>
          <p:spPr>
            <a:xfrm>
              <a:off x="8661593" y="2637231"/>
              <a:ext cx="45719" cy="47424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19BE874B-BF01-8F68-BE6E-9A0D73CFA881}"/>
                </a:ext>
              </a:extLst>
            </p:cNvPr>
            <p:cNvSpPr/>
            <p:nvPr/>
          </p:nvSpPr>
          <p:spPr>
            <a:xfrm>
              <a:off x="8800001" y="2331156"/>
              <a:ext cx="45719" cy="780323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89877BEA-D0D0-B924-78DA-2E8633FEE6A9}"/>
                </a:ext>
              </a:extLst>
            </p:cNvPr>
            <p:cNvSpPr/>
            <p:nvPr/>
          </p:nvSpPr>
          <p:spPr>
            <a:xfrm>
              <a:off x="8938409" y="2019258"/>
              <a:ext cx="45719" cy="109222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DDBA69FE-D28F-000E-4EC6-C202CC19B0C5}"/>
                </a:ext>
              </a:extLst>
            </p:cNvPr>
            <p:cNvSpPr/>
            <p:nvPr/>
          </p:nvSpPr>
          <p:spPr>
            <a:xfrm>
              <a:off x="9076817" y="1838388"/>
              <a:ext cx="45719" cy="1273092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ED228427-E4B1-1CC0-48E0-BF6CE7F5DF28}"/>
                </a:ext>
              </a:extLst>
            </p:cNvPr>
            <p:cNvSpPr/>
            <p:nvPr/>
          </p:nvSpPr>
          <p:spPr>
            <a:xfrm>
              <a:off x="9215225" y="2019258"/>
              <a:ext cx="45719" cy="1092222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85D233D2-581D-6054-EDCB-FEA5438FF3C5}"/>
                </a:ext>
              </a:extLst>
            </p:cNvPr>
            <p:cNvSpPr/>
            <p:nvPr/>
          </p:nvSpPr>
          <p:spPr>
            <a:xfrm>
              <a:off x="9353633" y="2210176"/>
              <a:ext cx="45719" cy="901303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1EDCB9DE-744F-C8D8-DE8B-3D98A9DD1ABD}"/>
                </a:ext>
              </a:extLst>
            </p:cNvPr>
            <p:cNvSpPr/>
            <p:nvPr/>
          </p:nvSpPr>
          <p:spPr>
            <a:xfrm>
              <a:off x="9492041" y="2436265"/>
              <a:ext cx="45719" cy="67521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C0D44594-18C9-5C90-86B2-33AEE561CD84}"/>
                </a:ext>
              </a:extLst>
            </p:cNvPr>
            <p:cNvSpPr/>
            <p:nvPr/>
          </p:nvSpPr>
          <p:spPr>
            <a:xfrm>
              <a:off x="9630449" y="2637231"/>
              <a:ext cx="45719" cy="47424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31177C54-6BAF-83A1-AFC5-7523C7959975}"/>
                </a:ext>
              </a:extLst>
            </p:cNvPr>
            <p:cNvSpPr/>
            <p:nvPr/>
          </p:nvSpPr>
          <p:spPr>
            <a:xfrm>
              <a:off x="9768857" y="2782932"/>
              <a:ext cx="45719" cy="328546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C5FE0667-087C-2FCB-CC20-163BC4A2B14F}"/>
                </a:ext>
              </a:extLst>
            </p:cNvPr>
            <p:cNvSpPr/>
            <p:nvPr/>
          </p:nvSpPr>
          <p:spPr>
            <a:xfrm>
              <a:off x="9907265" y="2898488"/>
              <a:ext cx="45719" cy="21299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F5B2458A-F298-ABB2-470B-9C0E399B6006}"/>
                </a:ext>
              </a:extLst>
            </p:cNvPr>
            <p:cNvSpPr/>
            <p:nvPr/>
          </p:nvSpPr>
          <p:spPr>
            <a:xfrm>
              <a:off x="10045673" y="2943706"/>
              <a:ext cx="45719" cy="167772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E240D6F3-0DE4-71AF-373E-778CE8FA3DB3}"/>
                </a:ext>
              </a:extLst>
            </p:cNvPr>
            <p:cNvSpPr/>
            <p:nvPr/>
          </p:nvSpPr>
          <p:spPr>
            <a:xfrm>
              <a:off x="10184081" y="2988924"/>
              <a:ext cx="45719" cy="12255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7D51C184-E2D0-6E8B-04D1-A4D8273F2222}"/>
                </a:ext>
              </a:extLst>
            </p:cNvPr>
            <p:cNvSpPr/>
            <p:nvPr/>
          </p:nvSpPr>
          <p:spPr>
            <a:xfrm>
              <a:off x="10322489" y="2988924"/>
              <a:ext cx="45719" cy="12255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56598156-822A-821B-4A19-AA12C0CBBB1E}"/>
                </a:ext>
              </a:extLst>
            </p:cNvPr>
            <p:cNvCxnSpPr>
              <a:cxnSpLocks/>
            </p:cNvCxnSpPr>
            <p:nvPr/>
          </p:nvCxnSpPr>
          <p:spPr>
            <a:xfrm>
              <a:off x="8561009" y="707948"/>
              <a:ext cx="0" cy="2419241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87FD6A8C-F058-FC6B-A43F-7F474FCFE168}"/>
                </a:ext>
              </a:extLst>
            </p:cNvPr>
            <p:cNvSpPr txBox="1"/>
            <p:nvPr/>
          </p:nvSpPr>
          <p:spPr>
            <a:xfrm>
              <a:off x="8727991" y="3195818"/>
              <a:ext cx="14434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Body Size</a:t>
              </a:r>
            </a:p>
          </p:txBody>
        </p: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5C667BCB-C61B-395E-793A-96584B2487B5}"/>
                </a:ext>
              </a:extLst>
            </p:cNvPr>
            <p:cNvCxnSpPr>
              <a:cxnSpLocks/>
            </p:cNvCxnSpPr>
            <p:nvPr/>
          </p:nvCxnSpPr>
          <p:spPr>
            <a:xfrm>
              <a:off x="8535384" y="3106303"/>
              <a:ext cx="1986464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2" name="TextBox 291">
            <a:extLst>
              <a:ext uri="{FF2B5EF4-FFF2-40B4-BE49-F238E27FC236}">
                <a16:creationId xmlns:a16="http://schemas.microsoft.com/office/drawing/2014/main" id="{9BA644B3-223D-B463-CECC-FB0B9D22DC33}"/>
              </a:ext>
            </a:extLst>
          </p:cNvPr>
          <p:cNvSpPr txBox="1"/>
          <p:nvPr/>
        </p:nvSpPr>
        <p:spPr>
          <a:xfrm>
            <a:off x="6851200" y="6683661"/>
            <a:ext cx="1937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Estimate </a:t>
            </a:r>
            <a:r>
              <a:rPr lang="el-GR" dirty="0">
                <a:latin typeface="+mj-lt"/>
              </a:rPr>
              <a:t>λ</a:t>
            </a:r>
            <a:endParaRPr lang="en-US" dirty="0">
              <a:latin typeface="+mj-lt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B5925050-D3B4-3776-06A4-37B803256D72}"/>
              </a:ext>
            </a:extLst>
          </p:cNvPr>
          <p:cNvSpPr txBox="1"/>
          <p:nvPr/>
        </p:nvSpPr>
        <p:spPr>
          <a:xfrm>
            <a:off x="6244871" y="10962243"/>
            <a:ext cx="1937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Estimate </a:t>
            </a:r>
            <a:r>
              <a:rPr lang="el-GR" dirty="0">
                <a:latin typeface="+mj-lt"/>
              </a:rPr>
              <a:t>λ</a:t>
            </a:r>
            <a:endParaRPr lang="en-US" dirty="0">
              <a:latin typeface="+mj-lt"/>
            </a:endParaRPr>
          </a:p>
        </p:txBody>
      </p:sp>
      <p:sp>
        <p:nvSpPr>
          <p:cNvPr id="295" name="Arrow: Right 294">
            <a:extLst>
              <a:ext uri="{FF2B5EF4-FFF2-40B4-BE49-F238E27FC236}">
                <a16:creationId xmlns:a16="http://schemas.microsoft.com/office/drawing/2014/main" id="{2EC8C5F3-297D-8BC9-9085-BABB6DFDBE80}"/>
              </a:ext>
            </a:extLst>
          </p:cNvPr>
          <p:cNvSpPr/>
          <p:nvPr/>
        </p:nvSpPr>
        <p:spPr>
          <a:xfrm>
            <a:off x="6648311" y="11370340"/>
            <a:ext cx="1130136" cy="524263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Arrow: Right 304">
            <a:extLst>
              <a:ext uri="{FF2B5EF4-FFF2-40B4-BE49-F238E27FC236}">
                <a16:creationId xmlns:a16="http://schemas.microsoft.com/office/drawing/2014/main" id="{1F0AE76F-D87F-CA3F-B556-0186CBE0260D}"/>
              </a:ext>
            </a:extLst>
          </p:cNvPr>
          <p:cNvSpPr/>
          <p:nvPr/>
        </p:nvSpPr>
        <p:spPr>
          <a:xfrm>
            <a:off x="7254958" y="7375862"/>
            <a:ext cx="1130136" cy="524263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E64E243D-E463-1217-44B0-22F9A4F1B554}"/>
              </a:ext>
            </a:extLst>
          </p:cNvPr>
          <p:cNvGrpSpPr/>
          <p:nvPr/>
        </p:nvGrpSpPr>
        <p:grpSpPr>
          <a:xfrm>
            <a:off x="74428" y="9387433"/>
            <a:ext cx="12043144" cy="584775"/>
            <a:chOff x="74428" y="9806533"/>
            <a:chExt cx="12043144" cy="584775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729E848F-B279-889E-3D3B-322C24A486B3}"/>
                </a:ext>
              </a:extLst>
            </p:cNvPr>
            <p:cNvSpPr txBox="1"/>
            <p:nvPr/>
          </p:nvSpPr>
          <p:spPr>
            <a:xfrm>
              <a:off x="4124978" y="9806533"/>
              <a:ext cx="394204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+mj-lt"/>
                </a:rPr>
                <a:t>Correction Process</a:t>
              </a:r>
            </a:p>
          </p:txBody>
        </p: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1EEBF00F-B25A-9E67-CBF3-AE61078F31E8}"/>
                </a:ext>
              </a:extLst>
            </p:cNvPr>
            <p:cNvCxnSpPr>
              <a:cxnSpLocks/>
            </p:cNvCxnSpPr>
            <p:nvPr/>
          </p:nvCxnSpPr>
          <p:spPr>
            <a:xfrm>
              <a:off x="74428" y="10098920"/>
              <a:ext cx="4191180" cy="0"/>
            </a:xfrm>
            <a:prstGeom prst="line">
              <a:avLst/>
            </a:prstGeom>
            <a:ln w="381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8F9934B2-17D9-DC6F-90D4-7DC0D404C893}"/>
                </a:ext>
              </a:extLst>
            </p:cNvPr>
            <p:cNvCxnSpPr>
              <a:cxnSpLocks/>
            </p:cNvCxnSpPr>
            <p:nvPr/>
          </p:nvCxnSpPr>
          <p:spPr>
            <a:xfrm>
              <a:off x="7926394" y="10098920"/>
              <a:ext cx="4191178" cy="0"/>
            </a:xfrm>
            <a:prstGeom prst="line">
              <a:avLst/>
            </a:prstGeom>
            <a:ln w="381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3" name="TextBox 312">
            <a:extLst>
              <a:ext uri="{FF2B5EF4-FFF2-40B4-BE49-F238E27FC236}">
                <a16:creationId xmlns:a16="http://schemas.microsoft.com/office/drawing/2014/main" id="{326B57B1-9199-89A1-6F15-39F272EBC47F}"/>
              </a:ext>
            </a:extLst>
          </p:cNvPr>
          <p:cNvSpPr txBox="1"/>
          <p:nvPr/>
        </p:nvSpPr>
        <p:spPr>
          <a:xfrm>
            <a:off x="2900689" y="630082"/>
            <a:ext cx="6390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Data Simulation and bias</a:t>
            </a:r>
          </a:p>
        </p:txBody>
      </p: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0C4C6D7A-876B-8E77-BF12-0DEC452699D8}"/>
              </a:ext>
            </a:extLst>
          </p:cNvPr>
          <p:cNvCxnSpPr>
            <a:cxnSpLocks/>
          </p:cNvCxnSpPr>
          <p:nvPr/>
        </p:nvCxnSpPr>
        <p:spPr>
          <a:xfrm>
            <a:off x="74428" y="922469"/>
            <a:ext cx="3335522" cy="0"/>
          </a:xfrm>
          <a:prstGeom prst="line">
            <a:avLst/>
          </a:prstGeom>
          <a:ln w="381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609A5CB0-DDEF-63E5-58D0-1E699C7E2743}"/>
              </a:ext>
            </a:extLst>
          </p:cNvPr>
          <p:cNvCxnSpPr>
            <a:cxnSpLocks/>
          </p:cNvCxnSpPr>
          <p:nvPr/>
        </p:nvCxnSpPr>
        <p:spPr>
          <a:xfrm>
            <a:off x="8782050" y="922469"/>
            <a:ext cx="3335522" cy="0"/>
          </a:xfrm>
          <a:prstGeom prst="line">
            <a:avLst/>
          </a:prstGeom>
          <a:ln w="381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4EB0443C-FEB7-1F87-C5C4-072830615968}"/>
              </a:ext>
            </a:extLst>
          </p:cNvPr>
          <p:cNvGrpSpPr/>
          <p:nvPr/>
        </p:nvGrpSpPr>
        <p:grpSpPr>
          <a:xfrm>
            <a:off x="559584" y="4677189"/>
            <a:ext cx="2401170" cy="745339"/>
            <a:chOff x="559584" y="4070417"/>
            <a:chExt cx="2401170" cy="7453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2" name="TextBox 241">
                  <a:extLst>
                    <a:ext uri="{FF2B5EF4-FFF2-40B4-BE49-F238E27FC236}">
                      <a16:creationId xmlns:a16="http://schemas.microsoft.com/office/drawing/2014/main" id="{8E18E28B-8B1E-3D43-6594-95B087B18141}"/>
                    </a:ext>
                  </a:extLst>
                </p:cNvPr>
                <p:cNvSpPr txBox="1"/>
                <p:nvPr/>
              </p:nvSpPr>
              <p:spPr>
                <a:xfrm>
                  <a:off x="1095917" y="4070417"/>
                  <a:ext cx="1328505" cy="2899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2" name="TextBox 241">
                  <a:extLst>
                    <a:ext uri="{FF2B5EF4-FFF2-40B4-BE49-F238E27FC236}">
                      <a16:creationId xmlns:a16="http://schemas.microsoft.com/office/drawing/2014/main" id="{8E18E28B-8B1E-3D43-6594-95B087B181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917" y="4070417"/>
                  <a:ext cx="1328505" cy="289951"/>
                </a:xfrm>
                <a:prstGeom prst="rect">
                  <a:avLst/>
                </a:prstGeom>
                <a:blipFill>
                  <a:blip r:embed="rId8"/>
                  <a:stretch>
                    <a:fillRect l="-3670" r="-1376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8" name="TextBox 317">
                  <a:extLst>
                    <a:ext uri="{FF2B5EF4-FFF2-40B4-BE49-F238E27FC236}">
                      <a16:creationId xmlns:a16="http://schemas.microsoft.com/office/drawing/2014/main" id="{BED6135D-DDE7-CE5A-EFDA-E2E08AB9D0A5}"/>
                    </a:ext>
                  </a:extLst>
                </p:cNvPr>
                <p:cNvSpPr txBox="1"/>
                <p:nvPr/>
              </p:nvSpPr>
              <p:spPr>
                <a:xfrm>
                  <a:off x="559584" y="4538757"/>
                  <a:ext cx="240117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rPLB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318" name="TextBox 317">
                  <a:extLst>
                    <a:ext uri="{FF2B5EF4-FFF2-40B4-BE49-F238E27FC236}">
                      <a16:creationId xmlns:a16="http://schemas.microsoft.com/office/drawing/2014/main" id="{BED6135D-DDE7-CE5A-EFDA-E2E08AB9D0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584" y="4538757"/>
                  <a:ext cx="240117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508" t="-2174" r="-1777" b="-326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280C5F01-CDE3-344C-E085-E7AA0B436525}"/>
                  </a:ext>
                </a:extLst>
              </p:cNvPr>
              <p:cNvSpPr txBox="1"/>
              <p:nvPr/>
            </p:nvSpPr>
            <p:spPr>
              <a:xfrm>
                <a:off x="9099569" y="4911359"/>
                <a:ext cx="27004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𝑂𝑏𝑠𝑒𝑟𝑣𝑒𝑑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𝐵𝑒𝑟𝑛𝑜𝑢𝑙𝑙𝑖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280C5F01-CDE3-344C-E085-E7AA0B436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9569" y="4911359"/>
                <a:ext cx="2700483" cy="276999"/>
              </a:xfrm>
              <a:prstGeom prst="rect">
                <a:avLst/>
              </a:prstGeom>
              <a:blipFill>
                <a:blip r:embed="rId10"/>
                <a:stretch>
                  <a:fillRect l="-1580" t="-2222" r="-2483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4" name="Group 333">
            <a:extLst>
              <a:ext uri="{FF2B5EF4-FFF2-40B4-BE49-F238E27FC236}">
                <a16:creationId xmlns:a16="http://schemas.microsoft.com/office/drawing/2014/main" id="{43D1BAA1-90AA-09F1-311A-1BA43BCC2409}"/>
              </a:ext>
            </a:extLst>
          </p:cNvPr>
          <p:cNvGrpSpPr/>
          <p:nvPr/>
        </p:nvGrpSpPr>
        <p:grpSpPr>
          <a:xfrm>
            <a:off x="8575594" y="5938182"/>
            <a:ext cx="3072942" cy="3301068"/>
            <a:chOff x="8866256" y="6373030"/>
            <a:chExt cx="2591780" cy="2045570"/>
          </a:xfrm>
        </p:grpSpPr>
        <p:sp>
          <p:nvSpPr>
            <p:cNvPr id="320" name="Chord 195">
              <a:extLst>
                <a:ext uri="{FF2B5EF4-FFF2-40B4-BE49-F238E27FC236}">
                  <a16:creationId xmlns:a16="http://schemas.microsoft.com/office/drawing/2014/main" id="{A99B6579-933D-8F1F-FD06-D1D030905A32}"/>
                </a:ext>
              </a:extLst>
            </p:cNvPr>
            <p:cNvSpPr/>
            <p:nvPr/>
          </p:nvSpPr>
          <p:spPr>
            <a:xfrm rot="10641725">
              <a:off x="9477170" y="6824565"/>
              <a:ext cx="1129121" cy="1266889"/>
            </a:xfrm>
            <a:custGeom>
              <a:avLst/>
              <a:gdLst>
                <a:gd name="connsiteX0" fmla="*/ 1549201 w 1637532"/>
                <a:gd name="connsiteY0" fmla="*/ 1334292 h 1838115"/>
                <a:gd name="connsiteX1" fmla="*/ 790005 w 1637532"/>
                <a:gd name="connsiteY1" fmla="*/ 1837549 h 1838115"/>
                <a:gd name="connsiteX2" fmla="*/ 67984 w 1637532"/>
                <a:gd name="connsiteY2" fmla="*/ 1285728 h 1838115"/>
                <a:gd name="connsiteX3" fmla="*/ 1549201 w 1637532"/>
                <a:gd name="connsiteY3" fmla="*/ 1334292 h 1838115"/>
                <a:gd name="connsiteX0" fmla="*/ 1481217 w 1481217"/>
                <a:gd name="connsiteY0" fmla="*/ 48564 h 552180"/>
                <a:gd name="connsiteX1" fmla="*/ 722021 w 1481217"/>
                <a:gd name="connsiteY1" fmla="*/ 551821 h 552180"/>
                <a:gd name="connsiteX2" fmla="*/ 0 w 1481217"/>
                <a:gd name="connsiteY2" fmla="*/ 0 h 552180"/>
                <a:gd name="connsiteX3" fmla="*/ 1481217 w 1481217"/>
                <a:gd name="connsiteY3" fmla="*/ 48564 h 552180"/>
                <a:gd name="connsiteX0" fmla="*/ 1481217 w 1481217"/>
                <a:gd name="connsiteY0" fmla="*/ 48564 h 552180"/>
                <a:gd name="connsiteX1" fmla="*/ 722021 w 1481217"/>
                <a:gd name="connsiteY1" fmla="*/ 551821 h 552180"/>
                <a:gd name="connsiteX2" fmla="*/ 0 w 1481217"/>
                <a:gd name="connsiteY2" fmla="*/ 0 h 552180"/>
                <a:gd name="connsiteX3" fmla="*/ 1481217 w 1481217"/>
                <a:gd name="connsiteY3" fmla="*/ 48564 h 552180"/>
                <a:gd name="connsiteX0" fmla="*/ 1479346 w 1479346"/>
                <a:gd name="connsiteY0" fmla="*/ 89161 h 552230"/>
                <a:gd name="connsiteX1" fmla="*/ 722021 w 1479346"/>
                <a:gd name="connsiteY1" fmla="*/ 551821 h 552230"/>
                <a:gd name="connsiteX2" fmla="*/ 0 w 1479346"/>
                <a:gd name="connsiteY2" fmla="*/ 0 h 552230"/>
                <a:gd name="connsiteX3" fmla="*/ 1479346 w 1479346"/>
                <a:gd name="connsiteY3" fmla="*/ 89161 h 552230"/>
                <a:gd name="connsiteX0" fmla="*/ 1480281 w 1480281"/>
                <a:gd name="connsiteY0" fmla="*/ 68863 h 552204"/>
                <a:gd name="connsiteX1" fmla="*/ 722021 w 1480281"/>
                <a:gd name="connsiteY1" fmla="*/ 551821 h 552204"/>
                <a:gd name="connsiteX2" fmla="*/ 0 w 1480281"/>
                <a:gd name="connsiteY2" fmla="*/ 0 h 552204"/>
                <a:gd name="connsiteX3" fmla="*/ 1480281 w 1480281"/>
                <a:gd name="connsiteY3" fmla="*/ 68863 h 552204"/>
                <a:gd name="connsiteX0" fmla="*/ 1562742 w 1562743"/>
                <a:gd name="connsiteY0" fmla="*/ 26054 h 552157"/>
                <a:gd name="connsiteX1" fmla="*/ 722021 w 1562743"/>
                <a:gd name="connsiteY1" fmla="*/ 551821 h 552157"/>
                <a:gd name="connsiteX2" fmla="*/ 0 w 1562743"/>
                <a:gd name="connsiteY2" fmla="*/ 0 h 552157"/>
                <a:gd name="connsiteX3" fmla="*/ 1562742 w 1562743"/>
                <a:gd name="connsiteY3" fmla="*/ 26054 h 552157"/>
                <a:gd name="connsiteX0" fmla="*/ 1562742 w 1562741"/>
                <a:gd name="connsiteY0" fmla="*/ 26054 h 552155"/>
                <a:gd name="connsiteX1" fmla="*/ 722021 w 1562741"/>
                <a:gd name="connsiteY1" fmla="*/ 551821 h 552155"/>
                <a:gd name="connsiteX2" fmla="*/ 0 w 1562741"/>
                <a:gd name="connsiteY2" fmla="*/ 0 h 552155"/>
                <a:gd name="connsiteX3" fmla="*/ 1562742 w 1562741"/>
                <a:gd name="connsiteY3" fmla="*/ 26054 h 552155"/>
                <a:gd name="connsiteX0" fmla="*/ 1562742 w 1562743"/>
                <a:gd name="connsiteY0" fmla="*/ 26054 h 552155"/>
                <a:gd name="connsiteX1" fmla="*/ 722021 w 1562743"/>
                <a:gd name="connsiteY1" fmla="*/ 551821 h 552155"/>
                <a:gd name="connsiteX2" fmla="*/ 0 w 1562743"/>
                <a:gd name="connsiteY2" fmla="*/ 0 h 552155"/>
                <a:gd name="connsiteX3" fmla="*/ 1562742 w 1562743"/>
                <a:gd name="connsiteY3" fmla="*/ 26054 h 552155"/>
                <a:gd name="connsiteX0" fmla="*/ 1562742 w 1562741"/>
                <a:gd name="connsiteY0" fmla="*/ 26054 h 552155"/>
                <a:gd name="connsiteX1" fmla="*/ 722021 w 1562741"/>
                <a:gd name="connsiteY1" fmla="*/ 551821 h 552155"/>
                <a:gd name="connsiteX2" fmla="*/ 0 w 1562741"/>
                <a:gd name="connsiteY2" fmla="*/ 0 h 552155"/>
                <a:gd name="connsiteX3" fmla="*/ 1562742 w 1562741"/>
                <a:gd name="connsiteY3" fmla="*/ 26054 h 552155"/>
                <a:gd name="connsiteX0" fmla="*/ 1562742 w 1562743"/>
                <a:gd name="connsiteY0" fmla="*/ 26054 h 551821"/>
                <a:gd name="connsiteX1" fmla="*/ 722021 w 1562743"/>
                <a:gd name="connsiteY1" fmla="*/ 551821 h 551821"/>
                <a:gd name="connsiteX2" fmla="*/ 0 w 1562743"/>
                <a:gd name="connsiteY2" fmla="*/ 0 h 551821"/>
                <a:gd name="connsiteX3" fmla="*/ 1562742 w 1562743"/>
                <a:gd name="connsiteY3" fmla="*/ 26054 h 551821"/>
                <a:gd name="connsiteX0" fmla="*/ 1562742 w 1562741"/>
                <a:gd name="connsiteY0" fmla="*/ 26054 h 589658"/>
                <a:gd name="connsiteX1" fmla="*/ 678183 w 1562741"/>
                <a:gd name="connsiteY1" fmla="*/ 589658 h 589658"/>
                <a:gd name="connsiteX2" fmla="*/ 0 w 1562741"/>
                <a:gd name="connsiteY2" fmla="*/ 0 h 589658"/>
                <a:gd name="connsiteX3" fmla="*/ 1562742 w 1562741"/>
                <a:gd name="connsiteY3" fmla="*/ 26054 h 589658"/>
                <a:gd name="connsiteX0" fmla="*/ 1562742 w 1562742"/>
                <a:gd name="connsiteY0" fmla="*/ 26054 h 591172"/>
                <a:gd name="connsiteX1" fmla="*/ 739289 w 1562742"/>
                <a:gd name="connsiteY1" fmla="*/ 591172 h 591172"/>
                <a:gd name="connsiteX2" fmla="*/ 0 w 1562742"/>
                <a:gd name="connsiteY2" fmla="*/ 0 h 591172"/>
                <a:gd name="connsiteX3" fmla="*/ 1562742 w 1562742"/>
                <a:gd name="connsiteY3" fmla="*/ 26054 h 591172"/>
                <a:gd name="connsiteX0" fmla="*/ 1562742 w 1562742"/>
                <a:gd name="connsiteY0" fmla="*/ 26054 h 591172"/>
                <a:gd name="connsiteX1" fmla="*/ 739289 w 1562742"/>
                <a:gd name="connsiteY1" fmla="*/ 591172 h 591172"/>
                <a:gd name="connsiteX2" fmla="*/ 0 w 1562742"/>
                <a:gd name="connsiteY2" fmla="*/ 0 h 591172"/>
                <a:gd name="connsiteX3" fmla="*/ 1562742 w 1562742"/>
                <a:gd name="connsiteY3" fmla="*/ 26054 h 591172"/>
                <a:gd name="connsiteX0" fmla="*/ 1562742 w 1562742"/>
                <a:gd name="connsiteY0" fmla="*/ 26054 h 591172"/>
                <a:gd name="connsiteX1" fmla="*/ 739289 w 1562742"/>
                <a:gd name="connsiteY1" fmla="*/ 591172 h 591172"/>
                <a:gd name="connsiteX2" fmla="*/ 0 w 1562742"/>
                <a:gd name="connsiteY2" fmla="*/ 0 h 591172"/>
                <a:gd name="connsiteX3" fmla="*/ 1562742 w 1562742"/>
                <a:gd name="connsiteY3" fmla="*/ 26054 h 59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2742" h="591172">
                  <a:moveTo>
                    <a:pt x="1562742" y="26054"/>
                  </a:moveTo>
                  <a:cubicBezTo>
                    <a:pt x="1008875" y="219672"/>
                    <a:pt x="1191397" y="567677"/>
                    <a:pt x="739289" y="591172"/>
                  </a:cubicBezTo>
                  <a:cubicBezTo>
                    <a:pt x="430094" y="540391"/>
                    <a:pt x="685969" y="59549"/>
                    <a:pt x="0" y="0"/>
                  </a:cubicBezTo>
                  <a:lnTo>
                    <a:pt x="1562742" y="26054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Chord 195">
              <a:extLst>
                <a:ext uri="{FF2B5EF4-FFF2-40B4-BE49-F238E27FC236}">
                  <a16:creationId xmlns:a16="http://schemas.microsoft.com/office/drawing/2014/main" id="{1382ECD6-51BF-A7B3-D8F7-E2D9A0A90802}"/>
                </a:ext>
              </a:extLst>
            </p:cNvPr>
            <p:cNvSpPr/>
            <p:nvPr/>
          </p:nvSpPr>
          <p:spPr>
            <a:xfrm rot="10800000">
              <a:off x="9622981" y="7200677"/>
              <a:ext cx="1765582" cy="862678"/>
            </a:xfrm>
            <a:custGeom>
              <a:avLst/>
              <a:gdLst>
                <a:gd name="connsiteX0" fmla="*/ 1549201 w 1637532"/>
                <a:gd name="connsiteY0" fmla="*/ 1334292 h 1838115"/>
                <a:gd name="connsiteX1" fmla="*/ 790005 w 1637532"/>
                <a:gd name="connsiteY1" fmla="*/ 1837549 h 1838115"/>
                <a:gd name="connsiteX2" fmla="*/ 67984 w 1637532"/>
                <a:gd name="connsiteY2" fmla="*/ 1285728 h 1838115"/>
                <a:gd name="connsiteX3" fmla="*/ 1549201 w 1637532"/>
                <a:gd name="connsiteY3" fmla="*/ 1334292 h 1838115"/>
                <a:gd name="connsiteX0" fmla="*/ 1481217 w 1481217"/>
                <a:gd name="connsiteY0" fmla="*/ 48564 h 552180"/>
                <a:gd name="connsiteX1" fmla="*/ 722021 w 1481217"/>
                <a:gd name="connsiteY1" fmla="*/ 551821 h 552180"/>
                <a:gd name="connsiteX2" fmla="*/ 0 w 1481217"/>
                <a:gd name="connsiteY2" fmla="*/ 0 h 552180"/>
                <a:gd name="connsiteX3" fmla="*/ 1481217 w 1481217"/>
                <a:gd name="connsiteY3" fmla="*/ 48564 h 552180"/>
                <a:gd name="connsiteX0" fmla="*/ 1481217 w 1481217"/>
                <a:gd name="connsiteY0" fmla="*/ 48564 h 552180"/>
                <a:gd name="connsiteX1" fmla="*/ 722021 w 1481217"/>
                <a:gd name="connsiteY1" fmla="*/ 551821 h 552180"/>
                <a:gd name="connsiteX2" fmla="*/ 0 w 1481217"/>
                <a:gd name="connsiteY2" fmla="*/ 0 h 552180"/>
                <a:gd name="connsiteX3" fmla="*/ 1481217 w 1481217"/>
                <a:gd name="connsiteY3" fmla="*/ 48564 h 552180"/>
                <a:gd name="connsiteX0" fmla="*/ 1479346 w 1479346"/>
                <a:gd name="connsiteY0" fmla="*/ 89161 h 552230"/>
                <a:gd name="connsiteX1" fmla="*/ 722021 w 1479346"/>
                <a:gd name="connsiteY1" fmla="*/ 551821 h 552230"/>
                <a:gd name="connsiteX2" fmla="*/ 0 w 1479346"/>
                <a:gd name="connsiteY2" fmla="*/ 0 h 552230"/>
                <a:gd name="connsiteX3" fmla="*/ 1479346 w 1479346"/>
                <a:gd name="connsiteY3" fmla="*/ 89161 h 552230"/>
                <a:gd name="connsiteX0" fmla="*/ 1480281 w 1480281"/>
                <a:gd name="connsiteY0" fmla="*/ 68863 h 552204"/>
                <a:gd name="connsiteX1" fmla="*/ 722021 w 1480281"/>
                <a:gd name="connsiteY1" fmla="*/ 551821 h 552204"/>
                <a:gd name="connsiteX2" fmla="*/ 0 w 1480281"/>
                <a:gd name="connsiteY2" fmla="*/ 0 h 552204"/>
                <a:gd name="connsiteX3" fmla="*/ 1480281 w 1480281"/>
                <a:gd name="connsiteY3" fmla="*/ 68863 h 552204"/>
                <a:gd name="connsiteX0" fmla="*/ 1562742 w 1562743"/>
                <a:gd name="connsiteY0" fmla="*/ 26054 h 552157"/>
                <a:gd name="connsiteX1" fmla="*/ 722021 w 1562743"/>
                <a:gd name="connsiteY1" fmla="*/ 551821 h 552157"/>
                <a:gd name="connsiteX2" fmla="*/ 0 w 1562743"/>
                <a:gd name="connsiteY2" fmla="*/ 0 h 552157"/>
                <a:gd name="connsiteX3" fmla="*/ 1562742 w 1562743"/>
                <a:gd name="connsiteY3" fmla="*/ 26054 h 552157"/>
                <a:gd name="connsiteX0" fmla="*/ 1562742 w 1562741"/>
                <a:gd name="connsiteY0" fmla="*/ 26054 h 552155"/>
                <a:gd name="connsiteX1" fmla="*/ 722021 w 1562741"/>
                <a:gd name="connsiteY1" fmla="*/ 551821 h 552155"/>
                <a:gd name="connsiteX2" fmla="*/ 0 w 1562741"/>
                <a:gd name="connsiteY2" fmla="*/ 0 h 552155"/>
                <a:gd name="connsiteX3" fmla="*/ 1562742 w 1562741"/>
                <a:gd name="connsiteY3" fmla="*/ 26054 h 552155"/>
                <a:gd name="connsiteX0" fmla="*/ 1562742 w 1562743"/>
                <a:gd name="connsiteY0" fmla="*/ 26054 h 552155"/>
                <a:gd name="connsiteX1" fmla="*/ 722021 w 1562743"/>
                <a:gd name="connsiteY1" fmla="*/ 551821 h 552155"/>
                <a:gd name="connsiteX2" fmla="*/ 0 w 1562743"/>
                <a:gd name="connsiteY2" fmla="*/ 0 h 552155"/>
                <a:gd name="connsiteX3" fmla="*/ 1562742 w 1562743"/>
                <a:gd name="connsiteY3" fmla="*/ 26054 h 552155"/>
                <a:gd name="connsiteX0" fmla="*/ 1562742 w 1562741"/>
                <a:gd name="connsiteY0" fmla="*/ 26054 h 552155"/>
                <a:gd name="connsiteX1" fmla="*/ 722021 w 1562741"/>
                <a:gd name="connsiteY1" fmla="*/ 551821 h 552155"/>
                <a:gd name="connsiteX2" fmla="*/ 0 w 1562741"/>
                <a:gd name="connsiteY2" fmla="*/ 0 h 552155"/>
                <a:gd name="connsiteX3" fmla="*/ 1562742 w 1562741"/>
                <a:gd name="connsiteY3" fmla="*/ 26054 h 552155"/>
                <a:gd name="connsiteX0" fmla="*/ 1562742 w 1562743"/>
                <a:gd name="connsiteY0" fmla="*/ 26054 h 551821"/>
                <a:gd name="connsiteX1" fmla="*/ 722021 w 1562743"/>
                <a:gd name="connsiteY1" fmla="*/ 551821 h 551821"/>
                <a:gd name="connsiteX2" fmla="*/ 0 w 1562743"/>
                <a:gd name="connsiteY2" fmla="*/ 0 h 551821"/>
                <a:gd name="connsiteX3" fmla="*/ 1562742 w 1562743"/>
                <a:gd name="connsiteY3" fmla="*/ 26054 h 551821"/>
                <a:gd name="connsiteX0" fmla="*/ 1562742 w 1562741"/>
                <a:gd name="connsiteY0" fmla="*/ 26054 h 589658"/>
                <a:gd name="connsiteX1" fmla="*/ 678183 w 1562741"/>
                <a:gd name="connsiteY1" fmla="*/ 589658 h 589658"/>
                <a:gd name="connsiteX2" fmla="*/ 0 w 1562741"/>
                <a:gd name="connsiteY2" fmla="*/ 0 h 589658"/>
                <a:gd name="connsiteX3" fmla="*/ 1562742 w 1562741"/>
                <a:gd name="connsiteY3" fmla="*/ 26054 h 58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2741" h="589658">
                  <a:moveTo>
                    <a:pt x="1562742" y="26054"/>
                  </a:moveTo>
                  <a:cubicBezTo>
                    <a:pt x="1008875" y="219672"/>
                    <a:pt x="1080308" y="553947"/>
                    <a:pt x="678183" y="589658"/>
                  </a:cubicBezTo>
                  <a:cubicBezTo>
                    <a:pt x="368988" y="538877"/>
                    <a:pt x="615478" y="167583"/>
                    <a:pt x="0" y="0"/>
                  </a:cubicBezTo>
                  <a:lnTo>
                    <a:pt x="1562742" y="26054"/>
                  </a:lnTo>
                  <a:close/>
                </a:path>
              </a:pathLst>
            </a:custGeom>
            <a:solidFill>
              <a:srgbClr val="FF1984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4144A3-54CF-D03C-7392-0CE85C5B6950}"/>
                </a:ext>
              </a:extLst>
            </p:cNvPr>
            <p:cNvCxnSpPr>
              <a:cxnSpLocks/>
            </p:cNvCxnSpPr>
            <p:nvPr/>
          </p:nvCxnSpPr>
          <p:spPr>
            <a:xfrm>
              <a:off x="9306429" y="6373030"/>
              <a:ext cx="1" cy="1699545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3704A9B4-026D-6AEF-2A80-F0127191E1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12651" y="8049590"/>
              <a:ext cx="214538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683EEBCE-DEAB-6CAC-DAFB-AC0060681E1B}"/>
                </a:ext>
              </a:extLst>
            </p:cNvPr>
            <p:cNvSpPr txBox="1"/>
            <p:nvPr/>
          </p:nvSpPr>
          <p:spPr>
            <a:xfrm rot="16200000">
              <a:off x="8246508" y="7072290"/>
              <a:ext cx="15472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cs typeface="Times New Roman" panose="02020603050405020304" pitchFamily="18" charset="0"/>
                </a:rPr>
                <a:t>Density</a:t>
              </a:r>
              <a:endParaRPr 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6" name="TextBox 325">
                  <a:extLst>
                    <a:ext uri="{FF2B5EF4-FFF2-40B4-BE49-F238E27FC236}">
                      <a16:creationId xmlns:a16="http://schemas.microsoft.com/office/drawing/2014/main" id="{E3FEFC35-DFA0-25CB-CE05-01CD8DF64F11}"/>
                    </a:ext>
                  </a:extLst>
                </p:cNvPr>
                <p:cNvSpPr txBox="1"/>
                <p:nvPr/>
              </p:nvSpPr>
              <p:spPr>
                <a:xfrm>
                  <a:off x="9220200" y="8078892"/>
                  <a:ext cx="2237832" cy="3397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/>
                    <a:t>Distribution of </a:t>
                  </a:r>
                  <a14:m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⃖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</m:oMath>
                  </a14:m>
                  <a:endParaRPr lang="en-US" sz="1400" baseline="-25000" dirty="0"/>
                </a:p>
              </p:txBody>
            </p:sp>
          </mc:Choice>
          <mc:Fallback xmlns="">
            <p:sp>
              <p:nvSpPr>
                <p:cNvPr id="326" name="TextBox 325">
                  <a:extLst>
                    <a:ext uri="{FF2B5EF4-FFF2-40B4-BE49-F238E27FC236}">
                      <a16:creationId xmlns:a16="http://schemas.microsoft.com/office/drawing/2014/main" id="{E3FEFC35-DFA0-25CB-CE05-01CD8DF64F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0200" y="8078892"/>
                  <a:ext cx="2237832" cy="339708"/>
                </a:xfrm>
                <a:prstGeom prst="rect">
                  <a:avLst/>
                </a:prstGeom>
                <a:blipFill>
                  <a:blip r:embed="rId11"/>
                  <a:stretch>
                    <a:fillRect t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ACDB8780-141D-704A-5686-536C51989174}"/>
                </a:ext>
              </a:extLst>
            </p:cNvPr>
            <p:cNvCxnSpPr>
              <a:cxnSpLocks/>
            </p:cNvCxnSpPr>
            <p:nvPr/>
          </p:nvCxnSpPr>
          <p:spPr>
            <a:xfrm>
              <a:off x="10117930" y="6409132"/>
              <a:ext cx="32766" cy="1667939"/>
            </a:xfrm>
            <a:prstGeom prst="line">
              <a:avLst/>
            </a:prstGeom>
            <a:ln w="762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5D566C01-7D20-A1BF-9EE8-0EC91C15B416}"/>
                  </a:ext>
                </a:extLst>
              </p:cNvPr>
              <p:cNvSpPr txBox="1"/>
              <p:nvPr/>
            </p:nvSpPr>
            <p:spPr>
              <a:xfrm>
                <a:off x="673884" y="13546579"/>
                <a:ext cx="19484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estimate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xmin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⃖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5D566C01-7D20-A1BF-9EE8-0EC91C15B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84" y="13546579"/>
                <a:ext cx="1948417" cy="276999"/>
              </a:xfrm>
              <a:prstGeom prst="rect">
                <a:avLst/>
              </a:prstGeom>
              <a:blipFill>
                <a:blip r:embed="rId12"/>
                <a:stretch>
                  <a:fillRect l="-627" t="-2174" r="-2508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8EFB1032-DBE4-451F-DC60-557AE0EA0F61}"/>
                  </a:ext>
                </a:extLst>
              </p:cNvPr>
              <p:cNvSpPr txBox="1"/>
              <p:nvPr/>
            </p:nvSpPr>
            <p:spPr>
              <a:xfrm>
                <a:off x="4756698" y="13546579"/>
                <a:ext cx="16426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⃖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8EFB1032-DBE4-451F-DC60-557AE0EA0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698" y="13546579"/>
                <a:ext cx="1642629" cy="276999"/>
              </a:xfrm>
              <a:prstGeom prst="rect">
                <a:avLst/>
              </a:prstGeom>
              <a:blipFill>
                <a:blip r:embed="rId13"/>
                <a:stretch>
                  <a:fillRect l="-1481" r="-370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2" name="TextBox 331">
            <a:extLst>
              <a:ext uri="{FF2B5EF4-FFF2-40B4-BE49-F238E27FC236}">
                <a16:creationId xmlns:a16="http://schemas.microsoft.com/office/drawing/2014/main" id="{C3B91C73-298A-75AC-A134-E437A13D9562}"/>
              </a:ext>
            </a:extLst>
          </p:cNvPr>
          <p:cNvSpPr txBox="1"/>
          <p:nvPr/>
        </p:nvSpPr>
        <p:spPr>
          <a:xfrm>
            <a:off x="2545900" y="6474111"/>
            <a:ext cx="1937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Continuous Frequency Distribution</a:t>
            </a:r>
          </a:p>
        </p:txBody>
      </p:sp>
      <p:sp>
        <p:nvSpPr>
          <p:cNvPr id="333" name="Arrow: Right 332">
            <a:extLst>
              <a:ext uri="{FF2B5EF4-FFF2-40B4-BE49-F238E27FC236}">
                <a16:creationId xmlns:a16="http://schemas.microsoft.com/office/drawing/2014/main" id="{A8B35DFC-A6C2-49D1-7727-9A88E1569620}"/>
              </a:ext>
            </a:extLst>
          </p:cNvPr>
          <p:cNvSpPr/>
          <p:nvPr/>
        </p:nvSpPr>
        <p:spPr>
          <a:xfrm>
            <a:off x="3083008" y="7433012"/>
            <a:ext cx="1130136" cy="524263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A94C57F9-4BB6-1849-2F24-091ACC1E99BD}"/>
              </a:ext>
            </a:extLst>
          </p:cNvPr>
          <p:cNvGrpSpPr/>
          <p:nvPr/>
        </p:nvGrpSpPr>
        <p:grpSpPr>
          <a:xfrm>
            <a:off x="8175189" y="10361457"/>
            <a:ext cx="3124276" cy="3301068"/>
            <a:chOff x="8175189" y="9770907"/>
            <a:chExt cx="3124276" cy="3301068"/>
          </a:xfrm>
        </p:grpSpPr>
        <p:sp>
          <p:nvSpPr>
            <p:cNvPr id="343" name="Chord 195">
              <a:extLst>
                <a:ext uri="{FF2B5EF4-FFF2-40B4-BE49-F238E27FC236}">
                  <a16:creationId xmlns:a16="http://schemas.microsoft.com/office/drawing/2014/main" id="{31664D72-03A6-4828-61F7-2D6B19AA0130}"/>
                </a:ext>
              </a:extLst>
            </p:cNvPr>
            <p:cNvSpPr/>
            <p:nvPr/>
          </p:nvSpPr>
          <p:spPr>
            <a:xfrm rot="10641725">
              <a:off x="9065012" y="10591792"/>
              <a:ext cx="1661431" cy="1905883"/>
            </a:xfrm>
            <a:custGeom>
              <a:avLst/>
              <a:gdLst>
                <a:gd name="connsiteX0" fmla="*/ 1549201 w 1637532"/>
                <a:gd name="connsiteY0" fmla="*/ 1334292 h 1838115"/>
                <a:gd name="connsiteX1" fmla="*/ 790005 w 1637532"/>
                <a:gd name="connsiteY1" fmla="*/ 1837549 h 1838115"/>
                <a:gd name="connsiteX2" fmla="*/ 67984 w 1637532"/>
                <a:gd name="connsiteY2" fmla="*/ 1285728 h 1838115"/>
                <a:gd name="connsiteX3" fmla="*/ 1549201 w 1637532"/>
                <a:gd name="connsiteY3" fmla="*/ 1334292 h 1838115"/>
                <a:gd name="connsiteX0" fmla="*/ 1481217 w 1481217"/>
                <a:gd name="connsiteY0" fmla="*/ 48564 h 552180"/>
                <a:gd name="connsiteX1" fmla="*/ 722021 w 1481217"/>
                <a:gd name="connsiteY1" fmla="*/ 551821 h 552180"/>
                <a:gd name="connsiteX2" fmla="*/ 0 w 1481217"/>
                <a:gd name="connsiteY2" fmla="*/ 0 h 552180"/>
                <a:gd name="connsiteX3" fmla="*/ 1481217 w 1481217"/>
                <a:gd name="connsiteY3" fmla="*/ 48564 h 552180"/>
                <a:gd name="connsiteX0" fmla="*/ 1481217 w 1481217"/>
                <a:gd name="connsiteY0" fmla="*/ 48564 h 552180"/>
                <a:gd name="connsiteX1" fmla="*/ 722021 w 1481217"/>
                <a:gd name="connsiteY1" fmla="*/ 551821 h 552180"/>
                <a:gd name="connsiteX2" fmla="*/ 0 w 1481217"/>
                <a:gd name="connsiteY2" fmla="*/ 0 h 552180"/>
                <a:gd name="connsiteX3" fmla="*/ 1481217 w 1481217"/>
                <a:gd name="connsiteY3" fmla="*/ 48564 h 552180"/>
                <a:gd name="connsiteX0" fmla="*/ 1479346 w 1479346"/>
                <a:gd name="connsiteY0" fmla="*/ 89161 h 552230"/>
                <a:gd name="connsiteX1" fmla="*/ 722021 w 1479346"/>
                <a:gd name="connsiteY1" fmla="*/ 551821 h 552230"/>
                <a:gd name="connsiteX2" fmla="*/ 0 w 1479346"/>
                <a:gd name="connsiteY2" fmla="*/ 0 h 552230"/>
                <a:gd name="connsiteX3" fmla="*/ 1479346 w 1479346"/>
                <a:gd name="connsiteY3" fmla="*/ 89161 h 552230"/>
                <a:gd name="connsiteX0" fmla="*/ 1480281 w 1480281"/>
                <a:gd name="connsiteY0" fmla="*/ 68863 h 552204"/>
                <a:gd name="connsiteX1" fmla="*/ 722021 w 1480281"/>
                <a:gd name="connsiteY1" fmla="*/ 551821 h 552204"/>
                <a:gd name="connsiteX2" fmla="*/ 0 w 1480281"/>
                <a:gd name="connsiteY2" fmla="*/ 0 h 552204"/>
                <a:gd name="connsiteX3" fmla="*/ 1480281 w 1480281"/>
                <a:gd name="connsiteY3" fmla="*/ 68863 h 552204"/>
                <a:gd name="connsiteX0" fmla="*/ 1562742 w 1562743"/>
                <a:gd name="connsiteY0" fmla="*/ 26054 h 552157"/>
                <a:gd name="connsiteX1" fmla="*/ 722021 w 1562743"/>
                <a:gd name="connsiteY1" fmla="*/ 551821 h 552157"/>
                <a:gd name="connsiteX2" fmla="*/ 0 w 1562743"/>
                <a:gd name="connsiteY2" fmla="*/ 0 h 552157"/>
                <a:gd name="connsiteX3" fmla="*/ 1562742 w 1562743"/>
                <a:gd name="connsiteY3" fmla="*/ 26054 h 552157"/>
                <a:gd name="connsiteX0" fmla="*/ 1562742 w 1562741"/>
                <a:gd name="connsiteY0" fmla="*/ 26054 h 552155"/>
                <a:gd name="connsiteX1" fmla="*/ 722021 w 1562741"/>
                <a:gd name="connsiteY1" fmla="*/ 551821 h 552155"/>
                <a:gd name="connsiteX2" fmla="*/ 0 w 1562741"/>
                <a:gd name="connsiteY2" fmla="*/ 0 h 552155"/>
                <a:gd name="connsiteX3" fmla="*/ 1562742 w 1562741"/>
                <a:gd name="connsiteY3" fmla="*/ 26054 h 552155"/>
                <a:gd name="connsiteX0" fmla="*/ 1562742 w 1562743"/>
                <a:gd name="connsiteY0" fmla="*/ 26054 h 552155"/>
                <a:gd name="connsiteX1" fmla="*/ 722021 w 1562743"/>
                <a:gd name="connsiteY1" fmla="*/ 551821 h 552155"/>
                <a:gd name="connsiteX2" fmla="*/ 0 w 1562743"/>
                <a:gd name="connsiteY2" fmla="*/ 0 h 552155"/>
                <a:gd name="connsiteX3" fmla="*/ 1562742 w 1562743"/>
                <a:gd name="connsiteY3" fmla="*/ 26054 h 552155"/>
                <a:gd name="connsiteX0" fmla="*/ 1562742 w 1562741"/>
                <a:gd name="connsiteY0" fmla="*/ 26054 h 552155"/>
                <a:gd name="connsiteX1" fmla="*/ 722021 w 1562741"/>
                <a:gd name="connsiteY1" fmla="*/ 551821 h 552155"/>
                <a:gd name="connsiteX2" fmla="*/ 0 w 1562741"/>
                <a:gd name="connsiteY2" fmla="*/ 0 h 552155"/>
                <a:gd name="connsiteX3" fmla="*/ 1562742 w 1562741"/>
                <a:gd name="connsiteY3" fmla="*/ 26054 h 552155"/>
                <a:gd name="connsiteX0" fmla="*/ 1562742 w 1562743"/>
                <a:gd name="connsiteY0" fmla="*/ 26054 h 551821"/>
                <a:gd name="connsiteX1" fmla="*/ 722021 w 1562743"/>
                <a:gd name="connsiteY1" fmla="*/ 551821 h 551821"/>
                <a:gd name="connsiteX2" fmla="*/ 0 w 1562743"/>
                <a:gd name="connsiteY2" fmla="*/ 0 h 551821"/>
                <a:gd name="connsiteX3" fmla="*/ 1562742 w 1562743"/>
                <a:gd name="connsiteY3" fmla="*/ 26054 h 551821"/>
                <a:gd name="connsiteX0" fmla="*/ 1562742 w 1562741"/>
                <a:gd name="connsiteY0" fmla="*/ 26054 h 589658"/>
                <a:gd name="connsiteX1" fmla="*/ 678183 w 1562741"/>
                <a:gd name="connsiteY1" fmla="*/ 589658 h 589658"/>
                <a:gd name="connsiteX2" fmla="*/ 0 w 1562741"/>
                <a:gd name="connsiteY2" fmla="*/ 0 h 589658"/>
                <a:gd name="connsiteX3" fmla="*/ 1562742 w 1562741"/>
                <a:gd name="connsiteY3" fmla="*/ 26054 h 589658"/>
                <a:gd name="connsiteX0" fmla="*/ 1562742 w 1562742"/>
                <a:gd name="connsiteY0" fmla="*/ 26054 h 591172"/>
                <a:gd name="connsiteX1" fmla="*/ 739289 w 1562742"/>
                <a:gd name="connsiteY1" fmla="*/ 591172 h 591172"/>
                <a:gd name="connsiteX2" fmla="*/ 0 w 1562742"/>
                <a:gd name="connsiteY2" fmla="*/ 0 h 591172"/>
                <a:gd name="connsiteX3" fmla="*/ 1562742 w 1562742"/>
                <a:gd name="connsiteY3" fmla="*/ 26054 h 591172"/>
                <a:gd name="connsiteX0" fmla="*/ 1562742 w 1562742"/>
                <a:gd name="connsiteY0" fmla="*/ 26054 h 591172"/>
                <a:gd name="connsiteX1" fmla="*/ 739289 w 1562742"/>
                <a:gd name="connsiteY1" fmla="*/ 591172 h 591172"/>
                <a:gd name="connsiteX2" fmla="*/ 0 w 1562742"/>
                <a:gd name="connsiteY2" fmla="*/ 0 h 591172"/>
                <a:gd name="connsiteX3" fmla="*/ 1562742 w 1562742"/>
                <a:gd name="connsiteY3" fmla="*/ 26054 h 591172"/>
                <a:gd name="connsiteX0" fmla="*/ 1562742 w 1562742"/>
                <a:gd name="connsiteY0" fmla="*/ 26054 h 591172"/>
                <a:gd name="connsiteX1" fmla="*/ 739289 w 1562742"/>
                <a:gd name="connsiteY1" fmla="*/ 591172 h 591172"/>
                <a:gd name="connsiteX2" fmla="*/ 0 w 1562742"/>
                <a:gd name="connsiteY2" fmla="*/ 0 h 591172"/>
                <a:gd name="connsiteX3" fmla="*/ 1562742 w 1562742"/>
                <a:gd name="connsiteY3" fmla="*/ 26054 h 59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2742" h="591172">
                  <a:moveTo>
                    <a:pt x="1562742" y="26054"/>
                  </a:moveTo>
                  <a:cubicBezTo>
                    <a:pt x="1008875" y="219672"/>
                    <a:pt x="1191397" y="567677"/>
                    <a:pt x="739289" y="591172"/>
                  </a:cubicBezTo>
                  <a:cubicBezTo>
                    <a:pt x="430094" y="540391"/>
                    <a:pt x="685969" y="59549"/>
                    <a:pt x="0" y="0"/>
                  </a:cubicBezTo>
                  <a:lnTo>
                    <a:pt x="1562742" y="26054"/>
                  </a:lnTo>
                  <a:close/>
                </a:path>
              </a:pathLst>
            </a:custGeom>
            <a:solidFill>
              <a:srgbClr val="019AFF">
                <a:alpha val="8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Chord 195">
              <a:extLst>
                <a:ext uri="{FF2B5EF4-FFF2-40B4-BE49-F238E27FC236}">
                  <a16:creationId xmlns:a16="http://schemas.microsoft.com/office/drawing/2014/main" id="{F92BD8AF-7155-E009-9042-C8AED7AAF30F}"/>
                </a:ext>
              </a:extLst>
            </p:cNvPr>
            <p:cNvSpPr/>
            <p:nvPr/>
          </p:nvSpPr>
          <p:spPr>
            <a:xfrm rot="10800000">
              <a:off x="9206104" y="11102859"/>
              <a:ext cx="2093361" cy="1392159"/>
            </a:xfrm>
            <a:custGeom>
              <a:avLst/>
              <a:gdLst>
                <a:gd name="connsiteX0" fmla="*/ 1549201 w 1637532"/>
                <a:gd name="connsiteY0" fmla="*/ 1334292 h 1838115"/>
                <a:gd name="connsiteX1" fmla="*/ 790005 w 1637532"/>
                <a:gd name="connsiteY1" fmla="*/ 1837549 h 1838115"/>
                <a:gd name="connsiteX2" fmla="*/ 67984 w 1637532"/>
                <a:gd name="connsiteY2" fmla="*/ 1285728 h 1838115"/>
                <a:gd name="connsiteX3" fmla="*/ 1549201 w 1637532"/>
                <a:gd name="connsiteY3" fmla="*/ 1334292 h 1838115"/>
                <a:gd name="connsiteX0" fmla="*/ 1481217 w 1481217"/>
                <a:gd name="connsiteY0" fmla="*/ 48564 h 552180"/>
                <a:gd name="connsiteX1" fmla="*/ 722021 w 1481217"/>
                <a:gd name="connsiteY1" fmla="*/ 551821 h 552180"/>
                <a:gd name="connsiteX2" fmla="*/ 0 w 1481217"/>
                <a:gd name="connsiteY2" fmla="*/ 0 h 552180"/>
                <a:gd name="connsiteX3" fmla="*/ 1481217 w 1481217"/>
                <a:gd name="connsiteY3" fmla="*/ 48564 h 552180"/>
                <a:gd name="connsiteX0" fmla="*/ 1481217 w 1481217"/>
                <a:gd name="connsiteY0" fmla="*/ 48564 h 552180"/>
                <a:gd name="connsiteX1" fmla="*/ 722021 w 1481217"/>
                <a:gd name="connsiteY1" fmla="*/ 551821 h 552180"/>
                <a:gd name="connsiteX2" fmla="*/ 0 w 1481217"/>
                <a:gd name="connsiteY2" fmla="*/ 0 h 552180"/>
                <a:gd name="connsiteX3" fmla="*/ 1481217 w 1481217"/>
                <a:gd name="connsiteY3" fmla="*/ 48564 h 552180"/>
                <a:gd name="connsiteX0" fmla="*/ 1479346 w 1479346"/>
                <a:gd name="connsiteY0" fmla="*/ 89161 h 552230"/>
                <a:gd name="connsiteX1" fmla="*/ 722021 w 1479346"/>
                <a:gd name="connsiteY1" fmla="*/ 551821 h 552230"/>
                <a:gd name="connsiteX2" fmla="*/ 0 w 1479346"/>
                <a:gd name="connsiteY2" fmla="*/ 0 h 552230"/>
                <a:gd name="connsiteX3" fmla="*/ 1479346 w 1479346"/>
                <a:gd name="connsiteY3" fmla="*/ 89161 h 552230"/>
                <a:gd name="connsiteX0" fmla="*/ 1480281 w 1480281"/>
                <a:gd name="connsiteY0" fmla="*/ 68863 h 552204"/>
                <a:gd name="connsiteX1" fmla="*/ 722021 w 1480281"/>
                <a:gd name="connsiteY1" fmla="*/ 551821 h 552204"/>
                <a:gd name="connsiteX2" fmla="*/ 0 w 1480281"/>
                <a:gd name="connsiteY2" fmla="*/ 0 h 552204"/>
                <a:gd name="connsiteX3" fmla="*/ 1480281 w 1480281"/>
                <a:gd name="connsiteY3" fmla="*/ 68863 h 552204"/>
                <a:gd name="connsiteX0" fmla="*/ 1562742 w 1562743"/>
                <a:gd name="connsiteY0" fmla="*/ 26054 h 552157"/>
                <a:gd name="connsiteX1" fmla="*/ 722021 w 1562743"/>
                <a:gd name="connsiteY1" fmla="*/ 551821 h 552157"/>
                <a:gd name="connsiteX2" fmla="*/ 0 w 1562743"/>
                <a:gd name="connsiteY2" fmla="*/ 0 h 552157"/>
                <a:gd name="connsiteX3" fmla="*/ 1562742 w 1562743"/>
                <a:gd name="connsiteY3" fmla="*/ 26054 h 552157"/>
                <a:gd name="connsiteX0" fmla="*/ 1562742 w 1562741"/>
                <a:gd name="connsiteY0" fmla="*/ 26054 h 552155"/>
                <a:gd name="connsiteX1" fmla="*/ 722021 w 1562741"/>
                <a:gd name="connsiteY1" fmla="*/ 551821 h 552155"/>
                <a:gd name="connsiteX2" fmla="*/ 0 w 1562741"/>
                <a:gd name="connsiteY2" fmla="*/ 0 h 552155"/>
                <a:gd name="connsiteX3" fmla="*/ 1562742 w 1562741"/>
                <a:gd name="connsiteY3" fmla="*/ 26054 h 552155"/>
                <a:gd name="connsiteX0" fmla="*/ 1562742 w 1562743"/>
                <a:gd name="connsiteY0" fmla="*/ 26054 h 552155"/>
                <a:gd name="connsiteX1" fmla="*/ 722021 w 1562743"/>
                <a:gd name="connsiteY1" fmla="*/ 551821 h 552155"/>
                <a:gd name="connsiteX2" fmla="*/ 0 w 1562743"/>
                <a:gd name="connsiteY2" fmla="*/ 0 h 552155"/>
                <a:gd name="connsiteX3" fmla="*/ 1562742 w 1562743"/>
                <a:gd name="connsiteY3" fmla="*/ 26054 h 552155"/>
                <a:gd name="connsiteX0" fmla="*/ 1562742 w 1562741"/>
                <a:gd name="connsiteY0" fmla="*/ 26054 h 552155"/>
                <a:gd name="connsiteX1" fmla="*/ 722021 w 1562741"/>
                <a:gd name="connsiteY1" fmla="*/ 551821 h 552155"/>
                <a:gd name="connsiteX2" fmla="*/ 0 w 1562741"/>
                <a:gd name="connsiteY2" fmla="*/ 0 h 552155"/>
                <a:gd name="connsiteX3" fmla="*/ 1562742 w 1562741"/>
                <a:gd name="connsiteY3" fmla="*/ 26054 h 552155"/>
                <a:gd name="connsiteX0" fmla="*/ 1562742 w 1562743"/>
                <a:gd name="connsiteY0" fmla="*/ 26054 h 551821"/>
                <a:gd name="connsiteX1" fmla="*/ 722021 w 1562743"/>
                <a:gd name="connsiteY1" fmla="*/ 551821 h 551821"/>
                <a:gd name="connsiteX2" fmla="*/ 0 w 1562743"/>
                <a:gd name="connsiteY2" fmla="*/ 0 h 551821"/>
                <a:gd name="connsiteX3" fmla="*/ 1562742 w 1562743"/>
                <a:gd name="connsiteY3" fmla="*/ 26054 h 551821"/>
                <a:gd name="connsiteX0" fmla="*/ 1562742 w 1562741"/>
                <a:gd name="connsiteY0" fmla="*/ 26054 h 589658"/>
                <a:gd name="connsiteX1" fmla="*/ 678183 w 1562741"/>
                <a:gd name="connsiteY1" fmla="*/ 589658 h 589658"/>
                <a:gd name="connsiteX2" fmla="*/ 0 w 1562741"/>
                <a:gd name="connsiteY2" fmla="*/ 0 h 589658"/>
                <a:gd name="connsiteX3" fmla="*/ 1562742 w 1562741"/>
                <a:gd name="connsiteY3" fmla="*/ 26054 h 58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2741" h="589658">
                  <a:moveTo>
                    <a:pt x="1562742" y="26054"/>
                  </a:moveTo>
                  <a:cubicBezTo>
                    <a:pt x="1008875" y="219672"/>
                    <a:pt x="1080308" y="553947"/>
                    <a:pt x="678183" y="589658"/>
                  </a:cubicBezTo>
                  <a:cubicBezTo>
                    <a:pt x="368988" y="538877"/>
                    <a:pt x="615478" y="167583"/>
                    <a:pt x="0" y="0"/>
                  </a:cubicBezTo>
                  <a:lnTo>
                    <a:pt x="1562742" y="26054"/>
                  </a:lnTo>
                  <a:close/>
                </a:path>
              </a:pathLst>
            </a:custGeom>
            <a:solidFill>
              <a:srgbClr val="FF1984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35" name="Group 334">
              <a:extLst>
                <a:ext uri="{FF2B5EF4-FFF2-40B4-BE49-F238E27FC236}">
                  <a16:creationId xmlns:a16="http://schemas.microsoft.com/office/drawing/2014/main" id="{5DAC6B35-20AA-D328-AA01-8A60681092C9}"/>
                </a:ext>
              </a:extLst>
            </p:cNvPr>
            <p:cNvGrpSpPr/>
            <p:nvPr/>
          </p:nvGrpSpPr>
          <p:grpSpPr>
            <a:xfrm>
              <a:off x="8175189" y="9770907"/>
              <a:ext cx="3072942" cy="3301068"/>
              <a:chOff x="8866256" y="6373030"/>
              <a:chExt cx="2591780" cy="2045570"/>
            </a:xfrm>
          </p:grpSpPr>
          <p:sp>
            <p:nvSpPr>
              <p:cNvPr id="336" name="Chord 195">
                <a:extLst>
                  <a:ext uri="{FF2B5EF4-FFF2-40B4-BE49-F238E27FC236}">
                    <a16:creationId xmlns:a16="http://schemas.microsoft.com/office/drawing/2014/main" id="{614560F2-557A-7BF3-68B2-03478A82EB5B}"/>
                  </a:ext>
                </a:extLst>
              </p:cNvPr>
              <p:cNvSpPr/>
              <p:nvPr/>
            </p:nvSpPr>
            <p:spPr>
              <a:xfrm rot="10641725">
                <a:off x="9477170" y="6824565"/>
                <a:ext cx="1129121" cy="1266889"/>
              </a:xfrm>
              <a:custGeom>
                <a:avLst/>
                <a:gdLst>
                  <a:gd name="connsiteX0" fmla="*/ 1549201 w 1637532"/>
                  <a:gd name="connsiteY0" fmla="*/ 1334292 h 1838115"/>
                  <a:gd name="connsiteX1" fmla="*/ 790005 w 1637532"/>
                  <a:gd name="connsiteY1" fmla="*/ 1837549 h 1838115"/>
                  <a:gd name="connsiteX2" fmla="*/ 67984 w 1637532"/>
                  <a:gd name="connsiteY2" fmla="*/ 1285728 h 1838115"/>
                  <a:gd name="connsiteX3" fmla="*/ 1549201 w 1637532"/>
                  <a:gd name="connsiteY3" fmla="*/ 1334292 h 1838115"/>
                  <a:gd name="connsiteX0" fmla="*/ 1481217 w 1481217"/>
                  <a:gd name="connsiteY0" fmla="*/ 48564 h 552180"/>
                  <a:gd name="connsiteX1" fmla="*/ 722021 w 1481217"/>
                  <a:gd name="connsiteY1" fmla="*/ 551821 h 552180"/>
                  <a:gd name="connsiteX2" fmla="*/ 0 w 1481217"/>
                  <a:gd name="connsiteY2" fmla="*/ 0 h 552180"/>
                  <a:gd name="connsiteX3" fmla="*/ 1481217 w 1481217"/>
                  <a:gd name="connsiteY3" fmla="*/ 48564 h 552180"/>
                  <a:gd name="connsiteX0" fmla="*/ 1481217 w 1481217"/>
                  <a:gd name="connsiteY0" fmla="*/ 48564 h 552180"/>
                  <a:gd name="connsiteX1" fmla="*/ 722021 w 1481217"/>
                  <a:gd name="connsiteY1" fmla="*/ 551821 h 552180"/>
                  <a:gd name="connsiteX2" fmla="*/ 0 w 1481217"/>
                  <a:gd name="connsiteY2" fmla="*/ 0 h 552180"/>
                  <a:gd name="connsiteX3" fmla="*/ 1481217 w 1481217"/>
                  <a:gd name="connsiteY3" fmla="*/ 48564 h 552180"/>
                  <a:gd name="connsiteX0" fmla="*/ 1479346 w 1479346"/>
                  <a:gd name="connsiteY0" fmla="*/ 89161 h 552230"/>
                  <a:gd name="connsiteX1" fmla="*/ 722021 w 1479346"/>
                  <a:gd name="connsiteY1" fmla="*/ 551821 h 552230"/>
                  <a:gd name="connsiteX2" fmla="*/ 0 w 1479346"/>
                  <a:gd name="connsiteY2" fmla="*/ 0 h 552230"/>
                  <a:gd name="connsiteX3" fmla="*/ 1479346 w 1479346"/>
                  <a:gd name="connsiteY3" fmla="*/ 89161 h 552230"/>
                  <a:gd name="connsiteX0" fmla="*/ 1480281 w 1480281"/>
                  <a:gd name="connsiteY0" fmla="*/ 68863 h 552204"/>
                  <a:gd name="connsiteX1" fmla="*/ 722021 w 1480281"/>
                  <a:gd name="connsiteY1" fmla="*/ 551821 h 552204"/>
                  <a:gd name="connsiteX2" fmla="*/ 0 w 1480281"/>
                  <a:gd name="connsiteY2" fmla="*/ 0 h 552204"/>
                  <a:gd name="connsiteX3" fmla="*/ 1480281 w 1480281"/>
                  <a:gd name="connsiteY3" fmla="*/ 68863 h 552204"/>
                  <a:gd name="connsiteX0" fmla="*/ 1562742 w 1562743"/>
                  <a:gd name="connsiteY0" fmla="*/ 26054 h 552157"/>
                  <a:gd name="connsiteX1" fmla="*/ 722021 w 1562743"/>
                  <a:gd name="connsiteY1" fmla="*/ 551821 h 552157"/>
                  <a:gd name="connsiteX2" fmla="*/ 0 w 1562743"/>
                  <a:gd name="connsiteY2" fmla="*/ 0 h 552157"/>
                  <a:gd name="connsiteX3" fmla="*/ 1562742 w 1562743"/>
                  <a:gd name="connsiteY3" fmla="*/ 26054 h 552157"/>
                  <a:gd name="connsiteX0" fmla="*/ 1562742 w 1562741"/>
                  <a:gd name="connsiteY0" fmla="*/ 26054 h 552155"/>
                  <a:gd name="connsiteX1" fmla="*/ 722021 w 1562741"/>
                  <a:gd name="connsiteY1" fmla="*/ 551821 h 552155"/>
                  <a:gd name="connsiteX2" fmla="*/ 0 w 1562741"/>
                  <a:gd name="connsiteY2" fmla="*/ 0 h 552155"/>
                  <a:gd name="connsiteX3" fmla="*/ 1562742 w 1562741"/>
                  <a:gd name="connsiteY3" fmla="*/ 26054 h 552155"/>
                  <a:gd name="connsiteX0" fmla="*/ 1562742 w 1562743"/>
                  <a:gd name="connsiteY0" fmla="*/ 26054 h 552155"/>
                  <a:gd name="connsiteX1" fmla="*/ 722021 w 1562743"/>
                  <a:gd name="connsiteY1" fmla="*/ 551821 h 552155"/>
                  <a:gd name="connsiteX2" fmla="*/ 0 w 1562743"/>
                  <a:gd name="connsiteY2" fmla="*/ 0 h 552155"/>
                  <a:gd name="connsiteX3" fmla="*/ 1562742 w 1562743"/>
                  <a:gd name="connsiteY3" fmla="*/ 26054 h 552155"/>
                  <a:gd name="connsiteX0" fmla="*/ 1562742 w 1562741"/>
                  <a:gd name="connsiteY0" fmla="*/ 26054 h 552155"/>
                  <a:gd name="connsiteX1" fmla="*/ 722021 w 1562741"/>
                  <a:gd name="connsiteY1" fmla="*/ 551821 h 552155"/>
                  <a:gd name="connsiteX2" fmla="*/ 0 w 1562741"/>
                  <a:gd name="connsiteY2" fmla="*/ 0 h 552155"/>
                  <a:gd name="connsiteX3" fmla="*/ 1562742 w 1562741"/>
                  <a:gd name="connsiteY3" fmla="*/ 26054 h 552155"/>
                  <a:gd name="connsiteX0" fmla="*/ 1562742 w 1562743"/>
                  <a:gd name="connsiteY0" fmla="*/ 26054 h 551821"/>
                  <a:gd name="connsiteX1" fmla="*/ 722021 w 1562743"/>
                  <a:gd name="connsiteY1" fmla="*/ 551821 h 551821"/>
                  <a:gd name="connsiteX2" fmla="*/ 0 w 1562743"/>
                  <a:gd name="connsiteY2" fmla="*/ 0 h 551821"/>
                  <a:gd name="connsiteX3" fmla="*/ 1562742 w 1562743"/>
                  <a:gd name="connsiteY3" fmla="*/ 26054 h 551821"/>
                  <a:gd name="connsiteX0" fmla="*/ 1562742 w 1562741"/>
                  <a:gd name="connsiteY0" fmla="*/ 26054 h 589658"/>
                  <a:gd name="connsiteX1" fmla="*/ 678183 w 1562741"/>
                  <a:gd name="connsiteY1" fmla="*/ 589658 h 589658"/>
                  <a:gd name="connsiteX2" fmla="*/ 0 w 1562741"/>
                  <a:gd name="connsiteY2" fmla="*/ 0 h 589658"/>
                  <a:gd name="connsiteX3" fmla="*/ 1562742 w 1562741"/>
                  <a:gd name="connsiteY3" fmla="*/ 26054 h 589658"/>
                  <a:gd name="connsiteX0" fmla="*/ 1562742 w 1562742"/>
                  <a:gd name="connsiteY0" fmla="*/ 26054 h 591172"/>
                  <a:gd name="connsiteX1" fmla="*/ 739289 w 1562742"/>
                  <a:gd name="connsiteY1" fmla="*/ 591172 h 591172"/>
                  <a:gd name="connsiteX2" fmla="*/ 0 w 1562742"/>
                  <a:gd name="connsiteY2" fmla="*/ 0 h 591172"/>
                  <a:gd name="connsiteX3" fmla="*/ 1562742 w 1562742"/>
                  <a:gd name="connsiteY3" fmla="*/ 26054 h 591172"/>
                  <a:gd name="connsiteX0" fmla="*/ 1562742 w 1562742"/>
                  <a:gd name="connsiteY0" fmla="*/ 26054 h 591172"/>
                  <a:gd name="connsiteX1" fmla="*/ 739289 w 1562742"/>
                  <a:gd name="connsiteY1" fmla="*/ 591172 h 591172"/>
                  <a:gd name="connsiteX2" fmla="*/ 0 w 1562742"/>
                  <a:gd name="connsiteY2" fmla="*/ 0 h 591172"/>
                  <a:gd name="connsiteX3" fmla="*/ 1562742 w 1562742"/>
                  <a:gd name="connsiteY3" fmla="*/ 26054 h 591172"/>
                  <a:gd name="connsiteX0" fmla="*/ 1562742 w 1562742"/>
                  <a:gd name="connsiteY0" fmla="*/ 26054 h 591172"/>
                  <a:gd name="connsiteX1" fmla="*/ 739289 w 1562742"/>
                  <a:gd name="connsiteY1" fmla="*/ 591172 h 591172"/>
                  <a:gd name="connsiteX2" fmla="*/ 0 w 1562742"/>
                  <a:gd name="connsiteY2" fmla="*/ 0 h 591172"/>
                  <a:gd name="connsiteX3" fmla="*/ 1562742 w 1562742"/>
                  <a:gd name="connsiteY3" fmla="*/ 26054 h 591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2742" h="591172">
                    <a:moveTo>
                      <a:pt x="1562742" y="26054"/>
                    </a:moveTo>
                    <a:cubicBezTo>
                      <a:pt x="1008875" y="219672"/>
                      <a:pt x="1191397" y="567677"/>
                      <a:pt x="739289" y="591172"/>
                    </a:cubicBezTo>
                    <a:cubicBezTo>
                      <a:pt x="430094" y="540391"/>
                      <a:pt x="685969" y="59549"/>
                      <a:pt x="0" y="0"/>
                    </a:cubicBezTo>
                    <a:lnTo>
                      <a:pt x="1562742" y="26054"/>
                    </a:lnTo>
                    <a:close/>
                  </a:path>
                </a:pathLst>
              </a:cu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D379BE36-BA76-12E2-AC22-1437C6A061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06429" y="6373030"/>
                <a:ext cx="1" cy="1699545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B9CA8CDC-D7F6-F267-6BEF-6FA027D278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12651" y="8049590"/>
                <a:ext cx="2145385" cy="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0" name="TextBox 339">
                <a:extLst>
                  <a:ext uri="{FF2B5EF4-FFF2-40B4-BE49-F238E27FC236}">
                    <a16:creationId xmlns:a16="http://schemas.microsoft.com/office/drawing/2014/main" id="{B800DF76-4389-0722-C17D-F3B592E2E5D1}"/>
                  </a:ext>
                </a:extLst>
              </p:cNvPr>
              <p:cNvSpPr txBox="1"/>
              <p:nvPr/>
            </p:nvSpPr>
            <p:spPr>
              <a:xfrm rot="16200000">
                <a:off x="8246508" y="7072290"/>
                <a:ext cx="15472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cs typeface="Times New Roman" panose="02020603050405020304" pitchFamily="18" charset="0"/>
                  </a:rPr>
                  <a:t>Density</a:t>
                </a:r>
                <a:endParaRPr lang="en-US" sz="14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1" name="TextBox 340">
                    <a:extLst>
                      <a:ext uri="{FF2B5EF4-FFF2-40B4-BE49-F238E27FC236}">
                        <a16:creationId xmlns:a16="http://schemas.microsoft.com/office/drawing/2014/main" id="{43B83C65-6961-A222-6E09-E59D9B9553A0}"/>
                      </a:ext>
                    </a:extLst>
                  </p:cNvPr>
                  <p:cNvSpPr txBox="1"/>
                  <p:nvPr/>
                </p:nvSpPr>
                <p:spPr>
                  <a:xfrm>
                    <a:off x="9220200" y="8078892"/>
                    <a:ext cx="2237832" cy="33970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/>
                      <a:t>Distribution of </a:t>
                    </a:r>
                    <a14:m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⃖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</m:acc>
                      </m:oMath>
                    </a14:m>
                    <a:endParaRPr lang="en-US" sz="1400" baseline="-25000" dirty="0"/>
                  </a:p>
                </p:txBody>
              </p:sp>
            </mc:Choice>
            <mc:Fallback xmlns="">
              <p:sp>
                <p:nvSpPr>
                  <p:cNvPr id="341" name="TextBox 340">
                    <a:extLst>
                      <a:ext uri="{FF2B5EF4-FFF2-40B4-BE49-F238E27FC236}">
                        <a16:creationId xmlns:a16="http://schemas.microsoft.com/office/drawing/2014/main" id="{43B83C65-6961-A222-6E09-E59D9B9553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20200" y="8078892"/>
                    <a:ext cx="2237832" cy="339708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t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2" name="Straight Connector 341">
                <a:extLst>
                  <a:ext uri="{FF2B5EF4-FFF2-40B4-BE49-F238E27FC236}">
                    <a16:creationId xmlns:a16="http://schemas.microsoft.com/office/drawing/2014/main" id="{71034A28-14EF-3F18-8E56-C1355951E1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17930" y="6409132"/>
                <a:ext cx="32766" cy="1667939"/>
              </a:xfrm>
              <a:prstGeom prst="line">
                <a:avLst/>
              </a:prstGeom>
              <a:ln w="76200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393584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3ADE7-E731-CF0B-1824-29FD938D7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38784B2-B8C5-77DD-A437-B06307E4DD34}"/>
              </a:ext>
            </a:extLst>
          </p:cNvPr>
          <p:cNvSpPr/>
          <p:nvPr/>
        </p:nvSpPr>
        <p:spPr>
          <a:xfrm>
            <a:off x="5565842" y="12041306"/>
            <a:ext cx="1049731" cy="728146"/>
          </a:xfrm>
          <a:custGeom>
            <a:avLst/>
            <a:gdLst>
              <a:gd name="connsiteX0" fmla="*/ 0 w 1728216"/>
              <a:gd name="connsiteY0" fmla="*/ 0 h 1014984"/>
              <a:gd name="connsiteX1" fmla="*/ 338328 w 1728216"/>
              <a:gd name="connsiteY1" fmla="*/ 521208 h 1014984"/>
              <a:gd name="connsiteX2" fmla="*/ 603504 w 1728216"/>
              <a:gd name="connsiteY2" fmla="*/ 768096 h 1014984"/>
              <a:gd name="connsiteX3" fmla="*/ 1005840 w 1728216"/>
              <a:gd name="connsiteY3" fmla="*/ 923544 h 1014984"/>
              <a:gd name="connsiteX4" fmla="*/ 1728216 w 1728216"/>
              <a:gd name="connsiteY4" fmla="*/ 1014984 h 1014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216" h="1014984">
                <a:moveTo>
                  <a:pt x="0" y="0"/>
                </a:moveTo>
                <a:cubicBezTo>
                  <a:pt x="118872" y="196596"/>
                  <a:pt x="237744" y="393192"/>
                  <a:pt x="338328" y="521208"/>
                </a:cubicBezTo>
                <a:cubicBezTo>
                  <a:pt x="438912" y="649224"/>
                  <a:pt x="492252" y="701040"/>
                  <a:pt x="603504" y="768096"/>
                </a:cubicBezTo>
                <a:cubicBezTo>
                  <a:pt x="714756" y="835152"/>
                  <a:pt x="818388" y="882396"/>
                  <a:pt x="1005840" y="923544"/>
                </a:cubicBezTo>
                <a:cubicBezTo>
                  <a:pt x="1193292" y="964692"/>
                  <a:pt x="1460754" y="989838"/>
                  <a:pt x="1728216" y="1014984"/>
                </a:cubicBezTo>
              </a:path>
            </a:pathLst>
          </a:custGeom>
          <a:noFill/>
          <a:ln w="82550">
            <a:solidFill>
              <a:srgbClr val="FF914A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hord 195">
            <a:extLst>
              <a:ext uri="{FF2B5EF4-FFF2-40B4-BE49-F238E27FC236}">
                <a16:creationId xmlns:a16="http://schemas.microsoft.com/office/drawing/2014/main" id="{119CACB3-8C85-EDDF-126C-F0961BD8B0B2}"/>
              </a:ext>
            </a:extLst>
          </p:cNvPr>
          <p:cNvSpPr/>
          <p:nvPr/>
        </p:nvSpPr>
        <p:spPr>
          <a:xfrm rot="10641725">
            <a:off x="9572557" y="8384869"/>
            <a:ext cx="1967424" cy="2315468"/>
          </a:xfrm>
          <a:custGeom>
            <a:avLst/>
            <a:gdLst>
              <a:gd name="connsiteX0" fmla="*/ 1549201 w 1637532"/>
              <a:gd name="connsiteY0" fmla="*/ 1334292 h 1838115"/>
              <a:gd name="connsiteX1" fmla="*/ 790005 w 1637532"/>
              <a:gd name="connsiteY1" fmla="*/ 1837549 h 1838115"/>
              <a:gd name="connsiteX2" fmla="*/ 67984 w 1637532"/>
              <a:gd name="connsiteY2" fmla="*/ 1285728 h 1838115"/>
              <a:gd name="connsiteX3" fmla="*/ 1549201 w 1637532"/>
              <a:gd name="connsiteY3" fmla="*/ 1334292 h 1838115"/>
              <a:gd name="connsiteX0" fmla="*/ 1481217 w 1481217"/>
              <a:gd name="connsiteY0" fmla="*/ 48564 h 552180"/>
              <a:gd name="connsiteX1" fmla="*/ 722021 w 1481217"/>
              <a:gd name="connsiteY1" fmla="*/ 551821 h 552180"/>
              <a:gd name="connsiteX2" fmla="*/ 0 w 1481217"/>
              <a:gd name="connsiteY2" fmla="*/ 0 h 552180"/>
              <a:gd name="connsiteX3" fmla="*/ 1481217 w 1481217"/>
              <a:gd name="connsiteY3" fmla="*/ 48564 h 552180"/>
              <a:gd name="connsiteX0" fmla="*/ 1481217 w 1481217"/>
              <a:gd name="connsiteY0" fmla="*/ 48564 h 552180"/>
              <a:gd name="connsiteX1" fmla="*/ 722021 w 1481217"/>
              <a:gd name="connsiteY1" fmla="*/ 551821 h 552180"/>
              <a:gd name="connsiteX2" fmla="*/ 0 w 1481217"/>
              <a:gd name="connsiteY2" fmla="*/ 0 h 552180"/>
              <a:gd name="connsiteX3" fmla="*/ 1481217 w 1481217"/>
              <a:gd name="connsiteY3" fmla="*/ 48564 h 552180"/>
              <a:gd name="connsiteX0" fmla="*/ 1479346 w 1479346"/>
              <a:gd name="connsiteY0" fmla="*/ 89161 h 552230"/>
              <a:gd name="connsiteX1" fmla="*/ 722021 w 1479346"/>
              <a:gd name="connsiteY1" fmla="*/ 551821 h 552230"/>
              <a:gd name="connsiteX2" fmla="*/ 0 w 1479346"/>
              <a:gd name="connsiteY2" fmla="*/ 0 h 552230"/>
              <a:gd name="connsiteX3" fmla="*/ 1479346 w 1479346"/>
              <a:gd name="connsiteY3" fmla="*/ 89161 h 552230"/>
              <a:gd name="connsiteX0" fmla="*/ 1480281 w 1480281"/>
              <a:gd name="connsiteY0" fmla="*/ 68863 h 552204"/>
              <a:gd name="connsiteX1" fmla="*/ 722021 w 1480281"/>
              <a:gd name="connsiteY1" fmla="*/ 551821 h 552204"/>
              <a:gd name="connsiteX2" fmla="*/ 0 w 1480281"/>
              <a:gd name="connsiteY2" fmla="*/ 0 h 552204"/>
              <a:gd name="connsiteX3" fmla="*/ 1480281 w 1480281"/>
              <a:gd name="connsiteY3" fmla="*/ 68863 h 552204"/>
              <a:gd name="connsiteX0" fmla="*/ 1562742 w 1562743"/>
              <a:gd name="connsiteY0" fmla="*/ 26054 h 552157"/>
              <a:gd name="connsiteX1" fmla="*/ 722021 w 1562743"/>
              <a:gd name="connsiteY1" fmla="*/ 551821 h 552157"/>
              <a:gd name="connsiteX2" fmla="*/ 0 w 1562743"/>
              <a:gd name="connsiteY2" fmla="*/ 0 h 552157"/>
              <a:gd name="connsiteX3" fmla="*/ 1562742 w 1562743"/>
              <a:gd name="connsiteY3" fmla="*/ 26054 h 552157"/>
              <a:gd name="connsiteX0" fmla="*/ 1562742 w 1562741"/>
              <a:gd name="connsiteY0" fmla="*/ 26054 h 552155"/>
              <a:gd name="connsiteX1" fmla="*/ 722021 w 1562741"/>
              <a:gd name="connsiteY1" fmla="*/ 551821 h 552155"/>
              <a:gd name="connsiteX2" fmla="*/ 0 w 1562741"/>
              <a:gd name="connsiteY2" fmla="*/ 0 h 552155"/>
              <a:gd name="connsiteX3" fmla="*/ 1562742 w 1562741"/>
              <a:gd name="connsiteY3" fmla="*/ 26054 h 552155"/>
              <a:gd name="connsiteX0" fmla="*/ 1562742 w 1562743"/>
              <a:gd name="connsiteY0" fmla="*/ 26054 h 552155"/>
              <a:gd name="connsiteX1" fmla="*/ 722021 w 1562743"/>
              <a:gd name="connsiteY1" fmla="*/ 551821 h 552155"/>
              <a:gd name="connsiteX2" fmla="*/ 0 w 1562743"/>
              <a:gd name="connsiteY2" fmla="*/ 0 h 552155"/>
              <a:gd name="connsiteX3" fmla="*/ 1562742 w 1562743"/>
              <a:gd name="connsiteY3" fmla="*/ 26054 h 552155"/>
              <a:gd name="connsiteX0" fmla="*/ 1562742 w 1562741"/>
              <a:gd name="connsiteY0" fmla="*/ 26054 h 552155"/>
              <a:gd name="connsiteX1" fmla="*/ 722021 w 1562741"/>
              <a:gd name="connsiteY1" fmla="*/ 551821 h 552155"/>
              <a:gd name="connsiteX2" fmla="*/ 0 w 1562741"/>
              <a:gd name="connsiteY2" fmla="*/ 0 h 552155"/>
              <a:gd name="connsiteX3" fmla="*/ 1562742 w 1562741"/>
              <a:gd name="connsiteY3" fmla="*/ 26054 h 552155"/>
              <a:gd name="connsiteX0" fmla="*/ 1562742 w 1562743"/>
              <a:gd name="connsiteY0" fmla="*/ 26054 h 551821"/>
              <a:gd name="connsiteX1" fmla="*/ 722021 w 1562743"/>
              <a:gd name="connsiteY1" fmla="*/ 551821 h 551821"/>
              <a:gd name="connsiteX2" fmla="*/ 0 w 1562743"/>
              <a:gd name="connsiteY2" fmla="*/ 0 h 551821"/>
              <a:gd name="connsiteX3" fmla="*/ 1562742 w 1562743"/>
              <a:gd name="connsiteY3" fmla="*/ 26054 h 551821"/>
              <a:gd name="connsiteX0" fmla="*/ 1562742 w 1562741"/>
              <a:gd name="connsiteY0" fmla="*/ 26054 h 589658"/>
              <a:gd name="connsiteX1" fmla="*/ 678183 w 1562741"/>
              <a:gd name="connsiteY1" fmla="*/ 589658 h 589658"/>
              <a:gd name="connsiteX2" fmla="*/ 0 w 1562741"/>
              <a:gd name="connsiteY2" fmla="*/ 0 h 589658"/>
              <a:gd name="connsiteX3" fmla="*/ 1562742 w 1562741"/>
              <a:gd name="connsiteY3" fmla="*/ 26054 h 589658"/>
              <a:gd name="connsiteX0" fmla="*/ 1562742 w 1562742"/>
              <a:gd name="connsiteY0" fmla="*/ 26054 h 591172"/>
              <a:gd name="connsiteX1" fmla="*/ 739289 w 1562742"/>
              <a:gd name="connsiteY1" fmla="*/ 591172 h 591172"/>
              <a:gd name="connsiteX2" fmla="*/ 0 w 1562742"/>
              <a:gd name="connsiteY2" fmla="*/ 0 h 591172"/>
              <a:gd name="connsiteX3" fmla="*/ 1562742 w 1562742"/>
              <a:gd name="connsiteY3" fmla="*/ 26054 h 591172"/>
              <a:gd name="connsiteX0" fmla="*/ 1562742 w 1562742"/>
              <a:gd name="connsiteY0" fmla="*/ 26054 h 591172"/>
              <a:gd name="connsiteX1" fmla="*/ 739289 w 1562742"/>
              <a:gd name="connsiteY1" fmla="*/ 591172 h 591172"/>
              <a:gd name="connsiteX2" fmla="*/ 0 w 1562742"/>
              <a:gd name="connsiteY2" fmla="*/ 0 h 591172"/>
              <a:gd name="connsiteX3" fmla="*/ 1562742 w 1562742"/>
              <a:gd name="connsiteY3" fmla="*/ 26054 h 591172"/>
              <a:gd name="connsiteX0" fmla="*/ 1562742 w 1562742"/>
              <a:gd name="connsiteY0" fmla="*/ 26054 h 591172"/>
              <a:gd name="connsiteX1" fmla="*/ 739289 w 1562742"/>
              <a:gd name="connsiteY1" fmla="*/ 591172 h 591172"/>
              <a:gd name="connsiteX2" fmla="*/ 0 w 1562742"/>
              <a:gd name="connsiteY2" fmla="*/ 0 h 591172"/>
              <a:gd name="connsiteX3" fmla="*/ 1562742 w 1562742"/>
              <a:gd name="connsiteY3" fmla="*/ 26054 h 59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2742" h="591172">
                <a:moveTo>
                  <a:pt x="1562742" y="26054"/>
                </a:moveTo>
                <a:cubicBezTo>
                  <a:pt x="1008875" y="219672"/>
                  <a:pt x="1191397" y="567677"/>
                  <a:pt x="739289" y="591172"/>
                </a:cubicBezTo>
                <a:cubicBezTo>
                  <a:pt x="430094" y="540391"/>
                  <a:pt x="685969" y="59549"/>
                  <a:pt x="0" y="0"/>
                </a:cubicBezTo>
                <a:lnTo>
                  <a:pt x="1562742" y="26054"/>
                </a:lnTo>
                <a:close/>
              </a:path>
            </a:pathLst>
          </a:custGeom>
          <a:solidFill>
            <a:srgbClr val="FF914A">
              <a:alpha val="8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B68669D-BEC5-B440-051B-FC5A0A2FAF78}"/>
              </a:ext>
            </a:extLst>
          </p:cNvPr>
          <p:cNvSpPr/>
          <p:nvPr/>
        </p:nvSpPr>
        <p:spPr>
          <a:xfrm>
            <a:off x="5189355" y="11674584"/>
            <a:ext cx="1269890" cy="1298150"/>
          </a:xfrm>
          <a:custGeom>
            <a:avLst/>
            <a:gdLst>
              <a:gd name="connsiteX0" fmla="*/ 0 w 1728216"/>
              <a:gd name="connsiteY0" fmla="*/ 0 h 1014984"/>
              <a:gd name="connsiteX1" fmla="*/ 338328 w 1728216"/>
              <a:gd name="connsiteY1" fmla="*/ 521208 h 1014984"/>
              <a:gd name="connsiteX2" fmla="*/ 603504 w 1728216"/>
              <a:gd name="connsiteY2" fmla="*/ 768096 h 1014984"/>
              <a:gd name="connsiteX3" fmla="*/ 1005840 w 1728216"/>
              <a:gd name="connsiteY3" fmla="*/ 923544 h 1014984"/>
              <a:gd name="connsiteX4" fmla="*/ 1728216 w 1728216"/>
              <a:gd name="connsiteY4" fmla="*/ 1014984 h 1014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216" h="1014984">
                <a:moveTo>
                  <a:pt x="0" y="0"/>
                </a:moveTo>
                <a:cubicBezTo>
                  <a:pt x="118872" y="196596"/>
                  <a:pt x="237744" y="393192"/>
                  <a:pt x="338328" y="521208"/>
                </a:cubicBezTo>
                <a:cubicBezTo>
                  <a:pt x="438912" y="649224"/>
                  <a:pt x="492252" y="701040"/>
                  <a:pt x="603504" y="768096"/>
                </a:cubicBezTo>
                <a:cubicBezTo>
                  <a:pt x="714756" y="835152"/>
                  <a:pt x="818388" y="882396"/>
                  <a:pt x="1005840" y="923544"/>
                </a:cubicBezTo>
                <a:cubicBezTo>
                  <a:pt x="1193292" y="964692"/>
                  <a:pt x="1460754" y="989838"/>
                  <a:pt x="1728216" y="1014984"/>
                </a:cubicBezTo>
              </a:path>
            </a:pathLst>
          </a:custGeom>
          <a:noFill/>
          <a:ln w="8255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5293305-2ACC-6BFB-9531-E54C4B3480D8}"/>
              </a:ext>
            </a:extLst>
          </p:cNvPr>
          <p:cNvGrpSpPr/>
          <p:nvPr/>
        </p:nvGrpSpPr>
        <p:grpSpPr>
          <a:xfrm>
            <a:off x="4489029" y="1287459"/>
            <a:ext cx="3099816" cy="3300307"/>
            <a:chOff x="4483397" y="1287459"/>
            <a:chExt cx="3099816" cy="3300307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0E0AE45F-5FC8-6F0C-E945-2E938C239B7A}"/>
                </a:ext>
              </a:extLst>
            </p:cNvPr>
            <p:cNvSpPr/>
            <p:nvPr/>
          </p:nvSpPr>
          <p:spPr>
            <a:xfrm>
              <a:off x="5200971" y="2070354"/>
              <a:ext cx="1815004" cy="1985508"/>
            </a:xfrm>
            <a:custGeom>
              <a:avLst/>
              <a:gdLst>
                <a:gd name="connsiteX0" fmla="*/ 0 w 2381250"/>
                <a:gd name="connsiteY0" fmla="*/ 1716959 h 1724029"/>
                <a:gd name="connsiteX1" fmla="*/ 685800 w 2381250"/>
                <a:gd name="connsiteY1" fmla="*/ 1526459 h 1724029"/>
                <a:gd name="connsiteX2" fmla="*/ 1257300 w 2381250"/>
                <a:gd name="connsiteY2" fmla="*/ 402509 h 1724029"/>
                <a:gd name="connsiteX3" fmla="*/ 1714500 w 2381250"/>
                <a:gd name="connsiteY3" fmla="*/ 59609 h 1724029"/>
                <a:gd name="connsiteX4" fmla="*/ 2381250 w 2381250"/>
                <a:gd name="connsiteY4" fmla="*/ 2459 h 1724029"/>
                <a:gd name="connsiteX0" fmla="*/ 0 w 3710190"/>
                <a:gd name="connsiteY0" fmla="*/ 1705042 h 1712112"/>
                <a:gd name="connsiteX1" fmla="*/ 685800 w 3710190"/>
                <a:gd name="connsiteY1" fmla="*/ 1514542 h 1712112"/>
                <a:gd name="connsiteX2" fmla="*/ 1257300 w 3710190"/>
                <a:gd name="connsiteY2" fmla="*/ 390592 h 1712112"/>
                <a:gd name="connsiteX3" fmla="*/ 1714500 w 3710190"/>
                <a:gd name="connsiteY3" fmla="*/ 47692 h 1712112"/>
                <a:gd name="connsiteX4" fmla="*/ 3710190 w 3710190"/>
                <a:gd name="connsiteY4" fmla="*/ 6969 h 1712112"/>
                <a:gd name="connsiteX0" fmla="*/ 0 w 3202066"/>
                <a:gd name="connsiteY0" fmla="*/ 1705042 h 1712112"/>
                <a:gd name="connsiteX1" fmla="*/ 685800 w 3202066"/>
                <a:gd name="connsiteY1" fmla="*/ 1514542 h 1712112"/>
                <a:gd name="connsiteX2" fmla="*/ 1257300 w 3202066"/>
                <a:gd name="connsiteY2" fmla="*/ 390592 h 1712112"/>
                <a:gd name="connsiteX3" fmla="*/ 1714500 w 3202066"/>
                <a:gd name="connsiteY3" fmla="*/ 47692 h 1712112"/>
                <a:gd name="connsiteX4" fmla="*/ 3202066 w 3202066"/>
                <a:gd name="connsiteY4" fmla="*/ 6969 h 1712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2066" h="1712112">
                  <a:moveTo>
                    <a:pt x="0" y="1705042"/>
                  </a:moveTo>
                  <a:cubicBezTo>
                    <a:pt x="238125" y="1719329"/>
                    <a:pt x="476250" y="1733617"/>
                    <a:pt x="685800" y="1514542"/>
                  </a:cubicBezTo>
                  <a:cubicBezTo>
                    <a:pt x="895350" y="1295467"/>
                    <a:pt x="1085850" y="635067"/>
                    <a:pt x="1257300" y="390592"/>
                  </a:cubicBezTo>
                  <a:cubicBezTo>
                    <a:pt x="1428750" y="146117"/>
                    <a:pt x="1527175" y="114367"/>
                    <a:pt x="1714500" y="47692"/>
                  </a:cubicBezTo>
                  <a:cubicBezTo>
                    <a:pt x="1901825" y="-18983"/>
                    <a:pt x="2962353" y="2206"/>
                    <a:pt x="3202066" y="6969"/>
                  </a:cubicBezTo>
                </a:path>
              </a:pathLst>
            </a:custGeom>
            <a:noFill/>
            <a:ln w="76200">
              <a:solidFill>
                <a:srgbClr val="BC54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3058936-7ACD-D22E-4AA1-F0E277D377AF}"/>
                </a:ext>
              </a:extLst>
            </p:cNvPr>
            <p:cNvSpPr txBox="1"/>
            <p:nvPr/>
          </p:nvSpPr>
          <p:spPr>
            <a:xfrm>
              <a:off x="4483397" y="1287459"/>
              <a:ext cx="30998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+mj-lt"/>
                </a:rPr>
                <a:t>Sampling Probability</a:t>
              </a:r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F66F39D-3DA7-2EC9-9C20-0FB59EA6C2BF}"/>
                </a:ext>
              </a:extLst>
            </p:cNvPr>
            <p:cNvCxnSpPr>
              <a:cxnSpLocks/>
            </p:cNvCxnSpPr>
            <p:nvPr/>
          </p:nvCxnSpPr>
          <p:spPr>
            <a:xfrm>
              <a:off x="5138246" y="1831154"/>
              <a:ext cx="0" cy="2419241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A0C088B-3586-CB28-3586-790ABEFE09FE}"/>
                </a:ext>
              </a:extLst>
            </p:cNvPr>
            <p:cNvSpPr txBox="1"/>
            <p:nvPr/>
          </p:nvSpPr>
          <p:spPr>
            <a:xfrm>
              <a:off x="5379572" y="4279989"/>
              <a:ext cx="14434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Body Size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8E5736B4-3034-1F17-66ED-A7F489861D0D}"/>
                </a:ext>
              </a:extLst>
            </p:cNvPr>
            <p:cNvSpPr txBox="1"/>
            <p:nvPr/>
          </p:nvSpPr>
          <p:spPr>
            <a:xfrm rot="16200000">
              <a:off x="3629946" y="2788790"/>
              <a:ext cx="24384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Probability of being collected</a:t>
              </a:r>
            </a:p>
          </p:txBody>
        </p: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A5C5A21B-5403-BD3C-7E9A-E39799771992}"/>
                </a:ext>
              </a:extLst>
            </p:cNvPr>
            <p:cNvCxnSpPr>
              <a:cxnSpLocks/>
            </p:cNvCxnSpPr>
            <p:nvPr/>
          </p:nvCxnSpPr>
          <p:spPr>
            <a:xfrm>
              <a:off x="5115241" y="4224914"/>
              <a:ext cx="1986464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6" name="Multiplication Sign 105">
            <a:extLst>
              <a:ext uri="{FF2B5EF4-FFF2-40B4-BE49-F238E27FC236}">
                <a16:creationId xmlns:a16="http://schemas.microsoft.com/office/drawing/2014/main" id="{1541917D-3F2F-AFD5-98BF-F836658458ED}"/>
              </a:ext>
            </a:extLst>
          </p:cNvPr>
          <p:cNvSpPr/>
          <p:nvPr/>
        </p:nvSpPr>
        <p:spPr>
          <a:xfrm>
            <a:off x="3575953" y="2699968"/>
            <a:ext cx="630936" cy="630936"/>
          </a:xfrm>
          <a:prstGeom prst="mathMultiply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Equals 106">
            <a:extLst>
              <a:ext uri="{FF2B5EF4-FFF2-40B4-BE49-F238E27FC236}">
                <a16:creationId xmlns:a16="http://schemas.microsoft.com/office/drawing/2014/main" id="{39699CCA-31C7-1863-C97D-35E22AAD3009}"/>
              </a:ext>
            </a:extLst>
          </p:cNvPr>
          <p:cNvSpPr/>
          <p:nvPr/>
        </p:nvSpPr>
        <p:spPr>
          <a:xfrm>
            <a:off x="7859721" y="2701425"/>
            <a:ext cx="630936" cy="628022"/>
          </a:xfrm>
          <a:prstGeom prst="mathEqual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3E2E02EA-F4DF-ACFD-73D8-8CAE7D445F72}"/>
              </a:ext>
            </a:extLst>
          </p:cNvPr>
          <p:cNvGrpSpPr/>
          <p:nvPr/>
        </p:nvGrpSpPr>
        <p:grpSpPr>
          <a:xfrm>
            <a:off x="8767164" y="1237494"/>
            <a:ext cx="3099816" cy="3350272"/>
            <a:chOff x="7978708" y="132086"/>
            <a:chExt cx="3099816" cy="33502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A9B61B71-7DDB-9C8A-D0D1-BC674171B5C4}"/>
                    </a:ext>
                  </a:extLst>
                </p:cNvPr>
                <p:cNvSpPr txBox="1"/>
                <p:nvPr/>
              </p:nvSpPr>
              <p:spPr>
                <a:xfrm>
                  <a:off x="7978708" y="132086"/>
                  <a:ext cx="309981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+mj-lt"/>
                    </a:rPr>
                    <a:t>Biased Body Size Distribution, </a:t>
                  </a:r>
                  <a14:m>
                    <m:oMath xmlns:m="http://schemas.openxmlformats.org/officeDocument/2006/math">
                      <m:acc>
                        <m:accPr>
                          <m:chr m:val="⃖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</m:oMath>
                  </a14:m>
                  <a:endParaRPr lang="en-US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A9B61B71-7DDB-9C8A-D0D1-BC674171B5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8708" y="132086"/>
                  <a:ext cx="3099816" cy="646331"/>
                </a:xfrm>
                <a:prstGeom prst="rect">
                  <a:avLst/>
                </a:prstGeom>
                <a:blipFill>
                  <a:blip r:embed="rId2"/>
                  <a:stretch>
                    <a:fillRect t="-3774" b="-150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7854927C-545C-CE00-8E70-C5544E77B801}"/>
                </a:ext>
              </a:extLst>
            </p:cNvPr>
            <p:cNvSpPr txBox="1"/>
            <p:nvPr/>
          </p:nvSpPr>
          <p:spPr>
            <a:xfrm rot="16200000">
              <a:off x="7608172" y="1763680"/>
              <a:ext cx="14434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Frequency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7B2621B9-EA25-F8E4-EB93-C1C1BA8670F1}"/>
                </a:ext>
              </a:extLst>
            </p:cNvPr>
            <p:cNvSpPr/>
            <p:nvPr/>
          </p:nvSpPr>
          <p:spPr>
            <a:xfrm>
              <a:off x="8661593" y="2637231"/>
              <a:ext cx="45719" cy="4742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E426F533-F40D-42CD-251B-E081EC6ACF0D}"/>
                </a:ext>
              </a:extLst>
            </p:cNvPr>
            <p:cNvSpPr/>
            <p:nvPr/>
          </p:nvSpPr>
          <p:spPr>
            <a:xfrm>
              <a:off x="8800001" y="2331156"/>
              <a:ext cx="45719" cy="78032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0DD99867-4522-957B-DD6D-491D0629651B}"/>
                </a:ext>
              </a:extLst>
            </p:cNvPr>
            <p:cNvSpPr/>
            <p:nvPr/>
          </p:nvSpPr>
          <p:spPr>
            <a:xfrm>
              <a:off x="8938409" y="2019258"/>
              <a:ext cx="45719" cy="1092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475D961C-C864-9824-8596-A486EC29FD0E}"/>
                </a:ext>
              </a:extLst>
            </p:cNvPr>
            <p:cNvSpPr/>
            <p:nvPr/>
          </p:nvSpPr>
          <p:spPr>
            <a:xfrm>
              <a:off x="9076817" y="1838388"/>
              <a:ext cx="45719" cy="12730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26E575DE-CDFC-6667-894D-DAC2C2ED9261}"/>
                </a:ext>
              </a:extLst>
            </p:cNvPr>
            <p:cNvSpPr/>
            <p:nvPr/>
          </p:nvSpPr>
          <p:spPr>
            <a:xfrm>
              <a:off x="9215225" y="2019258"/>
              <a:ext cx="45719" cy="10922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1041616D-3963-E69D-E48F-0412AC1E7258}"/>
                </a:ext>
              </a:extLst>
            </p:cNvPr>
            <p:cNvSpPr/>
            <p:nvPr/>
          </p:nvSpPr>
          <p:spPr>
            <a:xfrm>
              <a:off x="9353633" y="2210176"/>
              <a:ext cx="45719" cy="9013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E6AAFAF-9589-F9FE-0F4D-F81511816C22}"/>
                </a:ext>
              </a:extLst>
            </p:cNvPr>
            <p:cNvSpPr/>
            <p:nvPr/>
          </p:nvSpPr>
          <p:spPr>
            <a:xfrm>
              <a:off x="9492041" y="2436265"/>
              <a:ext cx="45719" cy="6752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BAA45B8B-AC7E-88DE-E39E-EB2B0DE71765}"/>
                </a:ext>
              </a:extLst>
            </p:cNvPr>
            <p:cNvSpPr/>
            <p:nvPr/>
          </p:nvSpPr>
          <p:spPr>
            <a:xfrm>
              <a:off x="9630449" y="2637231"/>
              <a:ext cx="45719" cy="4742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B2E2868-0B0A-32D0-1A9F-3DD1C5BAE28E}"/>
                </a:ext>
              </a:extLst>
            </p:cNvPr>
            <p:cNvSpPr/>
            <p:nvPr/>
          </p:nvSpPr>
          <p:spPr>
            <a:xfrm>
              <a:off x="9768857" y="2782932"/>
              <a:ext cx="45719" cy="328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A9E1F9F0-45EA-5761-B33E-115A73E2B363}"/>
                </a:ext>
              </a:extLst>
            </p:cNvPr>
            <p:cNvSpPr/>
            <p:nvPr/>
          </p:nvSpPr>
          <p:spPr>
            <a:xfrm>
              <a:off x="9907265" y="2898488"/>
              <a:ext cx="45719" cy="2129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79DE846A-71C5-11A7-868F-25B586CA23AD}"/>
                </a:ext>
              </a:extLst>
            </p:cNvPr>
            <p:cNvSpPr/>
            <p:nvPr/>
          </p:nvSpPr>
          <p:spPr>
            <a:xfrm>
              <a:off x="10045673" y="2943706"/>
              <a:ext cx="45719" cy="1677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64139A2-A9E1-8EB0-E9D7-315C644ED218}"/>
                </a:ext>
              </a:extLst>
            </p:cNvPr>
            <p:cNvSpPr/>
            <p:nvPr/>
          </p:nvSpPr>
          <p:spPr>
            <a:xfrm>
              <a:off x="10184081" y="2988924"/>
              <a:ext cx="45719" cy="122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5A47EE56-9370-B579-0729-E7F64F908F66}"/>
                </a:ext>
              </a:extLst>
            </p:cNvPr>
            <p:cNvSpPr/>
            <p:nvPr/>
          </p:nvSpPr>
          <p:spPr>
            <a:xfrm>
              <a:off x="10322489" y="2988924"/>
              <a:ext cx="45719" cy="122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0BC9A4A1-4A0D-1BA0-812E-84A517B216D4}"/>
                </a:ext>
              </a:extLst>
            </p:cNvPr>
            <p:cNvCxnSpPr>
              <a:cxnSpLocks/>
            </p:cNvCxnSpPr>
            <p:nvPr/>
          </p:nvCxnSpPr>
          <p:spPr>
            <a:xfrm>
              <a:off x="8561009" y="707948"/>
              <a:ext cx="0" cy="2419241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6CA6746D-633C-F2DE-770F-DB71A8CF845C}"/>
                </a:ext>
              </a:extLst>
            </p:cNvPr>
            <p:cNvSpPr txBox="1"/>
            <p:nvPr/>
          </p:nvSpPr>
          <p:spPr>
            <a:xfrm>
              <a:off x="8835219" y="3174581"/>
              <a:ext cx="14434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Body Size</a:t>
              </a: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271D7081-1780-0A08-CFE6-1F3D9A79FE3D}"/>
                </a:ext>
              </a:extLst>
            </p:cNvPr>
            <p:cNvCxnSpPr>
              <a:cxnSpLocks/>
            </p:cNvCxnSpPr>
            <p:nvPr/>
          </p:nvCxnSpPr>
          <p:spPr>
            <a:xfrm>
              <a:off x="8535384" y="3106303"/>
              <a:ext cx="1986464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A31CED52-8A2C-7F4F-9B48-A2522B03C61C}"/>
              </a:ext>
            </a:extLst>
          </p:cNvPr>
          <p:cNvGrpSpPr/>
          <p:nvPr/>
        </p:nvGrpSpPr>
        <p:grpSpPr>
          <a:xfrm>
            <a:off x="266477" y="1323066"/>
            <a:ext cx="3376324" cy="3169450"/>
            <a:chOff x="430933" y="563541"/>
            <a:chExt cx="3376324" cy="31694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07419592-D171-A1A0-42DF-9E18DC324C2E}"/>
                    </a:ext>
                  </a:extLst>
                </p:cNvPr>
                <p:cNvSpPr txBox="1"/>
                <p:nvPr/>
              </p:nvSpPr>
              <p:spPr>
                <a:xfrm>
                  <a:off x="430933" y="563541"/>
                  <a:ext cx="33763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+mj-lt"/>
                    </a:rPr>
                    <a:t>True Body Size Distribution,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a14:m>
                  <a:endParaRPr lang="en-US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07419592-D171-A1A0-42DF-9E18DC324C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933" y="563541"/>
                  <a:ext cx="3376324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083" t="-6557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1D6DB065-62D9-D347-B18F-5BE45382BD35}"/>
                </a:ext>
              </a:extLst>
            </p:cNvPr>
            <p:cNvGrpSpPr/>
            <p:nvPr/>
          </p:nvGrpSpPr>
          <p:grpSpPr>
            <a:xfrm>
              <a:off x="714102" y="958581"/>
              <a:ext cx="2341544" cy="2774410"/>
              <a:chOff x="302494" y="958581"/>
              <a:chExt cx="2341544" cy="277441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195F8DC-E476-6CA6-AA37-75500C03D947}"/>
                  </a:ext>
                </a:extLst>
              </p:cNvPr>
              <p:cNvSpPr/>
              <p:nvPr/>
            </p:nvSpPr>
            <p:spPr>
              <a:xfrm>
                <a:off x="788063" y="1110110"/>
                <a:ext cx="45719" cy="225200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125B31D-32EB-74A3-5099-93C5CB65D046}"/>
                  </a:ext>
                </a:extLst>
              </p:cNvPr>
              <p:cNvSpPr/>
              <p:nvPr/>
            </p:nvSpPr>
            <p:spPr>
              <a:xfrm>
                <a:off x="926471" y="1440901"/>
                <a:ext cx="45719" cy="19212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E0FFB6C-D2AA-3D38-C262-FADB54D643EC}"/>
                  </a:ext>
                </a:extLst>
              </p:cNvPr>
              <p:cNvSpPr/>
              <p:nvPr/>
            </p:nvSpPr>
            <p:spPr>
              <a:xfrm>
                <a:off x="1064879" y="1832787"/>
                <a:ext cx="45719" cy="15293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2C17223-5FDD-B55E-A516-917652E4FCB0}"/>
                  </a:ext>
                </a:extLst>
              </p:cNvPr>
              <p:cNvSpPr/>
              <p:nvPr/>
            </p:nvSpPr>
            <p:spPr>
              <a:xfrm>
                <a:off x="1203287" y="2089021"/>
                <a:ext cx="45719" cy="12730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2E147BF-6885-CC10-911F-AD4AFD9DF081}"/>
                  </a:ext>
                </a:extLst>
              </p:cNvPr>
              <p:cNvSpPr/>
              <p:nvPr/>
            </p:nvSpPr>
            <p:spPr>
              <a:xfrm>
                <a:off x="1341695" y="2269891"/>
                <a:ext cx="45719" cy="10922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F5E72E4-8037-B1FD-9863-EBF3964F7660}"/>
                  </a:ext>
                </a:extLst>
              </p:cNvPr>
              <p:cNvSpPr/>
              <p:nvPr/>
            </p:nvSpPr>
            <p:spPr>
              <a:xfrm>
                <a:off x="1480103" y="2460809"/>
                <a:ext cx="45719" cy="90130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3E854E7-39DA-4BAF-DD3B-FBA48572C0D8}"/>
                  </a:ext>
                </a:extLst>
              </p:cNvPr>
              <p:cNvSpPr/>
              <p:nvPr/>
            </p:nvSpPr>
            <p:spPr>
              <a:xfrm>
                <a:off x="1618511" y="2686898"/>
                <a:ext cx="45719" cy="67521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8BA3494-7086-31B4-A134-2B579197E007}"/>
                  </a:ext>
                </a:extLst>
              </p:cNvPr>
              <p:cNvSpPr/>
              <p:nvPr/>
            </p:nvSpPr>
            <p:spPr>
              <a:xfrm>
                <a:off x="1756919" y="2887864"/>
                <a:ext cx="45719" cy="4742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C2BFC8E-8427-63D7-596F-FAF40489A096}"/>
                  </a:ext>
                </a:extLst>
              </p:cNvPr>
              <p:cNvSpPr/>
              <p:nvPr/>
            </p:nvSpPr>
            <p:spPr>
              <a:xfrm>
                <a:off x="1895327" y="3033565"/>
                <a:ext cx="45719" cy="32854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FF3DED8-2D26-A29F-76A0-9BBBA17CDBD6}"/>
                  </a:ext>
                </a:extLst>
              </p:cNvPr>
              <p:cNvSpPr/>
              <p:nvPr/>
            </p:nvSpPr>
            <p:spPr>
              <a:xfrm>
                <a:off x="2033735" y="3149121"/>
                <a:ext cx="45719" cy="2129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0484EB0-F5A1-7696-44E8-FC553C3444D3}"/>
                  </a:ext>
                </a:extLst>
              </p:cNvPr>
              <p:cNvSpPr/>
              <p:nvPr/>
            </p:nvSpPr>
            <p:spPr>
              <a:xfrm>
                <a:off x="2172143" y="3194339"/>
                <a:ext cx="45719" cy="1677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B466676-C3B4-CD8C-948E-3BD27D22ED51}"/>
                  </a:ext>
                </a:extLst>
              </p:cNvPr>
              <p:cNvSpPr/>
              <p:nvPr/>
            </p:nvSpPr>
            <p:spPr>
              <a:xfrm>
                <a:off x="2310551" y="3239557"/>
                <a:ext cx="45719" cy="1225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5BBF882-B93D-F121-8C7A-D51BACAC1DFB}"/>
                  </a:ext>
                </a:extLst>
              </p:cNvPr>
              <p:cNvSpPr/>
              <p:nvPr/>
            </p:nvSpPr>
            <p:spPr>
              <a:xfrm>
                <a:off x="2448959" y="3239557"/>
                <a:ext cx="45719" cy="1225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669DAF54-FB97-3A37-988B-C210FBC824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7479" y="958581"/>
                <a:ext cx="0" cy="2419241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1F311DF-CB23-C929-89B5-457756E5A59A}"/>
                  </a:ext>
                </a:extLst>
              </p:cNvPr>
              <p:cNvSpPr txBox="1"/>
              <p:nvPr/>
            </p:nvSpPr>
            <p:spPr>
              <a:xfrm>
                <a:off x="915613" y="3425214"/>
                <a:ext cx="14434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Body Size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8864BEC-D894-EFA2-C2DF-2381E8108F8D}"/>
                  </a:ext>
                </a:extLst>
              </p:cNvPr>
              <p:cNvSpPr txBox="1"/>
              <p:nvPr/>
            </p:nvSpPr>
            <p:spPr>
              <a:xfrm rot="16200000">
                <a:off x="-265358" y="2014313"/>
                <a:ext cx="14434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Frequency</a:t>
                </a:r>
              </a:p>
            </p:txBody>
          </p: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7A9DF0C5-C958-21F2-574E-C8B5C1A164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574" y="3353145"/>
                <a:ext cx="1986464" cy="0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6F5B3BC2-FE57-AC87-28F8-794F0FF7944B}"/>
              </a:ext>
            </a:extLst>
          </p:cNvPr>
          <p:cNvGrpSpPr/>
          <p:nvPr/>
        </p:nvGrpSpPr>
        <p:grpSpPr>
          <a:xfrm>
            <a:off x="122727" y="6014926"/>
            <a:ext cx="3099816" cy="3303284"/>
            <a:chOff x="387522" y="3425838"/>
            <a:chExt cx="3099816" cy="3303284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F110FACD-E71A-EE6B-351E-99D27F04C30D}"/>
                </a:ext>
              </a:extLst>
            </p:cNvPr>
            <p:cNvSpPr/>
            <p:nvPr/>
          </p:nvSpPr>
          <p:spPr>
            <a:xfrm>
              <a:off x="1188218" y="5892070"/>
              <a:ext cx="45719" cy="4742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02624816-A03C-935E-2D0C-35BFD4EA90C8}"/>
                </a:ext>
              </a:extLst>
            </p:cNvPr>
            <p:cNvSpPr/>
            <p:nvPr/>
          </p:nvSpPr>
          <p:spPr>
            <a:xfrm>
              <a:off x="1326626" y="5585995"/>
              <a:ext cx="45719" cy="78032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CC691ACB-BF20-5C6B-998E-6D5FE4954F94}"/>
                </a:ext>
              </a:extLst>
            </p:cNvPr>
            <p:cNvSpPr/>
            <p:nvPr/>
          </p:nvSpPr>
          <p:spPr>
            <a:xfrm>
              <a:off x="1465034" y="5274097"/>
              <a:ext cx="45719" cy="10922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66F538F0-F624-3E9D-D369-1DC32F76C833}"/>
                </a:ext>
              </a:extLst>
            </p:cNvPr>
            <p:cNvSpPr/>
            <p:nvPr/>
          </p:nvSpPr>
          <p:spPr>
            <a:xfrm>
              <a:off x="1603442" y="5093227"/>
              <a:ext cx="45719" cy="12730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15D84906-FA19-1FA3-457C-04B0C88A9C05}"/>
                </a:ext>
              </a:extLst>
            </p:cNvPr>
            <p:cNvSpPr/>
            <p:nvPr/>
          </p:nvSpPr>
          <p:spPr>
            <a:xfrm>
              <a:off x="1741850" y="5274097"/>
              <a:ext cx="45719" cy="10922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3794E119-8525-D3A0-0CE2-3C45148A46F7}"/>
                </a:ext>
              </a:extLst>
            </p:cNvPr>
            <p:cNvSpPr/>
            <p:nvPr/>
          </p:nvSpPr>
          <p:spPr>
            <a:xfrm>
              <a:off x="1880258" y="5465015"/>
              <a:ext cx="45719" cy="9013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F8F0CC1E-FD77-C6C5-2B8A-4A9EA07DC97A}"/>
                </a:ext>
              </a:extLst>
            </p:cNvPr>
            <p:cNvSpPr/>
            <p:nvPr/>
          </p:nvSpPr>
          <p:spPr>
            <a:xfrm>
              <a:off x="2018666" y="5691104"/>
              <a:ext cx="45719" cy="6752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A4FD6D77-B98E-904C-E5A5-8B686D2FA1D1}"/>
                </a:ext>
              </a:extLst>
            </p:cNvPr>
            <p:cNvSpPr/>
            <p:nvPr/>
          </p:nvSpPr>
          <p:spPr>
            <a:xfrm>
              <a:off x="2157074" y="5892070"/>
              <a:ext cx="45719" cy="4742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F8647961-A5FE-153E-636E-BA544FC101FF}"/>
                </a:ext>
              </a:extLst>
            </p:cNvPr>
            <p:cNvSpPr/>
            <p:nvPr/>
          </p:nvSpPr>
          <p:spPr>
            <a:xfrm>
              <a:off x="2295482" y="6037771"/>
              <a:ext cx="45719" cy="328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BE7600D6-9221-FCCB-6C14-C8AFAC614D66}"/>
                </a:ext>
              </a:extLst>
            </p:cNvPr>
            <p:cNvSpPr/>
            <p:nvPr/>
          </p:nvSpPr>
          <p:spPr>
            <a:xfrm>
              <a:off x="2433890" y="6153327"/>
              <a:ext cx="45719" cy="2129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F078E34E-D8A1-3D3F-C846-C07B7A6FFACC}"/>
                </a:ext>
              </a:extLst>
            </p:cNvPr>
            <p:cNvSpPr/>
            <p:nvPr/>
          </p:nvSpPr>
          <p:spPr>
            <a:xfrm>
              <a:off x="2572298" y="6198545"/>
              <a:ext cx="45719" cy="1677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5072F72C-A720-5BBE-E81D-15C10E84289D}"/>
                </a:ext>
              </a:extLst>
            </p:cNvPr>
            <p:cNvSpPr/>
            <p:nvPr/>
          </p:nvSpPr>
          <p:spPr>
            <a:xfrm>
              <a:off x="2710706" y="6243763"/>
              <a:ext cx="45719" cy="122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80284CA1-5CA6-E018-9AF5-54BB520087AC}"/>
                </a:ext>
              </a:extLst>
            </p:cNvPr>
            <p:cNvSpPr/>
            <p:nvPr/>
          </p:nvSpPr>
          <p:spPr>
            <a:xfrm>
              <a:off x="2849114" y="6243763"/>
              <a:ext cx="45719" cy="122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85664E5E-7419-56BA-B586-7B5A8826E30F}"/>
                </a:ext>
              </a:extLst>
            </p:cNvPr>
            <p:cNvGrpSpPr/>
            <p:nvPr/>
          </p:nvGrpSpPr>
          <p:grpSpPr>
            <a:xfrm>
              <a:off x="387522" y="3425838"/>
              <a:ext cx="3099816" cy="3303284"/>
              <a:chOff x="334966" y="421632"/>
              <a:chExt cx="3099816" cy="3303284"/>
            </a:xfrm>
          </p:grpSpPr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B59673C7-99B2-6D61-B03D-2035C2F7719D}"/>
                  </a:ext>
                </a:extLst>
              </p:cNvPr>
              <p:cNvSpPr txBox="1"/>
              <p:nvPr/>
            </p:nvSpPr>
            <p:spPr>
              <a:xfrm>
                <a:off x="334966" y="421632"/>
                <a:ext cx="30998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+mj-lt"/>
                  </a:rPr>
                  <a:t>True vs. Empirical Distributions</a:t>
                </a:r>
              </a:p>
            </p:txBody>
          </p: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94E1C59B-72B8-BCBF-C6DF-05817CFB7354}"/>
                  </a:ext>
                </a:extLst>
              </p:cNvPr>
              <p:cNvGrpSpPr/>
              <p:nvPr/>
            </p:nvGrpSpPr>
            <p:grpSpPr>
              <a:xfrm>
                <a:off x="714102" y="958581"/>
                <a:ext cx="2352177" cy="2766335"/>
                <a:chOff x="302494" y="958581"/>
                <a:chExt cx="2352177" cy="2766335"/>
              </a:xfrm>
            </p:grpSpPr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9CE2F0AE-694B-5283-84F9-4C79801DC981}"/>
                    </a:ext>
                  </a:extLst>
                </p:cNvPr>
                <p:cNvSpPr/>
                <p:nvPr/>
              </p:nvSpPr>
              <p:spPr>
                <a:xfrm>
                  <a:off x="788063" y="1110110"/>
                  <a:ext cx="45719" cy="225200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39868939-2CA5-C99D-65D7-457A153862E7}"/>
                    </a:ext>
                  </a:extLst>
                </p:cNvPr>
                <p:cNvSpPr/>
                <p:nvPr/>
              </p:nvSpPr>
              <p:spPr>
                <a:xfrm>
                  <a:off x="926471" y="1440901"/>
                  <a:ext cx="45719" cy="192121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5121EA5A-5D99-B1C8-2A98-F6531532668A}"/>
                    </a:ext>
                  </a:extLst>
                </p:cNvPr>
                <p:cNvSpPr/>
                <p:nvPr/>
              </p:nvSpPr>
              <p:spPr>
                <a:xfrm>
                  <a:off x="1064879" y="1832787"/>
                  <a:ext cx="45719" cy="15293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5D13712E-4229-87BC-F68E-AABB2AA46A1B}"/>
                    </a:ext>
                  </a:extLst>
                </p:cNvPr>
                <p:cNvSpPr/>
                <p:nvPr/>
              </p:nvSpPr>
              <p:spPr>
                <a:xfrm>
                  <a:off x="1203287" y="2089021"/>
                  <a:ext cx="45719" cy="12730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5FF7A02C-AB03-03F5-3A5E-20472601B08F}"/>
                    </a:ext>
                  </a:extLst>
                </p:cNvPr>
                <p:cNvSpPr/>
                <p:nvPr/>
              </p:nvSpPr>
              <p:spPr>
                <a:xfrm>
                  <a:off x="1341695" y="2269891"/>
                  <a:ext cx="45719" cy="109222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C9E12A84-0D4E-EB00-4A08-19ADA13AE21F}"/>
                    </a:ext>
                  </a:extLst>
                </p:cNvPr>
                <p:cNvSpPr/>
                <p:nvPr/>
              </p:nvSpPr>
              <p:spPr>
                <a:xfrm>
                  <a:off x="1480103" y="2460809"/>
                  <a:ext cx="45719" cy="90130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27C2C21E-3D75-EB83-D81D-ABA13FB17D72}"/>
                    </a:ext>
                  </a:extLst>
                </p:cNvPr>
                <p:cNvSpPr/>
                <p:nvPr/>
              </p:nvSpPr>
              <p:spPr>
                <a:xfrm>
                  <a:off x="1618511" y="2686898"/>
                  <a:ext cx="45719" cy="6752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4A5C459C-758B-F34F-8462-CD8A101F5B4F}"/>
                    </a:ext>
                  </a:extLst>
                </p:cNvPr>
                <p:cNvSpPr/>
                <p:nvPr/>
              </p:nvSpPr>
              <p:spPr>
                <a:xfrm>
                  <a:off x="1756919" y="2887864"/>
                  <a:ext cx="45719" cy="47424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4DF254B2-08B2-37EC-44BC-77EF09E1EE83}"/>
                    </a:ext>
                  </a:extLst>
                </p:cNvPr>
                <p:cNvSpPr/>
                <p:nvPr/>
              </p:nvSpPr>
              <p:spPr>
                <a:xfrm>
                  <a:off x="1895327" y="3033565"/>
                  <a:ext cx="45719" cy="32854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" name="Rectangle 156">
                  <a:extLst>
                    <a:ext uri="{FF2B5EF4-FFF2-40B4-BE49-F238E27FC236}">
                      <a16:creationId xmlns:a16="http://schemas.microsoft.com/office/drawing/2014/main" id="{E4536308-A976-814D-FED8-7A546E6AB83F}"/>
                    </a:ext>
                  </a:extLst>
                </p:cNvPr>
                <p:cNvSpPr/>
                <p:nvPr/>
              </p:nvSpPr>
              <p:spPr>
                <a:xfrm>
                  <a:off x="2033735" y="3149121"/>
                  <a:ext cx="45719" cy="21299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08FB2D18-F222-4197-5A1C-CCED3F44EB19}"/>
                    </a:ext>
                  </a:extLst>
                </p:cNvPr>
                <p:cNvSpPr/>
                <p:nvPr/>
              </p:nvSpPr>
              <p:spPr>
                <a:xfrm>
                  <a:off x="2172143" y="3194339"/>
                  <a:ext cx="45719" cy="16777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998E1D59-0E80-3952-20D0-ED1A5E86B4CB}"/>
                    </a:ext>
                  </a:extLst>
                </p:cNvPr>
                <p:cNvSpPr/>
                <p:nvPr/>
              </p:nvSpPr>
              <p:spPr>
                <a:xfrm>
                  <a:off x="2310551" y="3239557"/>
                  <a:ext cx="45719" cy="12255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90EB137B-9406-EA3C-87C4-D9F27F42FE0F}"/>
                    </a:ext>
                  </a:extLst>
                </p:cNvPr>
                <p:cNvSpPr/>
                <p:nvPr/>
              </p:nvSpPr>
              <p:spPr>
                <a:xfrm>
                  <a:off x="2448959" y="3239557"/>
                  <a:ext cx="45719" cy="12255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BF8363DA-13B0-968D-FCC0-ED0231DFB9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7479" y="958581"/>
                  <a:ext cx="0" cy="2419241"/>
                </a:xfrm>
                <a:prstGeom prst="line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9698A669-1345-DF3D-4F12-E085023B721F}"/>
                    </a:ext>
                  </a:extLst>
                </p:cNvPr>
                <p:cNvSpPr txBox="1"/>
                <p:nvPr/>
              </p:nvSpPr>
              <p:spPr>
                <a:xfrm>
                  <a:off x="873602" y="3417139"/>
                  <a:ext cx="144348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/>
                    <a:t>Body Size</a:t>
                  </a:r>
                </a:p>
              </p:txBody>
            </p:sp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14F7A374-A223-F078-E5E3-B7D1FCFE9BD8}"/>
                    </a:ext>
                  </a:extLst>
                </p:cNvPr>
                <p:cNvSpPr txBox="1"/>
                <p:nvPr/>
              </p:nvSpPr>
              <p:spPr>
                <a:xfrm rot="16200000">
                  <a:off x="-265358" y="2014313"/>
                  <a:ext cx="144348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/>
                    <a:t>Frequency</a:t>
                  </a:r>
                </a:p>
              </p:txBody>
            </p: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29D8BB0E-C695-9E05-2C5A-AEB31A4CD6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8207" y="3353145"/>
                  <a:ext cx="1986464" cy="0"/>
                </a:xfrm>
                <a:prstGeom prst="line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7240DC36-3435-AEFE-0A15-B2FBAE625E39}"/>
              </a:ext>
            </a:extLst>
          </p:cNvPr>
          <p:cNvGrpSpPr/>
          <p:nvPr/>
        </p:nvGrpSpPr>
        <p:grpSpPr>
          <a:xfrm>
            <a:off x="4451211" y="6520222"/>
            <a:ext cx="2352177" cy="2826092"/>
            <a:chOff x="3213916" y="6035715"/>
            <a:chExt cx="2352177" cy="2826092"/>
          </a:xfrm>
        </p:grpSpPr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B7524EF2-E605-BBDB-87B5-BFA21AC8B0B5}"/>
                </a:ext>
              </a:extLst>
            </p:cNvPr>
            <p:cNvCxnSpPr>
              <a:cxnSpLocks/>
            </p:cNvCxnSpPr>
            <p:nvPr/>
          </p:nvCxnSpPr>
          <p:spPr>
            <a:xfrm>
              <a:off x="3598901" y="6035715"/>
              <a:ext cx="0" cy="2419241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9333CD30-20CD-D8D3-81BA-3785DA0FB3EB}"/>
                </a:ext>
              </a:extLst>
            </p:cNvPr>
            <p:cNvSpPr txBox="1"/>
            <p:nvPr/>
          </p:nvSpPr>
          <p:spPr>
            <a:xfrm>
              <a:off x="3841214" y="8554030"/>
              <a:ext cx="14434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Body Size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91EA0B09-076E-659D-5C11-32C5079B9E26}"/>
                </a:ext>
              </a:extLst>
            </p:cNvPr>
            <p:cNvSpPr txBox="1"/>
            <p:nvPr/>
          </p:nvSpPr>
          <p:spPr>
            <a:xfrm rot="16200000">
              <a:off x="2646064" y="7091447"/>
              <a:ext cx="14434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Frequency</a:t>
              </a:r>
            </a:p>
          </p:txBody>
        </p: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B316C2A9-ABF3-6DC8-8A01-A57927C09606}"/>
                </a:ext>
              </a:extLst>
            </p:cNvPr>
            <p:cNvCxnSpPr>
              <a:cxnSpLocks/>
            </p:cNvCxnSpPr>
            <p:nvPr/>
          </p:nvCxnSpPr>
          <p:spPr>
            <a:xfrm>
              <a:off x="3579629" y="8449328"/>
              <a:ext cx="1986464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F5C3687-FF55-6986-DB5A-2A65A0E500EB}"/>
                </a:ext>
              </a:extLst>
            </p:cNvPr>
            <p:cNvSpPr/>
            <p:nvPr/>
          </p:nvSpPr>
          <p:spPr>
            <a:xfrm>
              <a:off x="3765927" y="7266636"/>
              <a:ext cx="1728216" cy="1014984"/>
            </a:xfrm>
            <a:custGeom>
              <a:avLst/>
              <a:gdLst>
                <a:gd name="connsiteX0" fmla="*/ 0 w 1728216"/>
                <a:gd name="connsiteY0" fmla="*/ 0 h 1014984"/>
                <a:gd name="connsiteX1" fmla="*/ 338328 w 1728216"/>
                <a:gd name="connsiteY1" fmla="*/ 521208 h 1014984"/>
                <a:gd name="connsiteX2" fmla="*/ 603504 w 1728216"/>
                <a:gd name="connsiteY2" fmla="*/ 768096 h 1014984"/>
                <a:gd name="connsiteX3" fmla="*/ 1005840 w 1728216"/>
                <a:gd name="connsiteY3" fmla="*/ 923544 h 1014984"/>
                <a:gd name="connsiteX4" fmla="*/ 1728216 w 1728216"/>
                <a:gd name="connsiteY4" fmla="*/ 1014984 h 1014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8216" h="1014984">
                  <a:moveTo>
                    <a:pt x="0" y="0"/>
                  </a:moveTo>
                  <a:cubicBezTo>
                    <a:pt x="118872" y="196596"/>
                    <a:pt x="237744" y="393192"/>
                    <a:pt x="338328" y="521208"/>
                  </a:cubicBezTo>
                  <a:cubicBezTo>
                    <a:pt x="438912" y="649224"/>
                    <a:pt x="492252" y="701040"/>
                    <a:pt x="603504" y="768096"/>
                  </a:cubicBezTo>
                  <a:cubicBezTo>
                    <a:pt x="714756" y="835152"/>
                    <a:pt x="818388" y="882396"/>
                    <a:pt x="1005840" y="923544"/>
                  </a:cubicBezTo>
                  <a:cubicBezTo>
                    <a:pt x="1193292" y="964692"/>
                    <a:pt x="1460754" y="989838"/>
                    <a:pt x="1728216" y="1014984"/>
                  </a:cubicBez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77D061F4-58B0-DA35-7E3D-FF3FF57AB1E9}"/>
                  </a:ext>
                </a:extLst>
              </p:cNvPr>
              <p:cNvSpPr txBox="1"/>
              <p:nvPr/>
            </p:nvSpPr>
            <p:spPr>
              <a:xfrm>
                <a:off x="4094330" y="4664079"/>
                <a:ext cx="3889215" cy="10541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𝑙𝑜𝑔𝑖𝑡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/>
              </a:p>
              <a:p>
                <a:pPr algn="r">
                  <a:lnSpc>
                    <a:spcPct val="150000"/>
                  </a:lnSpc>
                </a:pPr>
                <a:r>
                  <a:rPr lang="en-US" sz="1100" i="1" dirty="0"/>
                  <a:t>Morin et al. 2004</a:t>
                </a:r>
              </a:p>
            </p:txBody>
          </p:sp>
        </mc:Choice>
        <mc:Fallback xmlns="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77D061F4-58B0-DA35-7E3D-FF3FF57AB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330" y="4664079"/>
                <a:ext cx="3889215" cy="1054135"/>
              </a:xfrm>
              <a:prstGeom prst="rect">
                <a:avLst/>
              </a:prstGeom>
              <a:blipFill>
                <a:blip r:embed="rId4"/>
                <a:stretch>
                  <a:fillRect r="-2194" b="-8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4" name="Group 303">
            <a:extLst>
              <a:ext uri="{FF2B5EF4-FFF2-40B4-BE49-F238E27FC236}">
                <a16:creationId xmlns:a16="http://schemas.microsoft.com/office/drawing/2014/main" id="{0E0261DF-E7D4-CF95-4F18-EED9784DE849}"/>
              </a:ext>
            </a:extLst>
          </p:cNvPr>
          <p:cNvGrpSpPr/>
          <p:nvPr/>
        </p:nvGrpSpPr>
        <p:grpSpPr>
          <a:xfrm>
            <a:off x="480300" y="10084741"/>
            <a:ext cx="3099816" cy="3360819"/>
            <a:chOff x="480300" y="10027591"/>
            <a:chExt cx="3099816" cy="3360819"/>
          </a:xfrm>
        </p:grpSpPr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C18611E1-C414-2037-8125-1C2B08F56DE6}"/>
                </a:ext>
              </a:extLst>
            </p:cNvPr>
            <p:cNvGrpSpPr/>
            <p:nvPr/>
          </p:nvGrpSpPr>
          <p:grpSpPr>
            <a:xfrm>
              <a:off x="480300" y="10027591"/>
              <a:ext cx="3099816" cy="3360819"/>
              <a:chOff x="7978708" y="132086"/>
              <a:chExt cx="3099816" cy="336081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9" name="TextBox 248">
                    <a:extLst>
                      <a:ext uri="{FF2B5EF4-FFF2-40B4-BE49-F238E27FC236}">
                        <a16:creationId xmlns:a16="http://schemas.microsoft.com/office/drawing/2014/main" id="{521E3501-14DE-E4CE-768B-E376DF1DB4F2}"/>
                      </a:ext>
                    </a:extLst>
                  </p:cNvPr>
                  <p:cNvSpPr txBox="1"/>
                  <p:nvPr/>
                </p:nvSpPr>
                <p:spPr>
                  <a:xfrm>
                    <a:off x="7978708" y="132086"/>
                    <a:ext cx="309981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latin typeface="+mj-lt"/>
                    </a:endParaRPr>
                  </a:p>
                </p:txBody>
              </p:sp>
            </mc:Choice>
            <mc:Fallback xmlns="">
              <p:sp>
                <p:nvSpPr>
                  <p:cNvPr id="249" name="TextBox 248">
                    <a:extLst>
                      <a:ext uri="{FF2B5EF4-FFF2-40B4-BE49-F238E27FC236}">
                        <a16:creationId xmlns:a16="http://schemas.microsoft.com/office/drawing/2014/main" id="{521E3501-14DE-E4CE-768B-E376DF1DB4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78708" y="132086"/>
                    <a:ext cx="309981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A931B297-95B5-CD41-F4BB-FE69AB427D60}"/>
                  </a:ext>
                </a:extLst>
              </p:cNvPr>
              <p:cNvSpPr txBox="1"/>
              <p:nvPr/>
            </p:nvSpPr>
            <p:spPr>
              <a:xfrm rot="16200000">
                <a:off x="7608172" y="1763680"/>
                <a:ext cx="14434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Frequency</a:t>
                </a:r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6309FB75-38BB-7062-7EA0-B364141A4621}"/>
                  </a:ext>
                </a:extLst>
              </p:cNvPr>
              <p:cNvSpPr/>
              <p:nvPr/>
            </p:nvSpPr>
            <p:spPr>
              <a:xfrm>
                <a:off x="8661593" y="2637231"/>
                <a:ext cx="45719" cy="47424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3B632AA9-2845-1F98-8E1C-B07330DAB349}"/>
                  </a:ext>
                </a:extLst>
              </p:cNvPr>
              <p:cNvSpPr/>
              <p:nvPr/>
            </p:nvSpPr>
            <p:spPr>
              <a:xfrm>
                <a:off x="8800001" y="2331156"/>
                <a:ext cx="45719" cy="78032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E36AF47A-3CA3-A8FC-3CBA-3589349817D0}"/>
                  </a:ext>
                </a:extLst>
              </p:cNvPr>
              <p:cNvSpPr/>
              <p:nvPr/>
            </p:nvSpPr>
            <p:spPr>
              <a:xfrm>
                <a:off x="8938409" y="2019258"/>
                <a:ext cx="45719" cy="109222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44564E6C-D7C3-5A30-18D3-EE64BD5CC370}"/>
                  </a:ext>
                </a:extLst>
              </p:cNvPr>
              <p:cNvSpPr/>
              <p:nvPr/>
            </p:nvSpPr>
            <p:spPr>
              <a:xfrm>
                <a:off x="9076817" y="1838388"/>
                <a:ext cx="45719" cy="127309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BDACBB7F-E949-CB91-D0E0-5FFFD391F2D0}"/>
                  </a:ext>
                </a:extLst>
              </p:cNvPr>
              <p:cNvSpPr/>
              <p:nvPr/>
            </p:nvSpPr>
            <p:spPr>
              <a:xfrm>
                <a:off x="9215225" y="2019258"/>
                <a:ext cx="45719" cy="109222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A69E9FE0-748C-CF13-D3A3-74F6D10E0853}"/>
                  </a:ext>
                </a:extLst>
              </p:cNvPr>
              <p:cNvSpPr/>
              <p:nvPr/>
            </p:nvSpPr>
            <p:spPr>
              <a:xfrm>
                <a:off x="9353633" y="2210176"/>
                <a:ext cx="45719" cy="9013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F274516C-9990-5D43-07BA-0FB1C9AA52DE}"/>
                  </a:ext>
                </a:extLst>
              </p:cNvPr>
              <p:cNvSpPr/>
              <p:nvPr/>
            </p:nvSpPr>
            <p:spPr>
              <a:xfrm>
                <a:off x="9492041" y="2436265"/>
                <a:ext cx="45719" cy="6752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C11C16FF-7A7C-745C-B6EF-027591D89AA7}"/>
                  </a:ext>
                </a:extLst>
              </p:cNvPr>
              <p:cNvSpPr/>
              <p:nvPr/>
            </p:nvSpPr>
            <p:spPr>
              <a:xfrm>
                <a:off x="9630449" y="2637231"/>
                <a:ext cx="45719" cy="474247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D0DAD566-B4E2-1532-7B50-1A4D20392894}"/>
                  </a:ext>
                </a:extLst>
              </p:cNvPr>
              <p:cNvSpPr/>
              <p:nvPr/>
            </p:nvSpPr>
            <p:spPr>
              <a:xfrm>
                <a:off x="9768857" y="2782932"/>
                <a:ext cx="45719" cy="32854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A77D3D33-5669-B77E-BA4B-5E46889F31F9}"/>
                  </a:ext>
                </a:extLst>
              </p:cNvPr>
              <p:cNvSpPr/>
              <p:nvPr/>
            </p:nvSpPr>
            <p:spPr>
              <a:xfrm>
                <a:off x="9907265" y="2898488"/>
                <a:ext cx="45719" cy="21299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19F6BE92-551C-32A3-0420-91A82F606624}"/>
                  </a:ext>
                </a:extLst>
              </p:cNvPr>
              <p:cNvSpPr/>
              <p:nvPr/>
            </p:nvSpPr>
            <p:spPr>
              <a:xfrm>
                <a:off x="10045673" y="2943706"/>
                <a:ext cx="45719" cy="16777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F48BC9FC-D28A-B034-5EB5-F1961673C4B6}"/>
                  </a:ext>
                </a:extLst>
              </p:cNvPr>
              <p:cNvSpPr/>
              <p:nvPr/>
            </p:nvSpPr>
            <p:spPr>
              <a:xfrm>
                <a:off x="10184081" y="2988924"/>
                <a:ext cx="45719" cy="12255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F6BD1E96-B159-A759-7AD6-3E7454BBD0AC}"/>
                  </a:ext>
                </a:extLst>
              </p:cNvPr>
              <p:cNvSpPr/>
              <p:nvPr/>
            </p:nvSpPr>
            <p:spPr>
              <a:xfrm>
                <a:off x="10322489" y="2988924"/>
                <a:ext cx="45719" cy="12255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2AADF0CE-6CEB-1A77-EC35-A31881BACD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61009" y="707948"/>
                <a:ext cx="0" cy="2419241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D261FB79-787E-58E4-8DFA-BCB3F0AB8069}"/>
                  </a:ext>
                </a:extLst>
              </p:cNvPr>
              <p:cNvSpPr txBox="1"/>
              <p:nvPr/>
            </p:nvSpPr>
            <p:spPr>
              <a:xfrm>
                <a:off x="8660864" y="3185128"/>
                <a:ext cx="14434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Body Size</a:t>
                </a:r>
              </a:p>
            </p:txBody>
          </p: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65537941-46A4-BA12-BCEF-94AAB46479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35384" y="3106303"/>
                <a:ext cx="1986464" cy="0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5C212C84-F424-4D50-236D-D1083576B664}"/>
                    </a:ext>
                  </a:extLst>
                </p:cNvPr>
                <p:cNvSpPr txBox="1"/>
                <p:nvPr/>
              </p:nvSpPr>
              <p:spPr>
                <a:xfrm>
                  <a:off x="1113614" y="10652665"/>
                  <a:ext cx="110582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5C212C84-F424-4D50-236D-D1083576B6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3614" y="10652665"/>
                  <a:ext cx="110582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9" name="Arrow: Down 268">
              <a:extLst>
                <a:ext uri="{FF2B5EF4-FFF2-40B4-BE49-F238E27FC236}">
                  <a16:creationId xmlns:a16="http://schemas.microsoft.com/office/drawing/2014/main" id="{B442A0A7-82C3-05B3-1614-9C089009293F}"/>
                </a:ext>
              </a:extLst>
            </p:cNvPr>
            <p:cNvSpPr/>
            <p:nvPr/>
          </p:nvSpPr>
          <p:spPr>
            <a:xfrm>
              <a:off x="1541393" y="11216362"/>
              <a:ext cx="92680" cy="369329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0" name="Arrow: Right 269">
            <a:extLst>
              <a:ext uri="{FF2B5EF4-FFF2-40B4-BE49-F238E27FC236}">
                <a16:creationId xmlns:a16="http://schemas.microsoft.com/office/drawing/2014/main" id="{FFA2B658-91FD-AA72-5B36-91FC5DA183CE}"/>
              </a:ext>
            </a:extLst>
          </p:cNvPr>
          <p:cNvSpPr/>
          <p:nvPr/>
        </p:nvSpPr>
        <p:spPr>
          <a:xfrm>
            <a:off x="3083008" y="12253095"/>
            <a:ext cx="1130136" cy="524263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0B67EC9E-7563-B148-7447-4A827A463A7F}"/>
              </a:ext>
            </a:extLst>
          </p:cNvPr>
          <p:cNvSpPr txBox="1"/>
          <p:nvPr/>
        </p:nvSpPr>
        <p:spPr>
          <a:xfrm>
            <a:off x="2752060" y="10635576"/>
            <a:ext cx="16596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Censor Data Then</a:t>
            </a:r>
          </a:p>
          <a:p>
            <a:pPr algn="ctr"/>
            <a:r>
              <a:rPr lang="en-US" dirty="0">
                <a:latin typeface="+mj-lt"/>
              </a:rPr>
              <a:t>Continuous Frequency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630DBF10-185C-F247-1701-1158C3310B4F}"/>
                  </a:ext>
                </a:extLst>
              </p:cNvPr>
              <p:cNvSpPr txBox="1"/>
              <p:nvPr/>
            </p:nvSpPr>
            <p:spPr>
              <a:xfrm>
                <a:off x="4059645" y="10119226"/>
                <a:ext cx="30998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+mj-lt"/>
                  </a:rPr>
                  <a:t>Censored data,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630DBF10-185C-F247-1701-1158C3310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645" y="10119226"/>
                <a:ext cx="3099816" cy="369332"/>
              </a:xfrm>
              <a:prstGeom prst="rect">
                <a:avLst/>
              </a:prstGeom>
              <a:blipFill>
                <a:blip r:embed="rId7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4" name="TextBox 273">
            <a:extLst>
              <a:ext uri="{FF2B5EF4-FFF2-40B4-BE49-F238E27FC236}">
                <a16:creationId xmlns:a16="http://schemas.microsoft.com/office/drawing/2014/main" id="{705397CF-6597-DC59-16FA-E01864429235}"/>
              </a:ext>
            </a:extLst>
          </p:cNvPr>
          <p:cNvSpPr txBox="1"/>
          <p:nvPr/>
        </p:nvSpPr>
        <p:spPr>
          <a:xfrm rot="16200000">
            <a:off x="3751390" y="11687024"/>
            <a:ext cx="1443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Frequency</a:t>
            </a: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4B21C789-3C7A-3220-1378-604399A75990}"/>
              </a:ext>
            </a:extLst>
          </p:cNvPr>
          <p:cNvSpPr/>
          <p:nvPr/>
        </p:nvSpPr>
        <p:spPr>
          <a:xfrm>
            <a:off x="4804811" y="12560575"/>
            <a:ext cx="45719" cy="47424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DA0B2534-42D5-F795-1808-CBF7CAE46B41}"/>
              </a:ext>
            </a:extLst>
          </p:cNvPr>
          <p:cNvSpPr/>
          <p:nvPr/>
        </p:nvSpPr>
        <p:spPr>
          <a:xfrm>
            <a:off x="4943219" y="12254500"/>
            <a:ext cx="45719" cy="78032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D53EE4F2-5D2E-CCCA-702A-84FBB435E50A}"/>
              </a:ext>
            </a:extLst>
          </p:cNvPr>
          <p:cNvSpPr/>
          <p:nvPr/>
        </p:nvSpPr>
        <p:spPr>
          <a:xfrm>
            <a:off x="5081627" y="11942602"/>
            <a:ext cx="45719" cy="109222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AA63EAAA-82C7-51D7-9BCC-CFCA07EF6C25}"/>
              </a:ext>
            </a:extLst>
          </p:cNvPr>
          <p:cNvSpPr/>
          <p:nvPr/>
        </p:nvSpPr>
        <p:spPr>
          <a:xfrm>
            <a:off x="5220035" y="11761732"/>
            <a:ext cx="45719" cy="1273092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82ED4337-B42E-88B7-C895-54736E127974}"/>
              </a:ext>
            </a:extLst>
          </p:cNvPr>
          <p:cNvSpPr/>
          <p:nvPr/>
        </p:nvSpPr>
        <p:spPr>
          <a:xfrm>
            <a:off x="5358443" y="11942602"/>
            <a:ext cx="45719" cy="1092222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6E910807-CBF1-BCE7-BA34-E634A63BF6D1}"/>
              </a:ext>
            </a:extLst>
          </p:cNvPr>
          <p:cNvSpPr/>
          <p:nvPr/>
        </p:nvSpPr>
        <p:spPr>
          <a:xfrm>
            <a:off x="5496851" y="12133520"/>
            <a:ext cx="45719" cy="901303"/>
          </a:xfrm>
          <a:prstGeom prst="rect">
            <a:avLst/>
          </a:prstGeom>
          <a:gradFill>
            <a:gsLst>
              <a:gs pos="30000">
                <a:srgbClr val="FF914A"/>
              </a:gs>
              <a:gs pos="78000">
                <a:srgbClr val="13A1FF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9D5851B7-EAAC-1A9A-9FFB-63C1224E7411}"/>
              </a:ext>
            </a:extLst>
          </p:cNvPr>
          <p:cNvSpPr/>
          <p:nvPr/>
        </p:nvSpPr>
        <p:spPr>
          <a:xfrm>
            <a:off x="5635259" y="12359609"/>
            <a:ext cx="45719" cy="675214"/>
          </a:xfrm>
          <a:prstGeom prst="rect">
            <a:avLst/>
          </a:prstGeom>
          <a:gradFill>
            <a:gsLst>
              <a:gs pos="30000">
                <a:srgbClr val="FF914A"/>
              </a:gs>
              <a:gs pos="78000">
                <a:srgbClr val="13A1FF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CCC8E14B-0794-5D3C-388D-AE42F6105D98}"/>
              </a:ext>
            </a:extLst>
          </p:cNvPr>
          <p:cNvSpPr/>
          <p:nvPr/>
        </p:nvSpPr>
        <p:spPr>
          <a:xfrm>
            <a:off x="5773667" y="12560575"/>
            <a:ext cx="45719" cy="474247"/>
          </a:xfrm>
          <a:prstGeom prst="rect">
            <a:avLst/>
          </a:prstGeom>
          <a:gradFill>
            <a:gsLst>
              <a:gs pos="30000">
                <a:srgbClr val="FF914A"/>
              </a:gs>
              <a:gs pos="78000">
                <a:srgbClr val="13A1FF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EC134CDF-574A-327E-FE0E-B426D3250D16}"/>
              </a:ext>
            </a:extLst>
          </p:cNvPr>
          <p:cNvSpPr/>
          <p:nvPr/>
        </p:nvSpPr>
        <p:spPr>
          <a:xfrm>
            <a:off x="5912075" y="12706276"/>
            <a:ext cx="45719" cy="328546"/>
          </a:xfrm>
          <a:prstGeom prst="rect">
            <a:avLst/>
          </a:prstGeom>
          <a:gradFill>
            <a:gsLst>
              <a:gs pos="30000">
                <a:srgbClr val="FF914A"/>
              </a:gs>
              <a:gs pos="78000">
                <a:srgbClr val="13A1FF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B0C42299-95EC-FD2A-CA03-EBD9DD394090}"/>
              </a:ext>
            </a:extLst>
          </p:cNvPr>
          <p:cNvSpPr/>
          <p:nvPr/>
        </p:nvSpPr>
        <p:spPr>
          <a:xfrm>
            <a:off x="6050483" y="12821832"/>
            <a:ext cx="45719" cy="212990"/>
          </a:xfrm>
          <a:prstGeom prst="rect">
            <a:avLst/>
          </a:prstGeom>
          <a:gradFill>
            <a:gsLst>
              <a:gs pos="30000">
                <a:srgbClr val="FF914A"/>
              </a:gs>
              <a:gs pos="78000">
                <a:srgbClr val="13A1FF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E970A64D-AABA-6A47-A2C0-122ED2C0C695}"/>
              </a:ext>
            </a:extLst>
          </p:cNvPr>
          <p:cNvSpPr/>
          <p:nvPr/>
        </p:nvSpPr>
        <p:spPr>
          <a:xfrm>
            <a:off x="6188891" y="12867050"/>
            <a:ext cx="45719" cy="167772"/>
          </a:xfrm>
          <a:prstGeom prst="rect">
            <a:avLst/>
          </a:prstGeom>
          <a:gradFill>
            <a:gsLst>
              <a:gs pos="30000">
                <a:srgbClr val="FF914A"/>
              </a:gs>
              <a:gs pos="78000">
                <a:srgbClr val="13A1FF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3478F40C-444D-6E58-1438-284F2C40E1D4}"/>
              </a:ext>
            </a:extLst>
          </p:cNvPr>
          <p:cNvSpPr/>
          <p:nvPr/>
        </p:nvSpPr>
        <p:spPr>
          <a:xfrm>
            <a:off x="6327299" y="12912268"/>
            <a:ext cx="45719" cy="122554"/>
          </a:xfrm>
          <a:prstGeom prst="rect">
            <a:avLst/>
          </a:prstGeom>
          <a:gradFill>
            <a:gsLst>
              <a:gs pos="30000">
                <a:srgbClr val="FF914A"/>
              </a:gs>
              <a:gs pos="78000">
                <a:srgbClr val="13A1FF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7F0E071C-AC0B-F7DC-AA69-1F9B4C1651DA}"/>
              </a:ext>
            </a:extLst>
          </p:cNvPr>
          <p:cNvSpPr/>
          <p:nvPr/>
        </p:nvSpPr>
        <p:spPr>
          <a:xfrm>
            <a:off x="6465707" y="12912268"/>
            <a:ext cx="45719" cy="122554"/>
          </a:xfrm>
          <a:prstGeom prst="rect">
            <a:avLst/>
          </a:prstGeom>
          <a:gradFill>
            <a:gsLst>
              <a:gs pos="30000">
                <a:srgbClr val="FF914A"/>
              </a:gs>
              <a:gs pos="78000">
                <a:srgbClr val="13A1FF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79980D5B-AF97-B3F4-B25C-31B7D4DA3349}"/>
              </a:ext>
            </a:extLst>
          </p:cNvPr>
          <p:cNvCxnSpPr>
            <a:cxnSpLocks/>
          </p:cNvCxnSpPr>
          <p:nvPr/>
        </p:nvCxnSpPr>
        <p:spPr>
          <a:xfrm>
            <a:off x="4704227" y="10631292"/>
            <a:ext cx="0" cy="2419241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9" name="TextBox 288">
            <a:extLst>
              <a:ext uri="{FF2B5EF4-FFF2-40B4-BE49-F238E27FC236}">
                <a16:creationId xmlns:a16="http://schemas.microsoft.com/office/drawing/2014/main" id="{50A104F9-0538-3BC9-F2B2-8B7B81862311}"/>
              </a:ext>
            </a:extLst>
          </p:cNvPr>
          <p:cNvSpPr txBox="1"/>
          <p:nvPr/>
        </p:nvSpPr>
        <p:spPr>
          <a:xfrm>
            <a:off x="4871209" y="13119162"/>
            <a:ext cx="1443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Body Size</a:t>
            </a:r>
          </a:p>
        </p:txBody>
      </p: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CB8269A6-D83A-02CB-C517-96DBBE831E63}"/>
              </a:ext>
            </a:extLst>
          </p:cNvPr>
          <p:cNvCxnSpPr>
            <a:cxnSpLocks/>
          </p:cNvCxnSpPr>
          <p:nvPr/>
        </p:nvCxnSpPr>
        <p:spPr>
          <a:xfrm>
            <a:off x="4678602" y="13029647"/>
            <a:ext cx="1986464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9C6EAEA-47A4-6C84-DB24-4A34956C5EEF}"/>
              </a:ext>
            </a:extLst>
          </p:cNvPr>
          <p:cNvGrpSpPr/>
          <p:nvPr/>
        </p:nvGrpSpPr>
        <p:grpSpPr>
          <a:xfrm>
            <a:off x="6623472" y="10435690"/>
            <a:ext cx="1937653" cy="800635"/>
            <a:chOff x="6544647" y="10435690"/>
            <a:chExt cx="1937653" cy="8006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4" name="TextBox 293">
                  <a:extLst>
                    <a:ext uri="{FF2B5EF4-FFF2-40B4-BE49-F238E27FC236}">
                      <a16:creationId xmlns:a16="http://schemas.microsoft.com/office/drawing/2014/main" id="{C88221A8-B689-F806-96D2-D7356F8C22F3}"/>
                    </a:ext>
                  </a:extLst>
                </p:cNvPr>
                <p:cNvSpPr txBox="1"/>
                <p:nvPr/>
              </p:nvSpPr>
              <p:spPr>
                <a:xfrm rot="19744534">
                  <a:off x="6544647" y="10435690"/>
                  <a:ext cx="1937653" cy="4103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+mj-lt"/>
                    </a:rPr>
                    <a:t>Estimate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</m:oMath>
                  </a14:m>
                  <a:endParaRPr lang="en-US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294" name="TextBox 293">
                  <a:extLst>
                    <a:ext uri="{FF2B5EF4-FFF2-40B4-BE49-F238E27FC236}">
                      <a16:creationId xmlns:a16="http://schemas.microsoft.com/office/drawing/2014/main" id="{C88221A8-B689-F806-96D2-D7356F8C22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744534">
                  <a:off x="6544647" y="10435690"/>
                  <a:ext cx="1937653" cy="410369"/>
                </a:xfrm>
                <a:prstGeom prst="rect">
                  <a:avLst/>
                </a:prstGeom>
                <a:blipFill>
                  <a:blip r:embed="rId8"/>
                  <a:stretch>
                    <a:fillRect t="-49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5" name="Arrow: Right 294">
              <a:extLst>
                <a:ext uri="{FF2B5EF4-FFF2-40B4-BE49-F238E27FC236}">
                  <a16:creationId xmlns:a16="http://schemas.microsoft.com/office/drawing/2014/main" id="{4990AEA6-78E2-73B9-6615-3C97671937D6}"/>
                </a:ext>
              </a:extLst>
            </p:cNvPr>
            <p:cNvSpPr/>
            <p:nvPr/>
          </p:nvSpPr>
          <p:spPr>
            <a:xfrm rot="19744534">
              <a:off x="7254958" y="10712062"/>
              <a:ext cx="1130136" cy="524263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6" name="TextBox 305">
            <a:extLst>
              <a:ext uri="{FF2B5EF4-FFF2-40B4-BE49-F238E27FC236}">
                <a16:creationId xmlns:a16="http://schemas.microsoft.com/office/drawing/2014/main" id="{010A0EE6-A569-C991-71D8-C2FE24A04312}"/>
              </a:ext>
            </a:extLst>
          </p:cNvPr>
          <p:cNvSpPr txBox="1"/>
          <p:nvPr/>
        </p:nvSpPr>
        <p:spPr>
          <a:xfrm>
            <a:off x="1866900" y="9387433"/>
            <a:ext cx="3889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latin typeface="+mj-lt"/>
              </a:rPr>
              <a:t>Censoring </a:t>
            </a:r>
            <a:r>
              <a:rPr lang="en-US" sz="3200" dirty="0">
                <a:latin typeface="+mj-lt"/>
              </a:rPr>
              <a:t>Process</a:t>
            </a:r>
          </a:p>
        </p:txBody>
      </p: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43EAC36B-4854-E9D8-AB38-AF9084E3214A}"/>
              </a:ext>
            </a:extLst>
          </p:cNvPr>
          <p:cNvCxnSpPr>
            <a:cxnSpLocks/>
          </p:cNvCxnSpPr>
          <p:nvPr/>
        </p:nvCxnSpPr>
        <p:spPr>
          <a:xfrm>
            <a:off x="74428" y="9679820"/>
            <a:ext cx="1792472" cy="15389"/>
          </a:xfrm>
          <a:prstGeom prst="line">
            <a:avLst/>
          </a:prstGeom>
          <a:ln w="381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16A0CECD-5A0F-A1E0-5CA3-D81776D2BD61}"/>
              </a:ext>
            </a:extLst>
          </p:cNvPr>
          <p:cNvCxnSpPr>
            <a:cxnSpLocks/>
          </p:cNvCxnSpPr>
          <p:nvPr/>
        </p:nvCxnSpPr>
        <p:spPr>
          <a:xfrm>
            <a:off x="5756115" y="9679820"/>
            <a:ext cx="1827098" cy="0"/>
          </a:xfrm>
          <a:prstGeom prst="line">
            <a:avLst/>
          </a:prstGeom>
          <a:ln w="381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TextBox 312">
            <a:extLst>
              <a:ext uri="{FF2B5EF4-FFF2-40B4-BE49-F238E27FC236}">
                <a16:creationId xmlns:a16="http://schemas.microsoft.com/office/drawing/2014/main" id="{F6626264-6871-682F-DD87-F5A5C343875D}"/>
              </a:ext>
            </a:extLst>
          </p:cNvPr>
          <p:cNvSpPr txBox="1"/>
          <p:nvPr/>
        </p:nvSpPr>
        <p:spPr>
          <a:xfrm>
            <a:off x="2900689" y="630082"/>
            <a:ext cx="6390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Data Sampling </a:t>
            </a:r>
            <a:r>
              <a:rPr lang="en-US" sz="3200">
                <a:latin typeface="+mj-lt"/>
              </a:rPr>
              <a:t>and Bias</a:t>
            </a:r>
            <a:endParaRPr lang="en-US" sz="3200" dirty="0">
              <a:latin typeface="+mj-lt"/>
            </a:endParaRPr>
          </a:p>
        </p:txBody>
      </p: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02F50622-491D-8113-B6ED-311417CAA936}"/>
              </a:ext>
            </a:extLst>
          </p:cNvPr>
          <p:cNvCxnSpPr>
            <a:cxnSpLocks/>
          </p:cNvCxnSpPr>
          <p:nvPr/>
        </p:nvCxnSpPr>
        <p:spPr>
          <a:xfrm>
            <a:off x="74428" y="922469"/>
            <a:ext cx="3633972" cy="0"/>
          </a:xfrm>
          <a:prstGeom prst="line">
            <a:avLst/>
          </a:prstGeom>
          <a:ln w="381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9497F6C9-E492-6987-5E21-865AA2903889}"/>
              </a:ext>
            </a:extLst>
          </p:cNvPr>
          <p:cNvCxnSpPr>
            <a:cxnSpLocks/>
          </p:cNvCxnSpPr>
          <p:nvPr/>
        </p:nvCxnSpPr>
        <p:spPr>
          <a:xfrm>
            <a:off x="8490657" y="922469"/>
            <a:ext cx="3626915" cy="0"/>
          </a:xfrm>
          <a:prstGeom prst="line">
            <a:avLst/>
          </a:prstGeom>
          <a:ln w="381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F00738B6-CA58-F022-ADF0-314B3761DF36}"/>
              </a:ext>
            </a:extLst>
          </p:cNvPr>
          <p:cNvGrpSpPr/>
          <p:nvPr/>
        </p:nvGrpSpPr>
        <p:grpSpPr>
          <a:xfrm>
            <a:off x="209290" y="4677189"/>
            <a:ext cx="3490699" cy="608166"/>
            <a:chOff x="218951" y="4070417"/>
            <a:chExt cx="3490699" cy="6081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2" name="TextBox 241">
                  <a:extLst>
                    <a:ext uri="{FF2B5EF4-FFF2-40B4-BE49-F238E27FC236}">
                      <a16:creationId xmlns:a16="http://schemas.microsoft.com/office/drawing/2014/main" id="{F7B8AE3E-1FBD-FD22-5662-881E41827F09}"/>
                    </a:ext>
                  </a:extLst>
                </p:cNvPr>
                <p:cNvSpPr txBox="1"/>
                <p:nvPr/>
              </p:nvSpPr>
              <p:spPr>
                <a:xfrm>
                  <a:off x="1300048" y="4070417"/>
                  <a:ext cx="1328504" cy="4349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2" name="TextBox 241">
                  <a:extLst>
                    <a:ext uri="{FF2B5EF4-FFF2-40B4-BE49-F238E27FC236}">
                      <a16:creationId xmlns:a16="http://schemas.microsoft.com/office/drawing/2014/main" id="{F7B8AE3E-1FBD-FD22-5662-881E41827F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0048" y="4070417"/>
                  <a:ext cx="1328504" cy="43492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8" name="TextBox 317">
                  <a:extLst>
                    <a:ext uri="{FF2B5EF4-FFF2-40B4-BE49-F238E27FC236}">
                      <a16:creationId xmlns:a16="http://schemas.microsoft.com/office/drawing/2014/main" id="{6CAD787A-D8C4-8E81-1714-90EB6B27A946}"/>
                    </a:ext>
                  </a:extLst>
                </p:cNvPr>
                <p:cNvSpPr txBox="1"/>
                <p:nvPr/>
              </p:nvSpPr>
              <p:spPr>
                <a:xfrm>
                  <a:off x="218951" y="4349134"/>
                  <a:ext cx="3490699" cy="32944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sz="1600" b="0" dirty="0" err="1">
                      <a:latin typeface="Consolas" panose="020B0609020204030204" pitchFamily="49" charset="0"/>
                    </a:rPr>
                    <a:t>sizeSpectra</a:t>
                  </a:r>
                  <a:r>
                    <a:rPr lang="en-US" sz="1600" b="0" dirty="0">
                      <a:latin typeface="Consolas" panose="020B0609020204030204" pitchFamily="49" charset="0"/>
                    </a:rPr>
                    <a:t>::</a:t>
                  </a:r>
                  <a:r>
                    <a:rPr lang="en-US" sz="1600" b="0" dirty="0" err="1">
                      <a:latin typeface="Consolas" panose="020B0609020204030204" pitchFamily="49" charset="0"/>
                    </a:rPr>
                    <a:t>rPLB</a:t>
                  </a:r>
                  <a14:m>
                    <m:oMath xmlns:m="http://schemas.openxmlformats.org/officeDocument/2006/math"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min</m:t>
                          </m:r>
                        </m:sub>
                      </m:sSub>
                      <m: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1600" dirty="0">
                    <a:latin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318" name="TextBox 317">
                  <a:extLst>
                    <a:ext uri="{FF2B5EF4-FFF2-40B4-BE49-F238E27FC236}">
                      <a16:creationId xmlns:a16="http://schemas.microsoft.com/office/drawing/2014/main" id="{6CAD787A-D8C4-8E81-1714-90EB6B27A9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951" y="4349134"/>
                  <a:ext cx="3490699" cy="329449"/>
                </a:xfrm>
                <a:prstGeom prst="rect">
                  <a:avLst/>
                </a:prstGeom>
                <a:blipFill>
                  <a:blip r:embed="rId10"/>
                  <a:stretch>
                    <a:fillRect l="-3490" r="-1745" b="-351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C274F073-E474-E8E7-A08B-7A7B8CBC893F}"/>
                  </a:ext>
                </a:extLst>
              </p:cNvPr>
              <p:cNvSpPr txBox="1"/>
              <p:nvPr/>
            </p:nvSpPr>
            <p:spPr>
              <a:xfrm>
                <a:off x="9099569" y="4911359"/>
                <a:ext cx="27004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𝑂𝑏𝑠𝑒𝑟𝑣𝑒𝑑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𝐵𝑒𝑟𝑛𝑜𝑢𝑙𝑙𝑖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C274F073-E474-E8E7-A08B-7A7B8CBC8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9569" y="4911359"/>
                <a:ext cx="2700483" cy="276999"/>
              </a:xfrm>
              <a:prstGeom prst="rect">
                <a:avLst/>
              </a:prstGeom>
              <a:blipFill>
                <a:blip r:embed="rId11"/>
                <a:stretch>
                  <a:fillRect l="-1580" t="-2222" r="-2483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BD47A80F-181A-F8CB-E1F8-CCE29D3198ED}"/>
                  </a:ext>
                </a:extLst>
              </p:cNvPr>
              <p:cNvSpPr txBox="1"/>
              <p:nvPr/>
            </p:nvSpPr>
            <p:spPr>
              <a:xfrm>
                <a:off x="673884" y="13546579"/>
                <a:ext cx="2580835" cy="10684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600" b="0" dirty="0">
                    <a:latin typeface="Consolas" panose="020B0609020204030204" pitchFamily="49" charset="0"/>
                  </a:rPr>
                  <a:t>poweRLaw::</a:t>
                </a:r>
                <a:r>
                  <a:rPr lang="en-US" sz="1600" b="0" dirty="0" err="1">
                    <a:latin typeface="Consolas" panose="020B0609020204030204" pitchFamily="49" charset="0"/>
                  </a:rPr>
                  <a:t>estimate_xmin</a:t>
                </a:r>
                <a:endParaRPr lang="en-US" sz="1600" b="0" dirty="0">
                  <a:latin typeface="Consolas" panose="020B0609020204030204" pitchFamily="49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Fixed values of</a:t>
                </a:r>
                <a:r>
                  <a:rPr lang="en-US" sz="1600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endParaRPr lang="en-US" sz="1600" dirty="0"/>
              </a:p>
              <a:p>
                <a:pPr>
                  <a:lnSpc>
                    <a:spcPct val="150000"/>
                  </a:lnSpc>
                </a:pPr>
                <a:endParaRPr lang="en-US" sz="1600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BD47A80F-181A-F8CB-E1F8-CCE29D319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84" y="13546579"/>
                <a:ext cx="2580835" cy="1068434"/>
              </a:xfrm>
              <a:prstGeom prst="rect">
                <a:avLst/>
              </a:prstGeom>
              <a:blipFill>
                <a:blip r:embed="rId12"/>
                <a:stretch>
                  <a:fillRect l="-4965" r="-3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AA829695-2437-8259-CD00-D00691E06BDB}"/>
                  </a:ext>
                </a:extLst>
              </p:cNvPr>
              <p:cNvSpPr txBox="1"/>
              <p:nvPr/>
            </p:nvSpPr>
            <p:spPr>
              <a:xfrm>
                <a:off x="4756698" y="13546579"/>
                <a:ext cx="15698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⃖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AA829695-2437-8259-CD00-D00691E06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698" y="13546579"/>
                <a:ext cx="1569853" cy="276999"/>
              </a:xfrm>
              <a:prstGeom prst="rect">
                <a:avLst/>
              </a:prstGeom>
              <a:blipFill>
                <a:blip r:embed="rId13"/>
                <a:stretch>
                  <a:fillRect l="-1550" r="-388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2" name="TextBox 331">
            <a:extLst>
              <a:ext uri="{FF2B5EF4-FFF2-40B4-BE49-F238E27FC236}">
                <a16:creationId xmlns:a16="http://schemas.microsoft.com/office/drawing/2014/main" id="{42250D50-256F-6909-4F61-6C9E965BF6C5}"/>
              </a:ext>
            </a:extLst>
          </p:cNvPr>
          <p:cNvSpPr txBox="1"/>
          <p:nvPr/>
        </p:nvSpPr>
        <p:spPr>
          <a:xfrm>
            <a:off x="2545900" y="6864636"/>
            <a:ext cx="1937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Continuous Frequency Distribution</a:t>
            </a:r>
          </a:p>
        </p:txBody>
      </p:sp>
      <p:sp>
        <p:nvSpPr>
          <p:cNvPr id="333" name="Arrow: Right 332">
            <a:extLst>
              <a:ext uri="{FF2B5EF4-FFF2-40B4-BE49-F238E27FC236}">
                <a16:creationId xmlns:a16="http://schemas.microsoft.com/office/drawing/2014/main" id="{A0A0285A-DB97-5F00-2112-E07E041DEE42}"/>
              </a:ext>
            </a:extLst>
          </p:cNvPr>
          <p:cNvSpPr/>
          <p:nvPr/>
        </p:nvSpPr>
        <p:spPr>
          <a:xfrm>
            <a:off x="3083008" y="7823537"/>
            <a:ext cx="1130136" cy="524263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Chord 195">
            <a:extLst>
              <a:ext uri="{FF2B5EF4-FFF2-40B4-BE49-F238E27FC236}">
                <a16:creationId xmlns:a16="http://schemas.microsoft.com/office/drawing/2014/main" id="{38C6C0F8-BEA3-78D9-516E-4458BF2B6BB0}"/>
              </a:ext>
            </a:extLst>
          </p:cNvPr>
          <p:cNvSpPr/>
          <p:nvPr/>
        </p:nvSpPr>
        <p:spPr>
          <a:xfrm rot="10641725">
            <a:off x="8977052" y="8397755"/>
            <a:ext cx="1967424" cy="2315468"/>
          </a:xfrm>
          <a:custGeom>
            <a:avLst/>
            <a:gdLst>
              <a:gd name="connsiteX0" fmla="*/ 1549201 w 1637532"/>
              <a:gd name="connsiteY0" fmla="*/ 1334292 h 1838115"/>
              <a:gd name="connsiteX1" fmla="*/ 790005 w 1637532"/>
              <a:gd name="connsiteY1" fmla="*/ 1837549 h 1838115"/>
              <a:gd name="connsiteX2" fmla="*/ 67984 w 1637532"/>
              <a:gd name="connsiteY2" fmla="*/ 1285728 h 1838115"/>
              <a:gd name="connsiteX3" fmla="*/ 1549201 w 1637532"/>
              <a:gd name="connsiteY3" fmla="*/ 1334292 h 1838115"/>
              <a:gd name="connsiteX0" fmla="*/ 1481217 w 1481217"/>
              <a:gd name="connsiteY0" fmla="*/ 48564 h 552180"/>
              <a:gd name="connsiteX1" fmla="*/ 722021 w 1481217"/>
              <a:gd name="connsiteY1" fmla="*/ 551821 h 552180"/>
              <a:gd name="connsiteX2" fmla="*/ 0 w 1481217"/>
              <a:gd name="connsiteY2" fmla="*/ 0 h 552180"/>
              <a:gd name="connsiteX3" fmla="*/ 1481217 w 1481217"/>
              <a:gd name="connsiteY3" fmla="*/ 48564 h 552180"/>
              <a:gd name="connsiteX0" fmla="*/ 1481217 w 1481217"/>
              <a:gd name="connsiteY0" fmla="*/ 48564 h 552180"/>
              <a:gd name="connsiteX1" fmla="*/ 722021 w 1481217"/>
              <a:gd name="connsiteY1" fmla="*/ 551821 h 552180"/>
              <a:gd name="connsiteX2" fmla="*/ 0 w 1481217"/>
              <a:gd name="connsiteY2" fmla="*/ 0 h 552180"/>
              <a:gd name="connsiteX3" fmla="*/ 1481217 w 1481217"/>
              <a:gd name="connsiteY3" fmla="*/ 48564 h 552180"/>
              <a:gd name="connsiteX0" fmla="*/ 1479346 w 1479346"/>
              <a:gd name="connsiteY0" fmla="*/ 89161 h 552230"/>
              <a:gd name="connsiteX1" fmla="*/ 722021 w 1479346"/>
              <a:gd name="connsiteY1" fmla="*/ 551821 h 552230"/>
              <a:gd name="connsiteX2" fmla="*/ 0 w 1479346"/>
              <a:gd name="connsiteY2" fmla="*/ 0 h 552230"/>
              <a:gd name="connsiteX3" fmla="*/ 1479346 w 1479346"/>
              <a:gd name="connsiteY3" fmla="*/ 89161 h 552230"/>
              <a:gd name="connsiteX0" fmla="*/ 1480281 w 1480281"/>
              <a:gd name="connsiteY0" fmla="*/ 68863 h 552204"/>
              <a:gd name="connsiteX1" fmla="*/ 722021 w 1480281"/>
              <a:gd name="connsiteY1" fmla="*/ 551821 h 552204"/>
              <a:gd name="connsiteX2" fmla="*/ 0 w 1480281"/>
              <a:gd name="connsiteY2" fmla="*/ 0 h 552204"/>
              <a:gd name="connsiteX3" fmla="*/ 1480281 w 1480281"/>
              <a:gd name="connsiteY3" fmla="*/ 68863 h 552204"/>
              <a:gd name="connsiteX0" fmla="*/ 1562742 w 1562743"/>
              <a:gd name="connsiteY0" fmla="*/ 26054 h 552157"/>
              <a:gd name="connsiteX1" fmla="*/ 722021 w 1562743"/>
              <a:gd name="connsiteY1" fmla="*/ 551821 h 552157"/>
              <a:gd name="connsiteX2" fmla="*/ 0 w 1562743"/>
              <a:gd name="connsiteY2" fmla="*/ 0 h 552157"/>
              <a:gd name="connsiteX3" fmla="*/ 1562742 w 1562743"/>
              <a:gd name="connsiteY3" fmla="*/ 26054 h 552157"/>
              <a:gd name="connsiteX0" fmla="*/ 1562742 w 1562741"/>
              <a:gd name="connsiteY0" fmla="*/ 26054 h 552155"/>
              <a:gd name="connsiteX1" fmla="*/ 722021 w 1562741"/>
              <a:gd name="connsiteY1" fmla="*/ 551821 h 552155"/>
              <a:gd name="connsiteX2" fmla="*/ 0 w 1562741"/>
              <a:gd name="connsiteY2" fmla="*/ 0 h 552155"/>
              <a:gd name="connsiteX3" fmla="*/ 1562742 w 1562741"/>
              <a:gd name="connsiteY3" fmla="*/ 26054 h 552155"/>
              <a:gd name="connsiteX0" fmla="*/ 1562742 w 1562743"/>
              <a:gd name="connsiteY0" fmla="*/ 26054 h 552155"/>
              <a:gd name="connsiteX1" fmla="*/ 722021 w 1562743"/>
              <a:gd name="connsiteY1" fmla="*/ 551821 h 552155"/>
              <a:gd name="connsiteX2" fmla="*/ 0 w 1562743"/>
              <a:gd name="connsiteY2" fmla="*/ 0 h 552155"/>
              <a:gd name="connsiteX3" fmla="*/ 1562742 w 1562743"/>
              <a:gd name="connsiteY3" fmla="*/ 26054 h 552155"/>
              <a:gd name="connsiteX0" fmla="*/ 1562742 w 1562741"/>
              <a:gd name="connsiteY0" fmla="*/ 26054 h 552155"/>
              <a:gd name="connsiteX1" fmla="*/ 722021 w 1562741"/>
              <a:gd name="connsiteY1" fmla="*/ 551821 h 552155"/>
              <a:gd name="connsiteX2" fmla="*/ 0 w 1562741"/>
              <a:gd name="connsiteY2" fmla="*/ 0 h 552155"/>
              <a:gd name="connsiteX3" fmla="*/ 1562742 w 1562741"/>
              <a:gd name="connsiteY3" fmla="*/ 26054 h 552155"/>
              <a:gd name="connsiteX0" fmla="*/ 1562742 w 1562743"/>
              <a:gd name="connsiteY0" fmla="*/ 26054 h 551821"/>
              <a:gd name="connsiteX1" fmla="*/ 722021 w 1562743"/>
              <a:gd name="connsiteY1" fmla="*/ 551821 h 551821"/>
              <a:gd name="connsiteX2" fmla="*/ 0 w 1562743"/>
              <a:gd name="connsiteY2" fmla="*/ 0 h 551821"/>
              <a:gd name="connsiteX3" fmla="*/ 1562742 w 1562743"/>
              <a:gd name="connsiteY3" fmla="*/ 26054 h 551821"/>
              <a:gd name="connsiteX0" fmla="*/ 1562742 w 1562741"/>
              <a:gd name="connsiteY0" fmla="*/ 26054 h 589658"/>
              <a:gd name="connsiteX1" fmla="*/ 678183 w 1562741"/>
              <a:gd name="connsiteY1" fmla="*/ 589658 h 589658"/>
              <a:gd name="connsiteX2" fmla="*/ 0 w 1562741"/>
              <a:gd name="connsiteY2" fmla="*/ 0 h 589658"/>
              <a:gd name="connsiteX3" fmla="*/ 1562742 w 1562741"/>
              <a:gd name="connsiteY3" fmla="*/ 26054 h 589658"/>
              <a:gd name="connsiteX0" fmla="*/ 1562742 w 1562742"/>
              <a:gd name="connsiteY0" fmla="*/ 26054 h 591172"/>
              <a:gd name="connsiteX1" fmla="*/ 739289 w 1562742"/>
              <a:gd name="connsiteY1" fmla="*/ 591172 h 591172"/>
              <a:gd name="connsiteX2" fmla="*/ 0 w 1562742"/>
              <a:gd name="connsiteY2" fmla="*/ 0 h 591172"/>
              <a:gd name="connsiteX3" fmla="*/ 1562742 w 1562742"/>
              <a:gd name="connsiteY3" fmla="*/ 26054 h 591172"/>
              <a:gd name="connsiteX0" fmla="*/ 1562742 w 1562742"/>
              <a:gd name="connsiteY0" fmla="*/ 26054 h 591172"/>
              <a:gd name="connsiteX1" fmla="*/ 739289 w 1562742"/>
              <a:gd name="connsiteY1" fmla="*/ 591172 h 591172"/>
              <a:gd name="connsiteX2" fmla="*/ 0 w 1562742"/>
              <a:gd name="connsiteY2" fmla="*/ 0 h 591172"/>
              <a:gd name="connsiteX3" fmla="*/ 1562742 w 1562742"/>
              <a:gd name="connsiteY3" fmla="*/ 26054 h 591172"/>
              <a:gd name="connsiteX0" fmla="*/ 1562742 w 1562742"/>
              <a:gd name="connsiteY0" fmla="*/ 26054 h 591172"/>
              <a:gd name="connsiteX1" fmla="*/ 739289 w 1562742"/>
              <a:gd name="connsiteY1" fmla="*/ 591172 h 591172"/>
              <a:gd name="connsiteX2" fmla="*/ 0 w 1562742"/>
              <a:gd name="connsiteY2" fmla="*/ 0 h 591172"/>
              <a:gd name="connsiteX3" fmla="*/ 1562742 w 1562742"/>
              <a:gd name="connsiteY3" fmla="*/ 26054 h 59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2742" h="591172">
                <a:moveTo>
                  <a:pt x="1562742" y="26054"/>
                </a:moveTo>
                <a:cubicBezTo>
                  <a:pt x="1008875" y="219672"/>
                  <a:pt x="1191397" y="567677"/>
                  <a:pt x="739289" y="591172"/>
                </a:cubicBezTo>
                <a:cubicBezTo>
                  <a:pt x="430094" y="540391"/>
                  <a:pt x="685969" y="59549"/>
                  <a:pt x="0" y="0"/>
                </a:cubicBezTo>
                <a:lnTo>
                  <a:pt x="1562742" y="26054"/>
                </a:lnTo>
                <a:close/>
              </a:path>
            </a:pathLst>
          </a:custGeom>
          <a:solidFill>
            <a:srgbClr val="019AFF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Chord 195">
            <a:extLst>
              <a:ext uri="{FF2B5EF4-FFF2-40B4-BE49-F238E27FC236}">
                <a16:creationId xmlns:a16="http://schemas.microsoft.com/office/drawing/2014/main" id="{1BAE32DD-578F-0659-4456-5B6F70A67BF4}"/>
              </a:ext>
            </a:extLst>
          </p:cNvPr>
          <p:cNvSpPr/>
          <p:nvPr/>
        </p:nvSpPr>
        <p:spPr>
          <a:xfrm rot="10740000">
            <a:off x="9836261" y="9021362"/>
            <a:ext cx="2168408" cy="1691342"/>
          </a:xfrm>
          <a:custGeom>
            <a:avLst/>
            <a:gdLst>
              <a:gd name="connsiteX0" fmla="*/ 1549201 w 1637532"/>
              <a:gd name="connsiteY0" fmla="*/ 1334292 h 1838115"/>
              <a:gd name="connsiteX1" fmla="*/ 790005 w 1637532"/>
              <a:gd name="connsiteY1" fmla="*/ 1837549 h 1838115"/>
              <a:gd name="connsiteX2" fmla="*/ 67984 w 1637532"/>
              <a:gd name="connsiteY2" fmla="*/ 1285728 h 1838115"/>
              <a:gd name="connsiteX3" fmla="*/ 1549201 w 1637532"/>
              <a:gd name="connsiteY3" fmla="*/ 1334292 h 1838115"/>
              <a:gd name="connsiteX0" fmla="*/ 1481217 w 1481217"/>
              <a:gd name="connsiteY0" fmla="*/ 48564 h 552180"/>
              <a:gd name="connsiteX1" fmla="*/ 722021 w 1481217"/>
              <a:gd name="connsiteY1" fmla="*/ 551821 h 552180"/>
              <a:gd name="connsiteX2" fmla="*/ 0 w 1481217"/>
              <a:gd name="connsiteY2" fmla="*/ 0 h 552180"/>
              <a:gd name="connsiteX3" fmla="*/ 1481217 w 1481217"/>
              <a:gd name="connsiteY3" fmla="*/ 48564 h 552180"/>
              <a:gd name="connsiteX0" fmla="*/ 1481217 w 1481217"/>
              <a:gd name="connsiteY0" fmla="*/ 48564 h 552180"/>
              <a:gd name="connsiteX1" fmla="*/ 722021 w 1481217"/>
              <a:gd name="connsiteY1" fmla="*/ 551821 h 552180"/>
              <a:gd name="connsiteX2" fmla="*/ 0 w 1481217"/>
              <a:gd name="connsiteY2" fmla="*/ 0 h 552180"/>
              <a:gd name="connsiteX3" fmla="*/ 1481217 w 1481217"/>
              <a:gd name="connsiteY3" fmla="*/ 48564 h 552180"/>
              <a:gd name="connsiteX0" fmla="*/ 1479346 w 1479346"/>
              <a:gd name="connsiteY0" fmla="*/ 89161 h 552230"/>
              <a:gd name="connsiteX1" fmla="*/ 722021 w 1479346"/>
              <a:gd name="connsiteY1" fmla="*/ 551821 h 552230"/>
              <a:gd name="connsiteX2" fmla="*/ 0 w 1479346"/>
              <a:gd name="connsiteY2" fmla="*/ 0 h 552230"/>
              <a:gd name="connsiteX3" fmla="*/ 1479346 w 1479346"/>
              <a:gd name="connsiteY3" fmla="*/ 89161 h 552230"/>
              <a:gd name="connsiteX0" fmla="*/ 1480281 w 1480281"/>
              <a:gd name="connsiteY0" fmla="*/ 68863 h 552204"/>
              <a:gd name="connsiteX1" fmla="*/ 722021 w 1480281"/>
              <a:gd name="connsiteY1" fmla="*/ 551821 h 552204"/>
              <a:gd name="connsiteX2" fmla="*/ 0 w 1480281"/>
              <a:gd name="connsiteY2" fmla="*/ 0 h 552204"/>
              <a:gd name="connsiteX3" fmla="*/ 1480281 w 1480281"/>
              <a:gd name="connsiteY3" fmla="*/ 68863 h 552204"/>
              <a:gd name="connsiteX0" fmla="*/ 1562742 w 1562743"/>
              <a:gd name="connsiteY0" fmla="*/ 26054 h 552157"/>
              <a:gd name="connsiteX1" fmla="*/ 722021 w 1562743"/>
              <a:gd name="connsiteY1" fmla="*/ 551821 h 552157"/>
              <a:gd name="connsiteX2" fmla="*/ 0 w 1562743"/>
              <a:gd name="connsiteY2" fmla="*/ 0 h 552157"/>
              <a:gd name="connsiteX3" fmla="*/ 1562742 w 1562743"/>
              <a:gd name="connsiteY3" fmla="*/ 26054 h 552157"/>
              <a:gd name="connsiteX0" fmla="*/ 1562742 w 1562741"/>
              <a:gd name="connsiteY0" fmla="*/ 26054 h 552155"/>
              <a:gd name="connsiteX1" fmla="*/ 722021 w 1562741"/>
              <a:gd name="connsiteY1" fmla="*/ 551821 h 552155"/>
              <a:gd name="connsiteX2" fmla="*/ 0 w 1562741"/>
              <a:gd name="connsiteY2" fmla="*/ 0 h 552155"/>
              <a:gd name="connsiteX3" fmla="*/ 1562742 w 1562741"/>
              <a:gd name="connsiteY3" fmla="*/ 26054 h 552155"/>
              <a:gd name="connsiteX0" fmla="*/ 1562742 w 1562743"/>
              <a:gd name="connsiteY0" fmla="*/ 26054 h 552155"/>
              <a:gd name="connsiteX1" fmla="*/ 722021 w 1562743"/>
              <a:gd name="connsiteY1" fmla="*/ 551821 h 552155"/>
              <a:gd name="connsiteX2" fmla="*/ 0 w 1562743"/>
              <a:gd name="connsiteY2" fmla="*/ 0 h 552155"/>
              <a:gd name="connsiteX3" fmla="*/ 1562742 w 1562743"/>
              <a:gd name="connsiteY3" fmla="*/ 26054 h 552155"/>
              <a:gd name="connsiteX0" fmla="*/ 1562742 w 1562741"/>
              <a:gd name="connsiteY0" fmla="*/ 26054 h 552155"/>
              <a:gd name="connsiteX1" fmla="*/ 722021 w 1562741"/>
              <a:gd name="connsiteY1" fmla="*/ 551821 h 552155"/>
              <a:gd name="connsiteX2" fmla="*/ 0 w 1562741"/>
              <a:gd name="connsiteY2" fmla="*/ 0 h 552155"/>
              <a:gd name="connsiteX3" fmla="*/ 1562742 w 1562741"/>
              <a:gd name="connsiteY3" fmla="*/ 26054 h 552155"/>
              <a:gd name="connsiteX0" fmla="*/ 1562742 w 1562743"/>
              <a:gd name="connsiteY0" fmla="*/ 26054 h 551821"/>
              <a:gd name="connsiteX1" fmla="*/ 722021 w 1562743"/>
              <a:gd name="connsiteY1" fmla="*/ 551821 h 551821"/>
              <a:gd name="connsiteX2" fmla="*/ 0 w 1562743"/>
              <a:gd name="connsiteY2" fmla="*/ 0 h 551821"/>
              <a:gd name="connsiteX3" fmla="*/ 1562742 w 1562743"/>
              <a:gd name="connsiteY3" fmla="*/ 26054 h 551821"/>
              <a:gd name="connsiteX0" fmla="*/ 1562742 w 1562741"/>
              <a:gd name="connsiteY0" fmla="*/ 26054 h 589658"/>
              <a:gd name="connsiteX1" fmla="*/ 678183 w 1562741"/>
              <a:gd name="connsiteY1" fmla="*/ 589658 h 589658"/>
              <a:gd name="connsiteX2" fmla="*/ 0 w 1562741"/>
              <a:gd name="connsiteY2" fmla="*/ 0 h 589658"/>
              <a:gd name="connsiteX3" fmla="*/ 1562742 w 1562741"/>
              <a:gd name="connsiteY3" fmla="*/ 26054 h 589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2741" h="589658">
                <a:moveTo>
                  <a:pt x="1562742" y="26054"/>
                </a:moveTo>
                <a:cubicBezTo>
                  <a:pt x="1008875" y="219672"/>
                  <a:pt x="1080308" y="553947"/>
                  <a:pt x="678183" y="589658"/>
                </a:cubicBezTo>
                <a:cubicBezTo>
                  <a:pt x="368988" y="538877"/>
                  <a:pt x="615478" y="167583"/>
                  <a:pt x="0" y="0"/>
                </a:cubicBezTo>
                <a:lnTo>
                  <a:pt x="1562742" y="26054"/>
                </a:lnTo>
                <a:close/>
              </a:path>
            </a:pathLst>
          </a:custGeom>
          <a:solidFill>
            <a:srgbClr val="FF198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0451B8B4-C451-99E3-BE2A-7220EFA1C4CF}"/>
              </a:ext>
            </a:extLst>
          </p:cNvPr>
          <p:cNvGrpSpPr/>
          <p:nvPr/>
        </p:nvGrpSpPr>
        <p:grpSpPr>
          <a:xfrm>
            <a:off x="8531994" y="7400453"/>
            <a:ext cx="3479679" cy="3684174"/>
            <a:chOff x="8979660" y="6373030"/>
            <a:chExt cx="2478376" cy="1879133"/>
          </a:xfrm>
        </p:grpSpPr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FE2D4205-8B15-B20D-2973-5DD71AD6FA01}"/>
                </a:ext>
              </a:extLst>
            </p:cNvPr>
            <p:cNvCxnSpPr>
              <a:cxnSpLocks/>
            </p:cNvCxnSpPr>
            <p:nvPr/>
          </p:nvCxnSpPr>
          <p:spPr>
            <a:xfrm>
              <a:off x="9306429" y="6373030"/>
              <a:ext cx="1" cy="1699545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3D7F7BAE-C804-FD1B-C837-30FDEEC885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12651" y="8049590"/>
              <a:ext cx="214538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C88DA1D3-0C2C-49BD-8C40-0C5A7E682FBD}"/>
                </a:ext>
              </a:extLst>
            </p:cNvPr>
            <p:cNvSpPr txBox="1"/>
            <p:nvPr/>
          </p:nvSpPr>
          <p:spPr>
            <a:xfrm rot="16200000">
              <a:off x="8753457" y="7311486"/>
              <a:ext cx="671618" cy="219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cs typeface="Times New Roman" panose="02020603050405020304" pitchFamily="18" charset="0"/>
                </a:rPr>
                <a:t>Density</a:t>
              </a:r>
              <a:endParaRPr 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1" name="TextBox 340">
                  <a:extLst>
                    <a:ext uri="{FF2B5EF4-FFF2-40B4-BE49-F238E27FC236}">
                      <a16:creationId xmlns:a16="http://schemas.microsoft.com/office/drawing/2014/main" id="{46B5C0E3-D5C2-64A2-05EC-AE8AA2A87682}"/>
                    </a:ext>
                  </a:extLst>
                </p:cNvPr>
                <p:cNvSpPr txBox="1"/>
                <p:nvPr/>
              </p:nvSpPr>
              <p:spPr>
                <a:xfrm>
                  <a:off x="9220200" y="8078893"/>
                  <a:ext cx="2237832" cy="1732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/>
                    <a:t>Distribution of </a:t>
                  </a:r>
                  <a14:m>
                    <m:oMath xmlns:m="http://schemas.openxmlformats.org/officeDocument/2006/math">
                      <m:acc>
                        <m:accPr>
                          <m:chr m:val="⃖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⃗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</m:oMath>
                  </a14:m>
                  <a:endParaRPr lang="en-US" sz="1400" baseline="-25000" dirty="0"/>
                </a:p>
              </p:txBody>
            </p:sp>
          </mc:Choice>
          <mc:Fallback xmlns="">
            <p:sp>
              <p:nvSpPr>
                <p:cNvPr id="341" name="TextBox 340">
                  <a:extLst>
                    <a:ext uri="{FF2B5EF4-FFF2-40B4-BE49-F238E27FC236}">
                      <a16:creationId xmlns:a16="http://schemas.microsoft.com/office/drawing/2014/main" id="{46B5C0E3-D5C2-64A2-05EC-AE8AA2A876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0200" y="8078893"/>
                  <a:ext cx="2237832" cy="173270"/>
                </a:xfrm>
                <a:prstGeom prst="rect">
                  <a:avLst/>
                </a:prstGeom>
                <a:blipFill>
                  <a:blip r:embed="rId14"/>
                  <a:stretch>
                    <a:fillRect t="-10909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6D67F216-37CB-E119-59E3-2193F6BF9A74}"/>
                </a:ext>
              </a:extLst>
            </p:cNvPr>
            <p:cNvCxnSpPr>
              <a:cxnSpLocks/>
            </p:cNvCxnSpPr>
            <p:nvPr/>
          </p:nvCxnSpPr>
          <p:spPr>
            <a:xfrm>
              <a:off x="10150699" y="6475295"/>
              <a:ext cx="0" cy="1582344"/>
            </a:xfrm>
            <a:prstGeom prst="line">
              <a:avLst/>
            </a:prstGeom>
            <a:ln w="762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94233D5-F234-AF9B-FB13-35E630D8504B}"/>
              </a:ext>
            </a:extLst>
          </p:cNvPr>
          <p:cNvGrpSpPr/>
          <p:nvPr/>
        </p:nvGrpSpPr>
        <p:grpSpPr>
          <a:xfrm rot="3391277">
            <a:off x="6632028" y="7468490"/>
            <a:ext cx="1937653" cy="800635"/>
            <a:chOff x="6544647" y="10435690"/>
            <a:chExt cx="1937653" cy="8006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20EE5CCC-181E-1C6F-FB79-BFF2DA236C62}"/>
                    </a:ext>
                  </a:extLst>
                </p:cNvPr>
                <p:cNvSpPr txBox="1"/>
                <p:nvPr/>
              </p:nvSpPr>
              <p:spPr>
                <a:xfrm rot="19744534">
                  <a:off x="6544647" y="10435690"/>
                  <a:ext cx="1937653" cy="4103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+mj-lt"/>
                    </a:rPr>
                    <a:t>Estimate </a:t>
                  </a:r>
                  <a14:m>
                    <m:oMath xmlns:m="http://schemas.openxmlformats.org/officeDocument/2006/math">
                      <m:acc>
                        <m:accPr>
                          <m:chr m:val="⃖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</m:oMath>
                  </a14:m>
                  <a:endParaRPr lang="en-US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20EE5CCC-181E-1C6F-FB79-BFF2DA236C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744534">
                  <a:off x="6544647" y="10435690"/>
                  <a:ext cx="1937653" cy="41036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Arrow: Right 35">
              <a:extLst>
                <a:ext uri="{FF2B5EF4-FFF2-40B4-BE49-F238E27FC236}">
                  <a16:creationId xmlns:a16="http://schemas.microsoft.com/office/drawing/2014/main" id="{9D530419-7ACB-6DA2-4BF3-B4747966845B}"/>
                </a:ext>
              </a:extLst>
            </p:cNvPr>
            <p:cNvSpPr/>
            <p:nvPr/>
          </p:nvSpPr>
          <p:spPr>
            <a:xfrm rot="19744534">
              <a:off x="7254958" y="10712062"/>
              <a:ext cx="1130136" cy="524263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A2F61DC-F461-6AE4-EA14-2AE25CA26DB4}"/>
                  </a:ext>
                </a:extLst>
              </p:cNvPr>
              <p:cNvSpPr txBox="1"/>
              <p:nvPr/>
            </p:nvSpPr>
            <p:spPr>
              <a:xfrm>
                <a:off x="5017206" y="6125274"/>
                <a:ext cx="22657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dirty="0">
                    <a:latin typeface="+mj-lt"/>
                  </a:rPr>
                  <a:t>Biased data,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⃖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A2F61DC-F461-6AE4-EA14-2AE25CA26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206" y="6125274"/>
                <a:ext cx="2265793" cy="369332"/>
              </a:xfrm>
              <a:prstGeom prst="rect">
                <a:avLst/>
              </a:prstGeom>
              <a:blipFill>
                <a:blip r:embed="rId16"/>
                <a:stretch>
                  <a:fillRect l="-215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7F3C62-25C8-0C6F-0FB9-FF6668DE37D5}"/>
                  </a:ext>
                </a:extLst>
              </p:cNvPr>
              <p:cNvSpPr txBox="1"/>
              <p:nvPr/>
            </p:nvSpPr>
            <p:spPr>
              <a:xfrm>
                <a:off x="8988957" y="8588739"/>
                <a:ext cx="630937" cy="5870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7F3C62-25C8-0C6F-0FB9-FF6668DE3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8957" y="8588739"/>
                <a:ext cx="630937" cy="58708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3071C1-15A9-92AC-2892-1FE6BAEAF3FF}"/>
                  </a:ext>
                </a:extLst>
              </p:cNvPr>
              <p:cNvSpPr txBox="1"/>
              <p:nvPr/>
            </p:nvSpPr>
            <p:spPr>
              <a:xfrm>
                <a:off x="11291501" y="9206889"/>
                <a:ext cx="630937" cy="5870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⃖"/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3071C1-15A9-92AC-2892-1FE6BAEAF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1501" y="9206889"/>
                <a:ext cx="630937" cy="58708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5A62DD-BE24-6677-382E-1DB7FEED921E}"/>
                  </a:ext>
                </a:extLst>
              </p:cNvPr>
              <p:cNvSpPr txBox="1"/>
              <p:nvPr/>
            </p:nvSpPr>
            <p:spPr>
              <a:xfrm>
                <a:off x="10009631" y="7108100"/>
                <a:ext cx="63093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5A62DD-BE24-6677-382E-1DB7FEED9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9631" y="7108100"/>
                <a:ext cx="630937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561F3A-1B2A-EE22-C0EF-6DADA599CD07}"/>
                  </a:ext>
                </a:extLst>
              </p:cNvPr>
              <p:cNvSpPr txBox="1"/>
              <p:nvPr/>
            </p:nvSpPr>
            <p:spPr>
              <a:xfrm>
                <a:off x="4697340" y="10772964"/>
                <a:ext cx="13986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dirty="0">
                    <a:solidFill>
                      <a:srgbClr val="13A1FF"/>
                    </a:solidFill>
                  </a:rPr>
                  <a:t>Estimate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561F3A-1B2A-EE22-C0EF-6DADA599C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7340" y="10772964"/>
                <a:ext cx="1398658" cy="369332"/>
              </a:xfrm>
              <a:prstGeom prst="rect">
                <a:avLst/>
              </a:prstGeom>
              <a:blipFill>
                <a:blip r:embed="rId20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row: Down 21">
            <a:extLst>
              <a:ext uri="{FF2B5EF4-FFF2-40B4-BE49-F238E27FC236}">
                <a16:creationId xmlns:a16="http://schemas.microsoft.com/office/drawing/2014/main" id="{9A690068-3C33-B575-FA08-325315CD244B}"/>
              </a:ext>
            </a:extLst>
          </p:cNvPr>
          <p:cNvSpPr/>
          <p:nvPr/>
        </p:nvSpPr>
        <p:spPr>
          <a:xfrm>
            <a:off x="5161127" y="11175157"/>
            <a:ext cx="92680" cy="369329"/>
          </a:xfrm>
          <a:prstGeom prst="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A2D1C7D-6B83-EC27-47AF-63643BADA87D}"/>
                  </a:ext>
                </a:extLst>
              </p:cNvPr>
              <p:cNvSpPr txBox="1"/>
              <p:nvPr/>
            </p:nvSpPr>
            <p:spPr>
              <a:xfrm>
                <a:off x="5565842" y="11161868"/>
                <a:ext cx="14543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dirty="0">
                    <a:solidFill>
                      <a:srgbClr val="FF914A"/>
                    </a:solidFill>
                  </a:rPr>
                  <a:t>Fixed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A2D1C7D-6B83-EC27-47AF-63643BADA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842" y="11161868"/>
                <a:ext cx="1454388" cy="369332"/>
              </a:xfrm>
              <a:prstGeom prst="rect">
                <a:avLst/>
              </a:prstGeom>
              <a:blipFill>
                <a:blip r:embed="rId21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rrow: Down 37">
            <a:extLst>
              <a:ext uri="{FF2B5EF4-FFF2-40B4-BE49-F238E27FC236}">
                <a16:creationId xmlns:a16="http://schemas.microsoft.com/office/drawing/2014/main" id="{1AB760FC-0AF7-7F80-21D5-968485C30D91}"/>
              </a:ext>
            </a:extLst>
          </p:cNvPr>
          <p:cNvSpPr/>
          <p:nvPr/>
        </p:nvSpPr>
        <p:spPr>
          <a:xfrm>
            <a:off x="5569184" y="11547150"/>
            <a:ext cx="92680" cy="369329"/>
          </a:xfrm>
          <a:prstGeom prst="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47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2922874D-1660-7D90-8EDF-261A9DF234AD}"/>
              </a:ext>
            </a:extLst>
          </p:cNvPr>
          <p:cNvGrpSpPr/>
          <p:nvPr/>
        </p:nvGrpSpPr>
        <p:grpSpPr>
          <a:xfrm>
            <a:off x="1319044" y="4531347"/>
            <a:ext cx="4336587" cy="3132020"/>
            <a:chOff x="-332279" y="4329401"/>
            <a:chExt cx="4336587" cy="3132020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2E757205-33D2-47A3-98C2-40CE2CAEFC1A}"/>
                </a:ext>
              </a:extLst>
            </p:cNvPr>
            <p:cNvSpPr txBox="1"/>
            <p:nvPr/>
          </p:nvSpPr>
          <p:spPr>
            <a:xfrm>
              <a:off x="506525" y="6938201"/>
              <a:ext cx="21453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Environmental Variable, </a:t>
              </a:r>
              <a:r>
                <a:rPr lang="en-US" sz="1400" i="1" dirty="0"/>
                <a:t>x</a:t>
              </a:r>
              <a:endParaRPr lang="en-US" sz="1400" dirty="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BE6BEEC0-DAD3-FCC9-53D1-0DDC46CD7508}"/>
                </a:ext>
              </a:extLst>
            </p:cNvPr>
            <p:cNvGrpSpPr/>
            <p:nvPr/>
          </p:nvGrpSpPr>
          <p:grpSpPr>
            <a:xfrm>
              <a:off x="-332279" y="4329401"/>
              <a:ext cx="4336587" cy="2878563"/>
              <a:chOff x="-332279" y="4329401"/>
              <a:chExt cx="4336587" cy="2878563"/>
            </a:xfrm>
          </p:grpSpPr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2C22B33C-FBBF-4FA2-310D-BC1156C0F1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3733" y="5482567"/>
                <a:ext cx="1767015" cy="1208801"/>
              </a:xfrm>
              <a:prstGeom prst="line">
                <a:avLst/>
              </a:prstGeom>
              <a:ln w="76200">
                <a:solidFill>
                  <a:schemeClr val="bg1">
                    <a:alpha val="62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1C28A26-F9CE-4E06-A12E-811FCEE87E7C}"/>
                  </a:ext>
                </a:extLst>
              </p:cNvPr>
              <p:cNvSpPr txBox="1"/>
              <p:nvPr/>
            </p:nvSpPr>
            <p:spPr>
              <a:xfrm rot="16200000">
                <a:off x="-659753" y="6071727"/>
                <a:ext cx="19646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cs typeface="Times New Roman" panose="02020603050405020304" pitchFamily="18" charset="0"/>
                  </a:rPr>
                  <a:t> λ</a:t>
                </a:r>
                <a:endParaRPr lang="en-US" sz="1400" dirty="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119F3F9-2218-4F5F-ED88-13A6952DEBC6}"/>
                  </a:ext>
                </a:extLst>
              </p:cNvPr>
              <p:cNvSpPr/>
              <p:nvPr/>
            </p:nvSpPr>
            <p:spPr>
              <a:xfrm>
                <a:off x="795196" y="5403872"/>
                <a:ext cx="190878" cy="23221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61C582D-9790-1E13-82B3-19A50178B1F6}"/>
                  </a:ext>
                </a:extLst>
              </p:cNvPr>
              <p:cNvSpPr/>
              <p:nvPr/>
            </p:nvSpPr>
            <p:spPr>
              <a:xfrm>
                <a:off x="1592039" y="5987433"/>
                <a:ext cx="190878" cy="23221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8BC35DF-BFF1-F2B3-9FF6-E22A39FF4032}"/>
                  </a:ext>
                </a:extLst>
              </p:cNvPr>
              <p:cNvSpPr/>
              <p:nvPr/>
            </p:nvSpPr>
            <p:spPr>
              <a:xfrm>
                <a:off x="2477591" y="6575259"/>
                <a:ext cx="190878" cy="23221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121D06A0-53FC-A847-EF1E-030A298C49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396" y="5229534"/>
                <a:ext cx="1" cy="1699545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C013F99B-D7A1-1E98-987D-3F3B6D58B6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9618" y="6892500"/>
                <a:ext cx="2145385" cy="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B7339A70-E348-CC8F-7BE0-4F29421EA9DA}"/>
                  </a:ext>
                </a:extLst>
              </p:cNvPr>
              <p:cNvSpPr txBox="1"/>
              <p:nvPr/>
            </p:nvSpPr>
            <p:spPr>
              <a:xfrm>
                <a:off x="-332279" y="4329401"/>
                <a:ext cx="43365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(A) </a:t>
                </a:r>
                <a:r>
                  <a:rPr lang="el-GR" sz="1600" dirty="0">
                    <a:cs typeface="Times New Roman" panose="02020603050405020304" pitchFamily="18" charset="0"/>
                  </a:rPr>
                  <a:t>λ</a:t>
                </a:r>
                <a:r>
                  <a:rPr lang="en-US" sz="1600" dirty="0">
                    <a:cs typeface="Times New Roman" panose="02020603050405020304" pitchFamily="18" charset="0"/>
                  </a:rPr>
                  <a:t> (points) varies </a:t>
                </a:r>
                <a:r>
                  <a:rPr lang="en-US" sz="1600" dirty="0"/>
                  <a:t>across a hypothetical environmental variable, </a:t>
                </a:r>
                <a:r>
                  <a:rPr lang="en-US" sz="1600" i="1" dirty="0"/>
                  <a:t>x</a:t>
                </a:r>
                <a:r>
                  <a:rPr lang="en-US" sz="1600" dirty="0"/>
                  <a:t>, with a known relationship, </a:t>
                </a:r>
                <a:r>
                  <a:rPr lang="el-GR" sz="1600" dirty="0">
                    <a:cs typeface="Times New Roman" panose="02020603050405020304" pitchFamily="18" charset="0"/>
                  </a:rPr>
                  <a:t>β</a:t>
                </a:r>
                <a:r>
                  <a:rPr lang="en-US" sz="1600" dirty="0">
                    <a:cs typeface="Times New Roman" panose="02020603050405020304" pitchFamily="18" charset="0"/>
                  </a:rPr>
                  <a:t> (dashed line)</a:t>
                </a:r>
                <a:endParaRPr lang="en-US" sz="1600" dirty="0"/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1EBFD36-DB21-5776-297C-420DF7D54557}"/>
              </a:ext>
            </a:extLst>
          </p:cNvPr>
          <p:cNvGrpSpPr/>
          <p:nvPr/>
        </p:nvGrpSpPr>
        <p:grpSpPr>
          <a:xfrm>
            <a:off x="7151932" y="7781747"/>
            <a:ext cx="3270555" cy="2982827"/>
            <a:chOff x="7426582" y="7561204"/>
            <a:chExt cx="3270555" cy="2982827"/>
          </a:xfrm>
        </p:grpSpPr>
        <p:sp>
          <p:nvSpPr>
            <p:cNvPr id="198" name="Chord 195">
              <a:extLst>
                <a:ext uri="{FF2B5EF4-FFF2-40B4-BE49-F238E27FC236}">
                  <a16:creationId xmlns:a16="http://schemas.microsoft.com/office/drawing/2014/main" id="{B0283CB6-2867-DD74-321F-694A56F1727E}"/>
                </a:ext>
              </a:extLst>
            </p:cNvPr>
            <p:cNvSpPr/>
            <p:nvPr/>
          </p:nvSpPr>
          <p:spPr>
            <a:xfrm rot="10641725">
              <a:off x="8040301" y="8852046"/>
              <a:ext cx="1129121" cy="1266889"/>
            </a:xfrm>
            <a:custGeom>
              <a:avLst/>
              <a:gdLst>
                <a:gd name="connsiteX0" fmla="*/ 1549201 w 1637532"/>
                <a:gd name="connsiteY0" fmla="*/ 1334292 h 1838115"/>
                <a:gd name="connsiteX1" fmla="*/ 790005 w 1637532"/>
                <a:gd name="connsiteY1" fmla="*/ 1837549 h 1838115"/>
                <a:gd name="connsiteX2" fmla="*/ 67984 w 1637532"/>
                <a:gd name="connsiteY2" fmla="*/ 1285728 h 1838115"/>
                <a:gd name="connsiteX3" fmla="*/ 1549201 w 1637532"/>
                <a:gd name="connsiteY3" fmla="*/ 1334292 h 1838115"/>
                <a:gd name="connsiteX0" fmla="*/ 1481217 w 1481217"/>
                <a:gd name="connsiteY0" fmla="*/ 48564 h 552180"/>
                <a:gd name="connsiteX1" fmla="*/ 722021 w 1481217"/>
                <a:gd name="connsiteY1" fmla="*/ 551821 h 552180"/>
                <a:gd name="connsiteX2" fmla="*/ 0 w 1481217"/>
                <a:gd name="connsiteY2" fmla="*/ 0 h 552180"/>
                <a:gd name="connsiteX3" fmla="*/ 1481217 w 1481217"/>
                <a:gd name="connsiteY3" fmla="*/ 48564 h 552180"/>
                <a:gd name="connsiteX0" fmla="*/ 1481217 w 1481217"/>
                <a:gd name="connsiteY0" fmla="*/ 48564 h 552180"/>
                <a:gd name="connsiteX1" fmla="*/ 722021 w 1481217"/>
                <a:gd name="connsiteY1" fmla="*/ 551821 h 552180"/>
                <a:gd name="connsiteX2" fmla="*/ 0 w 1481217"/>
                <a:gd name="connsiteY2" fmla="*/ 0 h 552180"/>
                <a:gd name="connsiteX3" fmla="*/ 1481217 w 1481217"/>
                <a:gd name="connsiteY3" fmla="*/ 48564 h 552180"/>
                <a:gd name="connsiteX0" fmla="*/ 1479346 w 1479346"/>
                <a:gd name="connsiteY0" fmla="*/ 89161 h 552230"/>
                <a:gd name="connsiteX1" fmla="*/ 722021 w 1479346"/>
                <a:gd name="connsiteY1" fmla="*/ 551821 h 552230"/>
                <a:gd name="connsiteX2" fmla="*/ 0 w 1479346"/>
                <a:gd name="connsiteY2" fmla="*/ 0 h 552230"/>
                <a:gd name="connsiteX3" fmla="*/ 1479346 w 1479346"/>
                <a:gd name="connsiteY3" fmla="*/ 89161 h 552230"/>
                <a:gd name="connsiteX0" fmla="*/ 1480281 w 1480281"/>
                <a:gd name="connsiteY0" fmla="*/ 68863 h 552204"/>
                <a:gd name="connsiteX1" fmla="*/ 722021 w 1480281"/>
                <a:gd name="connsiteY1" fmla="*/ 551821 h 552204"/>
                <a:gd name="connsiteX2" fmla="*/ 0 w 1480281"/>
                <a:gd name="connsiteY2" fmla="*/ 0 h 552204"/>
                <a:gd name="connsiteX3" fmla="*/ 1480281 w 1480281"/>
                <a:gd name="connsiteY3" fmla="*/ 68863 h 552204"/>
                <a:gd name="connsiteX0" fmla="*/ 1562742 w 1562743"/>
                <a:gd name="connsiteY0" fmla="*/ 26054 h 552157"/>
                <a:gd name="connsiteX1" fmla="*/ 722021 w 1562743"/>
                <a:gd name="connsiteY1" fmla="*/ 551821 h 552157"/>
                <a:gd name="connsiteX2" fmla="*/ 0 w 1562743"/>
                <a:gd name="connsiteY2" fmla="*/ 0 h 552157"/>
                <a:gd name="connsiteX3" fmla="*/ 1562742 w 1562743"/>
                <a:gd name="connsiteY3" fmla="*/ 26054 h 552157"/>
                <a:gd name="connsiteX0" fmla="*/ 1562742 w 1562741"/>
                <a:gd name="connsiteY0" fmla="*/ 26054 h 552155"/>
                <a:gd name="connsiteX1" fmla="*/ 722021 w 1562741"/>
                <a:gd name="connsiteY1" fmla="*/ 551821 h 552155"/>
                <a:gd name="connsiteX2" fmla="*/ 0 w 1562741"/>
                <a:gd name="connsiteY2" fmla="*/ 0 h 552155"/>
                <a:gd name="connsiteX3" fmla="*/ 1562742 w 1562741"/>
                <a:gd name="connsiteY3" fmla="*/ 26054 h 552155"/>
                <a:gd name="connsiteX0" fmla="*/ 1562742 w 1562743"/>
                <a:gd name="connsiteY0" fmla="*/ 26054 h 552155"/>
                <a:gd name="connsiteX1" fmla="*/ 722021 w 1562743"/>
                <a:gd name="connsiteY1" fmla="*/ 551821 h 552155"/>
                <a:gd name="connsiteX2" fmla="*/ 0 w 1562743"/>
                <a:gd name="connsiteY2" fmla="*/ 0 h 552155"/>
                <a:gd name="connsiteX3" fmla="*/ 1562742 w 1562743"/>
                <a:gd name="connsiteY3" fmla="*/ 26054 h 552155"/>
                <a:gd name="connsiteX0" fmla="*/ 1562742 w 1562741"/>
                <a:gd name="connsiteY0" fmla="*/ 26054 h 552155"/>
                <a:gd name="connsiteX1" fmla="*/ 722021 w 1562741"/>
                <a:gd name="connsiteY1" fmla="*/ 551821 h 552155"/>
                <a:gd name="connsiteX2" fmla="*/ 0 w 1562741"/>
                <a:gd name="connsiteY2" fmla="*/ 0 h 552155"/>
                <a:gd name="connsiteX3" fmla="*/ 1562742 w 1562741"/>
                <a:gd name="connsiteY3" fmla="*/ 26054 h 552155"/>
                <a:gd name="connsiteX0" fmla="*/ 1562742 w 1562743"/>
                <a:gd name="connsiteY0" fmla="*/ 26054 h 551821"/>
                <a:gd name="connsiteX1" fmla="*/ 722021 w 1562743"/>
                <a:gd name="connsiteY1" fmla="*/ 551821 h 551821"/>
                <a:gd name="connsiteX2" fmla="*/ 0 w 1562743"/>
                <a:gd name="connsiteY2" fmla="*/ 0 h 551821"/>
                <a:gd name="connsiteX3" fmla="*/ 1562742 w 1562743"/>
                <a:gd name="connsiteY3" fmla="*/ 26054 h 551821"/>
                <a:gd name="connsiteX0" fmla="*/ 1562742 w 1562741"/>
                <a:gd name="connsiteY0" fmla="*/ 26054 h 589658"/>
                <a:gd name="connsiteX1" fmla="*/ 678183 w 1562741"/>
                <a:gd name="connsiteY1" fmla="*/ 589658 h 589658"/>
                <a:gd name="connsiteX2" fmla="*/ 0 w 1562741"/>
                <a:gd name="connsiteY2" fmla="*/ 0 h 589658"/>
                <a:gd name="connsiteX3" fmla="*/ 1562742 w 1562741"/>
                <a:gd name="connsiteY3" fmla="*/ 26054 h 589658"/>
                <a:gd name="connsiteX0" fmla="*/ 1562742 w 1562742"/>
                <a:gd name="connsiteY0" fmla="*/ 26054 h 591172"/>
                <a:gd name="connsiteX1" fmla="*/ 739289 w 1562742"/>
                <a:gd name="connsiteY1" fmla="*/ 591172 h 591172"/>
                <a:gd name="connsiteX2" fmla="*/ 0 w 1562742"/>
                <a:gd name="connsiteY2" fmla="*/ 0 h 591172"/>
                <a:gd name="connsiteX3" fmla="*/ 1562742 w 1562742"/>
                <a:gd name="connsiteY3" fmla="*/ 26054 h 591172"/>
                <a:gd name="connsiteX0" fmla="*/ 1562742 w 1562742"/>
                <a:gd name="connsiteY0" fmla="*/ 26054 h 591172"/>
                <a:gd name="connsiteX1" fmla="*/ 739289 w 1562742"/>
                <a:gd name="connsiteY1" fmla="*/ 591172 h 591172"/>
                <a:gd name="connsiteX2" fmla="*/ 0 w 1562742"/>
                <a:gd name="connsiteY2" fmla="*/ 0 h 591172"/>
                <a:gd name="connsiteX3" fmla="*/ 1562742 w 1562742"/>
                <a:gd name="connsiteY3" fmla="*/ 26054 h 591172"/>
                <a:gd name="connsiteX0" fmla="*/ 1562742 w 1562742"/>
                <a:gd name="connsiteY0" fmla="*/ 26054 h 591172"/>
                <a:gd name="connsiteX1" fmla="*/ 739289 w 1562742"/>
                <a:gd name="connsiteY1" fmla="*/ 591172 h 591172"/>
                <a:gd name="connsiteX2" fmla="*/ 0 w 1562742"/>
                <a:gd name="connsiteY2" fmla="*/ 0 h 591172"/>
                <a:gd name="connsiteX3" fmla="*/ 1562742 w 1562742"/>
                <a:gd name="connsiteY3" fmla="*/ 26054 h 59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2742" h="591172">
                  <a:moveTo>
                    <a:pt x="1562742" y="26054"/>
                  </a:moveTo>
                  <a:cubicBezTo>
                    <a:pt x="1008875" y="219672"/>
                    <a:pt x="1191397" y="567677"/>
                    <a:pt x="739289" y="591172"/>
                  </a:cubicBezTo>
                  <a:cubicBezTo>
                    <a:pt x="430094" y="540391"/>
                    <a:pt x="685969" y="59549"/>
                    <a:pt x="0" y="0"/>
                  </a:cubicBezTo>
                  <a:lnTo>
                    <a:pt x="1562742" y="26054"/>
                  </a:lnTo>
                  <a:close/>
                </a:path>
              </a:pathLst>
            </a:custGeom>
            <a:solidFill>
              <a:srgbClr val="019AFF">
                <a:alpha val="8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Chord 195">
              <a:extLst>
                <a:ext uri="{FF2B5EF4-FFF2-40B4-BE49-F238E27FC236}">
                  <a16:creationId xmlns:a16="http://schemas.microsoft.com/office/drawing/2014/main" id="{E94DCF0E-83A9-5026-9A97-6AB581B8D55F}"/>
                </a:ext>
              </a:extLst>
            </p:cNvPr>
            <p:cNvSpPr/>
            <p:nvPr/>
          </p:nvSpPr>
          <p:spPr>
            <a:xfrm rot="10641725">
              <a:off x="8711723" y="8966497"/>
              <a:ext cx="1347710" cy="1092589"/>
            </a:xfrm>
            <a:custGeom>
              <a:avLst/>
              <a:gdLst>
                <a:gd name="connsiteX0" fmla="*/ 1549201 w 1637532"/>
                <a:gd name="connsiteY0" fmla="*/ 1334292 h 1838115"/>
                <a:gd name="connsiteX1" fmla="*/ 790005 w 1637532"/>
                <a:gd name="connsiteY1" fmla="*/ 1837549 h 1838115"/>
                <a:gd name="connsiteX2" fmla="*/ 67984 w 1637532"/>
                <a:gd name="connsiteY2" fmla="*/ 1285728 h 1838115"/>
                <a:gd name="connsiteX3" fmla="*/ 1549201 w 1637532"/>
                <a:gd name="connsiteY3" fmla="*/ 1334292 h 1838115"/>
                <a:gd name="connsiteX0" fmla="*/ 1481217 w 1481217"/>
                <a:gd name="connsiteY0" fmla="*/ 48564 h 552180"/>
                <a:gd name="connsiteX1" fmla="*/ 722021 w 1481217"/>
                <a:gd name="connsiteY1" fmla="*/ 551821 h 552180"/>
                <a:gd name="connsiteX2" fmla="*/ 0 w 1481217"/>
                <a:gd name="connsiteY2" fmla="*/ 0 h 552180"/>
                <a:gd name="connsiteX3" fmla="*/ 1481217 w 1481217"/>
                <a:gd name="connsiteY3" fmla="*/ 48564 h 552180"/>
                <a:gd name="connsiteX0" fmla="*/ 1481217 w 1481217"/>
                <a:gd name="connsiteY0" fmla="*/ 48564 h 552180"/>
                <a:gd name="connsiteX1" fmla="*/ 722021 w 1481217"/>
                <a:gd name="connsiteY1" fmla="*/ 551821 h 552180"/>
                <a:gd name="connsiteX2" fmla="*/ 0 w 1481217"/>
                <a:gd name="connsiteY2" fmla="*/ 0 h 552180"/>
                <a:gd name="connsiteX3" fmla="*/ 1481217 w 1481217"/>
                <a:gd name="connsiteY3" fmla="*/ 48564 h 552180"/>
                <a:gd name="connsiteX0" fmla="*/ 1479346 w 1479346"/>
                <a:gd name="connsiteY0" fmla="*/ 89161 h 552230"/>
                <a:gd name="connsiteX1" fmla="*/ 722021 w 1479346"/>
                <a:gd name="connsiteY1" fmla="*/ 551821 h 552230"/>
                <a:gd name="connsiteX2" fmla="*/ 0 w 1479346"/>
                <a:gd name="connsiteY2" fmla="*/ 0 h 552230"/>
                <a:gd name="connsiteX3" fmla="*/ 1479346 w 1479346"/>
                <a:gd name="connsiteY3" fmla="*/ 89161 h 552230"/>
                <a:gd name="connsiteX0" fmla="*/ 1480281 w 1480281"/>
                <a:gd name="connsiteY0" fmla="*/ 68863 h 552204"/>
                <a:gd name="connsiteX1" fmla="*/ 722021 w 1480281"/>
                <a:gd name="connsiteY1" fmla="*/ 551821 h 552204"/>
                <a:gd name="connsiteX2" fmla="*/ 0 w 1480281"/>
                <a:gd name="connsiteY2" fmla="*/ 0 h 552204"/>
                <a:gd name="connsiteX3" fmla="*/ 1480281 w 1480281"/>
                <a:gd name="connsiteY3" fmla="*/ 68863 h 552204"/>
                <a:gd name="connsiteX0" fmla="*/ 1562742 w 1562743"/>
                <a:gd name="connsiteY0" fmla="*/ 26054 h 552157"/>
                <a:gd name="connsiteX1" fmla="*/ 722021 w 1562743"/>
                <a:gd name="connsiteY1" fmla="*/ 551821 h 552157"/>
                <a:gd name="connsiteX2" fmla="*/ 0 w 1562743"/>
                <a:gd name="connsiteY2" fmla="*/ 0 h 552157"/>
                <a:gd name="connsiteX3" fmla="*/ 1562742 w 1562743"/>
                <a:gd name="connsiteY3" fmla="*/ 26054 h 552157"/>
                <a:gd name="connsiteX0" fmla="*/ 1562742 w 1562741"/>
                <a:gd name="connsiteY0" fmla="*/ 26054 h 552155"/>
                <a:gd name="connsiteX1" fmla="*/ 722021 w 1562741"/>
                <a:gd name="connsiteY1" fmla="*/ 551821 h 552155"/>
                <a:gd name="connsiteX2" fmla="*/ 0 w 1562741"/>
                <a:gd name="connsiteY2" fmla="*/ 0 h 552155"/>
                <a:gd name="connsiteX3" fmla="*/ 1562742 w 1562741"/>
                <a:gd name="connsiteY3" fmla="*/ 26054 h 552155"/>
                <a:gd name="connsiteX0" fmla="*/ 1562742 w 1562743"/>
                <a:gd name="connsiteY0" fmla="*/ 26054 h 552155"/>
                <a:gd name="connsiteX1" fmla="*/ 722021 w 1562743"/>
                <a:gd name="connsiteY1" fmla="*/ 551821 h 552155"/>
                <a:gd name="connsiteX2" fmla="*/ 0 w 1562743"/>
                <a:gd name="connsiteY2" fmla="*/ 0 h 552155"/>
                <a:gd name="connsiteX3" fmla="*/ 1562742 w 1562743"/>
                <a:gd name="connsiteY3" fmla="*/ 26054 h 552155"/>
                <a:gd name="connsiteX0" fmla="*/ 1562742 w 1562741"/>
                <a:gd name="connsiteY0" fmla="*/ 26054 h 552155"/>
                <a:gd name="connsiteX1" fmla="*/ 722021 w 1562741"/>
                <a:gd name="connsiteY1" fmla="*/ 551821 h 552155"/>
                <a:gd name="connsiteX2" fmla="*/ 0 w 1562741"/>
                <a:gd name="connsiteY2" fmla="*/ 0 h 552155"/>
                <a:gd name="connsiteX3" fmla="*/ 1562742 w 1562741"/>
                <a:gd name="connsiteY3" fmla="*/ 26054 h 552155"/>
                <a:gd name="connsiteX0" fmla="*/ 1562742 w 1562743"/>
                <a:gd name="connsiteY0" fmla="*/ 26054 h 551821"/>
                <a:gd name="connsiteX1" fmla="*/ 722021 w 1562743"/>
                <a:gd name="connsiteY1" fmla="*/ 551821 h 551821"/>
                <a:gd name="connsiteX2" fmla="*/ 0 w 1562743"/>
                <a:gd name="connsiteY2" fmla="*/ 0 h 551821"/>
                <a:gd name="connsiteX3" fmla="*/ 1562742 w 1562743"/>
                <a:gd name="connsiteY3" fmla="*/ 26054 h 551821"/>
                <a:gd name="connsiteX0" fmla="*/ 1562742 w 1562741"/>
                <a:gd name="connsiteY0" fmla="*/ 26054 h 589658"/>
                <a:gd name="connsiteX1" fmla="*/ 678183 w 1562741"/>
                <a:gd name="connsiteY1" fmla="*/ 589658 h 589658"/>
                <a:gd name="connsiteX2" fmla="*/ 0 w 1562741"/>
                <a:gd name="connsiteY2" fmla="*/ 0 h 589658"/>
                <a:gd name="connsiteX3" fmla="*/ 1562742 w 1562741"/>
                <a:gd name="connsiteY3" fmla="*/ 26054 h 58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2741" h="589658">
                  <a:moveTo>
                    <a:pt x="1562742" y="26054"/>
                  </a:moveTo>
                  <a:cubicBezTo>
                    <a:pt x="1008875" y="219672"/>
                    <a:pt x="1080308" y="553947"/>
                    <a:pt x="678183" y="589658"/>
                  </a:cubicBezTo>
                  <a:cubicBezTo>
                    <a:pt x="368988" y="538877"/>
                    <a:pt x="615478" y="167583"/>
                    <a:pt x="0" y="0"/>
                  </a:cubicBezTo>
                  <a:lnTo>
                    <a:pt x="1562742" y="26054"/>
                  </a:lnTo>
                  <a:close/>
                </a:path>
              </a:pathLst>
            </a:custGeom>
            <a:solidFill>
              <a:srgbClr val="FF1984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500D8F2E-17F8-5617-DC24-54911D79E27F}"/>
                </a:ext>
              </a:extLst>
            </p:cNvPr>
            <p:cNvCxnSpPr>
              <a:cxnSpLocks/>
            </p:cNvCxnSpPr>
            <p:nvPr/>
          </p:nvCxnSpPr>
          <p:spPr>
            <a:xfrm>
              <a:off x="7948762" y="8389272"/>
              <a:ext cx="1" cy="1699545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210023D9-9C88-E585-0E6C-4E1DE2CF2A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4984" y="10052238"/>
              <a:ext cx="214538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19A24444-5FE2-2EB5-9911-7F9BF11E3013}"/>
                </a:ext>
              </a:extLst>
            </p:cNvPr>
            <p:cNvSpPr txBox="1"/>
            <p:nvPr/>
          </p:nvSpPr>
          <p:spPr>
            <a:xfrm rot="16200000">
              <a:off x="6888841" y="9088532"/>
              <a:ext cx="15472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cs typeface="Times New Roman" panose="02020603050405020304" pitchFamily="18" charset="0"/>
                </a:rPr>
                <a:t>Density</a:t>
              </a:r>
              <a:endParaRPr lang="en-US" sz="1400" dirty="0"/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C8C383D0-BE33-1242-44C5-AFBFD702D8F7}"/>
                </a:ext>
              </a:extLst>
            </p:cNvPr>
            <p:cNvSpPr txBox="1"/>
            <p:nvPr/>
          </p:nvSpPr>
          <p:spPr>
            <a:xfrm>
              <a:off x="7862532" y="10236254"/>
              <a:ext cx="22378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Distribution of </a:t>
              </a:r>
              <a:r>
                <a:rPr lang="el-GR" sz="1400" dirty="0">
                  <a:cs typeface="Times New Roman" panose="02020603050405020304" pitchFamily="18" charset="0"/>
                </a:rPr>
                <a:t>β</a:t>
              </a:r>
              <a:r>
                <a:rPr lang="en-US" sz="1400" baseline="-25000" dirty="0" err="1">
                  <a:cs typeface="Times New Roman" panose="02020603050405020304" pitchFamily="18" charset="0"/>
                </a:rPr>
                <a:t>est</a:t>
              </a:r>
              <a:endParaRPr lang="en-US" sz="1400" baseline="-25000" dirty="0"/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26E1F579-4AE1-7E51-7AB5-1760AF550DD2}"/>
                </a:ext>
              </a:extLst>
            </p:cNvPr>
            <p:cNvSpPr txBox="1"/>
            <p:nvPr/>
          </p:nvSpPr>
          <p:spPr>
            <a:xfrm>
              <a:off x="7426582" y="7561204"/>
              <a:ext cx="327055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(D) Compare distribution of </a:t>
              </a:r>
              <a:r>
                <a:rPr lang="el-GR" sz="1600" dirty="0">
                  <a:cs typeface="Times New Roman" panose="02020603050405020304" pitchFamily="18" charset="0"/>
                </a:rPr>
                <a:t>β</a:t>
              </a:r>
              <a:r>
                <a:rPr lang="en-US" sz="1600" dirty="0">
                  <a:cs typeface="Times New Roman" panose="02020603050405020304" pitchFamily="18" charset="0"/>
                </a:rPr>
                <a:t> estimates (colors) to known value</a:t>
              </a:r>
              <a:r>
                <a:rPr lang="en-US" sz="1600" dirty="0"/>
                <a:t> (dashed vertical line)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31127E6-3B4A-9152-3E6C-038991C7C603}"/>
                </a:ext>
              </a:extLst>
            </p:cNvPr>
            <p:cNvCxnSpPr>
              <a:cxnSpLocks/>
            </p:cNvCxnSpPr>
            <p:nvPr/>
          </p:nvCxnSpPr>
          <p:spPr>
            <a:xfrm>
              <a:off x="9141404" y="8438437"/>
              <a:ext cx="32766" cy="1667939"/>
            </a:xfrm>
            <a:prstGeom prst="line">
              <a:avLst/>
            </a:prstGeom>
            <a:ln w="76200">
              <a:solidFill>
                <a:schemeClr val="bg1">
                  <a:alpha val="62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D970417-F64E-31F6-EC04-576BC798DF3D}"/>
              </a:ext>
            </a:extLst>
          </p:cNvPr>
          <p:cNvGrpSpPr/>
          <p:nvPr/>
        </p:nvGrpSpPr>
        <p:grpSpPr>
          <a:xfrm>
            <a:off x="6871778" y="4171350"/>
            <a:ext cx="4166270" cy="2905483"/>
            <a:chOff x="3753510" y="3946014"/>
            <a:chExt cx="4166270" cy="29054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AA6E808F-BF76-41AA-8CF4-5F282D6F2279}"/>
                    </a:ext>
                  </a:extLst>
                </p:cNvPr>
                <p:cNvSpPr txBox="1"/>
                <p:nvPr/>
              </p:nvSpPr>
              <p:spPr>
                <a:xfrm>
                  <a:off x="3864735" y="3946014"/>
                  <a:ext cx="3835602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/>
                    <a:t>(B) Sample body sizes, </a:t>
                  </a:r>
                  <a:r>
                    <a:rPr lang="en-US" sz="1600" i="1" dirty="0"/>
                    <a:t>m </a:t>
                  </a:r>
                  <a:r>
                    <a:rPr lang="en-US" sz="1600" dirty="0"/>
                    <a:t>based on known </a:t>
                  </a:r>
                  <a:r>
                    <a:rPr lang="el-GR" sz="1600" dirty="0">
                      <a:cs typeface="Times New Roman" panose="02020603050405020304" pitchFamily="18" charset="0"/>
                    </a:rPr>
                    <a:t>λ</a:t>
                  </a:r>
                  <a:r>
                    <a:rPr lang="en-US" sz="1600" dirty="0">
                      <a:cs typeface="Times New Roman" panose="02020603050405020304" pitchFamily="18" charset="0"/>
                    </a:rPr>
                    <a:t>; Bias data according to sampling probability function; Censor data by estimating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AA6E808F-BF76-41AA-8CF4-5F282D6F22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4735" y="3946014"/>
                  <a:ext cx="3835602" cy="1077218"/>
                </a:xfrm>
                <a:prstGeom prst="rect">
                  <a:avLst/>
                </a:prstGeom>
                <a:blipFill>
                  <a:blip r:embed="rId3"/>
                  <a:stretch>
                    <a:fillRect t="-1695" r="-636" b="-62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5E880E22-0191-E94C-DA8B-FE7D35741E56}"/>
                </a:ext>
              </a:extLst>
            </p:cNvPr>
            <p:cNvGrpSpPr/>
            <p:nvPr/>
          </p:nvGrpSpPr>
          <p:grpSpPr>
            <a:xfrm>
              <a:off x="3753510" y="5388457"/>
              <a:ext cx="4166270" cy="1463040"/>
              <a:chOff x="3650096" y="5421566"/>
              <a:chExt cx="4166270" cy="1463040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EC2D0E98-A4EB-25F5-0998-67A7C7CE6CB5}"/>
                  </a:ext>
                </a:extLst>
              </p:cNvPr>
              <p:cNvGrpSpPr/>
              <p:nvPr/>
            </p:nvGrpSpPr>
            <p:grpSpPr>
              <a:xfrm>
                <a:off x="5128620" y="5423412"/>
                <a:ext cx="1123974" cy="1459349"/>
                <a:chOff x="5115241" y="1831154"/>
                <a:chExt cx="1986464" cy="2419241"/>
              </a:xfrm>
            </p:grpSpPr>
            <p:sp>
              <p:nvSpPr>
                <p:cNvPr id="3" name="Freeform: Shape 2">
                  <a:extLst>
                    <a:ext uri="{FF2B5EF4-FFF2-40B4-BE49-F238E27FC236}">
                      <a16:creationId xmlns:a16="http://schemas.microsoft.com/office/drawing/2014/main" id="{C22AAC6D-FEF5-E34A-8668-D962E5D19022}"/>
                    </a:ext>
                  </a:extLst>
                </p:cNvPr>
                <p:cNvSpPr/>
                <p:nvPr/>
              </p:nvSpPr>
              <p:spPr>
                <a:xfrm>
                  <a:off x="5200971" y="2070354"/>
                  <a:ext cx="1815004" cy="1985508"/>
                </a:xfrm>
                <a:custGeom>
                  <a:avLst/>
                  <a:gdLst>
                    <a:gd name="connsiteX0" fmla="*/ 0 w 2381250"/>
                    <a:gd name="connsiteY0" fmla="*/ 1716959 h 1724029"/>
                    <a:gd name="connsiteX1" fmla="*/ 685800 w 2381250"/>
                    <a:gd name="connsiteY1" fmla="*/ 1526459 h 1724029"/>
                    <a:gd name="connsiteX2" fmla="*/ 1257300 w 2381250"/>
                    <a:gd name="connsiteY2" fmla="*/ 402509 h 1724029"/>
                    <a:gd name="connsiteX3" fmla="*/ 1714500 w 2381250"/>
                    <a:gd name="connsiteY3" fmla="*/ 59609 h 1724029"/>
                    <a:gd name="connsiteX4" fmla="*/ 2381250 w 2381250"/>
                    <a:gd name="connsiteY4" fmla="*/ 2459 h 1724029"/>
                    <a:gd name="connsiteX0" fmla="*/ 0 w 3710190"/>
                    <a:gd name="connsiteY0" fmla="*/ 1705042 h 1712112"/>
                    <a:gd name="connsiteX1" fmla="*/ 685800 w 3710190"/>
                    <a:gd name="connsiteY1" fmla="*/ 1514542 h 1712112"/>
                    <a:gd name="connsiteX2" fmla="*/ 1257300 w 3710190"/>
                    <a:gd name="connsiteY2" fmla="*/ 390592 h 1712112"/>
                    <a:gd name="connsiteX3" fmla="*/ 1714500 w 3710190"/>
                    <a:gd name="connsiteY3" fmla="*/ 47692 h 1712112"/>
                    <a:gd name="connsiteX4" fmla="*/ 3710190 w 3710190"/>
                    <a:gd name="connsiteY4" fmla="*/ 6969 h 1712112"/>
                    <a:gd name="connsiteX0" fmla="*/ 0 w 3202066"/>
                    <a:gd name="connsiteY0" fmla="*/ 1705042 h 1712112"/>
                    <a:gd name="connsiteX1" fmla="*/ 685800 w 3202066"/>
                    <a:gd name="connsiteY1" fmla="*/ 1514542 h 1712112"/>
                    <a:gd name="connsiteX2" fmla="*/ 1257300 w 3202066"/>
                    <a:gd name="connsiteY2" fmla="*/ 390592 h 1712112"/>
                    <a:gd name="connsiteX3" fmla="*/ 1714500 w 3202066"/>
                    <a:gd name="connsiteY3" fmla="*/ 47692 h 1712112"/>
                    <a:gd name="connsiteX4" fmla="*/ 3202066 w 3202066"/>
                    <a:gd name="connsiteY4" fmla="*/ 6969 h 1712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02066" h="1712112">
                      <a:moveTo>
                        <a:pt x="0" y="1705042"/>
                      </a:moveTo>
                      <a:cubicBezTo>
                        <a:pt x="238125" y="1719329"/>
                        <a:pt x="476250" y="1733617"/>
                        <a:pt x="685800" y="1514542"/>
                      </a:cubicBezTo>
                      <a:cubicBezTo>
                        <a:pt x="895350" y="1295467"/>
                        <a:pt x="1085850" y="635067"/>
                        <a:pt x="1257300" y="390592"/>
                      </a:cubicBezTo>
                      <a:cubicBezTo>
                        <a:pt x="1428750" y="146117"/>
                        <a:pt x="1527175" y="114367"/>
                        <a:pt x="1714500" y="47692"/>
                      </a:cubicBezTo>
                      <a:cubicBezTo>
                        <a:pt x="1901825" y="-18983"/>
                        <a:pt x="2962353" y="2206"/>
                        <a:pt x="3202066" y="6969"/>
                      </a:cubicBezTo>
                    </a:path>
                  </a:pathLst>
                </a:custGeom>
                <a:noFill/>
                <a:ln w="76200">
                  <a:solidFill>
                    <a:srgbClr val="BC54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7E32274A-0E1D-FA46-7C8C-9B54A71154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38246" y="1831154"/>
                  <a:ext cx="0" cy="2419241"/>
                </a:xfrm>
                <a:prstGeom prst="line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377068E6-2EC8-F81E-E009-9B3A35DDE7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15241" y="4224914"/>
                  <a:ext cx="1986464" cy="0"/>
                </a:xfrm>
                <a:prstGeom prst="line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" name="Multiplication Sign 23">
                <a:extLst>
                  <a:ext uri="{FF2B5EF4-FFF2-40B4-BE49-F238E27FC236}">
                    <a16:creationId xmlns:a16="http://schemas.microsoft.com/office/drawing/2014/main" id="{A14BF1AF-0EFF-2E9A-3E5F-68505638AB12}"/>
                  </a:ext>
                </a:extLst>
              </p:cNvPr>
              <p:cNvSpPr/>
              <p:nvPr/>
            </p:nvSpPr>
            <p:spPr>
              <a:xfrm>
                <a:off x="4489682" y="5924494"/>
                <a:ext cx="457200" cy="457184"/>
              </a:xfrm>
              <a:prstGeom prst="mathMultiply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01C5D545-E33F-3834-C8FC-98F5F7EC92CA}"/>
                  </a:ext>
                </a:extLst>
              </p:cNvPr>
              <p:cNvGrpSpPr/>
              <p:nvPr/>
            </p:nvGrpSpPr>
            <p:grpSpPr>
              <a:xfrm>
                <a:off x="3650096" y="5423412"/>
                <a:ext cx="1123974" cy="1459349"/>
                <a:chOff x="657574" y="958581"/>
                <a:chExt cx="1986464" cy="2419241"/>
              </a:xfrm>
            </p:grpSpPr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632099D0-A93C-AE82-A574-55E3736CFE59}"/>
                    </a:ext>
                  </a:extLst>
                </p:cNvPr>
                <p:cNvSpPr/>
                <p:nvPr/>
              </p:nvSpPr>
              <p:spPr>
                <a:xfrm>
                  <a:off x="788063" y="1110110"/>
                  <a:ext cx="45719" cy="225200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D14EB2A9-7177-D6F4-54AC-4A4AC7FCAE7B}"/>
                    </a:ext>
                  </a:extLst>
                </p:cNvPr>
                <p:cNvSpPr/>
                <p:nvPr/>
              </p:nvSpPr>
              <p:spPr>
                <a:xfrm>
                  <a:off x="926471" y="1440901"/>
                  <a:ext cx="45719" cy="192121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AD312BBA-FA32-D384-38FF-5FB7C546FB75}"/>
                    </a:ext>
                  </a:extLst>
                </p:cNvPr>
                <p:cNvSpPr/>
                <p:nvPr/>
              </p:nvSpPr>
              <p:spPr>
                <a:xfrm>
                  <a:off x="1064879" y="1832787"/>
                  <a:ext cx="45719" cy="15293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698D1E82-854F-14D9-0259-B0A5E2BB1583}"/>
                    </a:ext>
                  </a:extLst>
                </p:cNvPr>
                <p:cNvSpPr/>
                <p:nvPr/>
              </p:nvSpPr>
              <p:spPr>
                <a:xfrm>
                  <a:off x="1203287" y="2089021"/>
                  <a:ext cx="45719" cy="12730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9790FD55-B434-9682-4653-F8CA4FFAB1A5}"/>
                    </a:ext>
                  </a:extLst>
                </p:cNvPr>
                <p:cNvSpPr/>
                <p:nvPr/>
              </p:nvSpPr>
              <p:spPr>
                <a:xfrm>
                  <a:off x="1341695" y="2269891"/>
                  <a:ext cx="45719" cy="109222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2CD7F814-21E6-C20B-E27C-755162519D3F}"/>
                    </a:ext>
                  </a:extLst>
                </p:cNvPr>
                <p:cNvSpPr/>
                <p:nvPr/>
              </p:nvSpPr>
              <p:spPr>
                <a:xfrm>
                  <a:off x="1480103" y="2460809"/>
                  <a:ext cx="45719" cy="90130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925F6CD1-6B7D-E8E6-9754-BA0495531090}"/>
                    </a:ext>
                  </a:extLst>
                </p:cNvPr>
                <p:cNvSpPr/>
                <p:nvPr/>
              </p:nvSpPr>
              <p:spPr>
                <a:xfrm>
                  <a:off x="1618511" y="2686898"/>
                  <a:ext cx="45719" cy="6752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238A0023-5D04-2275-F7EF-E16F9281ACC7}"/>
                    </a:ext>
                  </a:extLst>
                </p:cNvPr>
                <p:cNvSpPr/>
                <p:nvPr/>
              </p:nvSpPr>
              <p:spPr>
                <a:xfrm>
                  <a:off x="1756919" y="2887864"/>
                  <a:ext cx="45719" cy="47424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C547FB4E-62B0-1CA2-6D41-0B49BCB9776F}"/>
                    </a:ext>
                  </a:extLst>
                </p:cNvPr>
                <p:cNvSpPr/>
                <p:nvPr/>
              </p:nvSpPr>
              <p:spPr>
                <a:xfrm>
                  <a:off x="1895327" y="3033565"/>
                  <a:ext cx="45719" cy="32854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01592F93-D403-4B99-428F-9E9EB0702403}"/>
                    </a:ext>
                  </a:extLst>
                </p:cNvPr>
                <p:cNvSpPr/>
                <p:nvPr/>
              </p:nvSpPr>
              <p:spPr>
                <a:xfrm>
                  <a:off x="2033735" y="3149121"/>
                  <a:ext cx="45719" cy="21299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043816D6-6C3D-B511-498D-D880068CFF49}"/>
                    </a:ext>
                  </a:extLst>
                </p:cNvPr>
                <p:cNvSpPr/>
                <p:nvPr/>
              </p:nvSpPr>
              <p:spPr>
                <a:xfrm>
                  <a:off x="2172143" y="3194339"/>
                  <a:ext cx="45719" cy="16777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A8C42DDB-272B-3047-2BB5-35EC25227EE2}"/>
                    </a:ext>
                  </a:extLst>
                </p:cNvPr>
                <p:cNvSpPr/>
                <p:nvPr/>
              </p:nvSpPr>
              <p:spPr>
                <a:xfrm>
                  <a:off x="2310551" y="3239557"/>
                  <a:ext cx="45719" cy="12255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E4A0A61F-24A4-3737-69E3-E4BCE96ADA03}"/>
                    </a:ext>
                  </a:extLst>
                </p:cNvPr>
                <p:cNvSpPr/>
                <p:nvPr/>
              </p:nvSpPr>
              <p:spPr>
                <a:xfrm>
                  <a:off x="2448959" y="3239557"/>
                  <a:ext cx="45719" cy="12255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FAB244D9-7229-2BF3-BD1A-13C51647C1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7479" y="958581"/>
                  <a:ext cx="0" cy="2419241"/>
                </a:xfrm>
                <a:prstGeom prst="line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4093FC03-87E1-4557-EE1A-B2DF5ED43B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7574" y="3353145"/>
                  <a:ext cx="1986464" cy="0"/>
                </a:xfrm>
                <a:prstGeom prst="line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57E80FA-AAB7-D04C-E24F-650A26829C05}"/>
                  </a:ext>
                </a:extLst>
              </p:cNvPr>
              <p:cNvSpPr/>
              <p:nvPr/>
            </p:nvSpPr>
            <p:spPr>
              <a:xfrm>
                <a:off x="6763112" y="6588303"/>
                <a:ext cx="25886" cy="286803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C443567A-4A85-AC76-D009-FCC58ED94367}"/>
                  </a:ext>
                </a:extLst>
              </p:cNvPr>
              <p:cNvSpPr/>
              <p:nvPr/>
            </p:nvSpPr>
            <p:spPr>
              <a:xfrm>
                <a:off x="6841477" y="6403204"/>
                <a:ext cx="25886" cy="471902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18F7CAD-BCA4-6BDD-AEBF-2E474D16E592}"/>
                  </a:ext>
                </a:extLst>
              </p:cNvPr>
              <p:cNvSpPr/>
              <p:nvPr/>
            </p:nvSpPr>
            <p:spPr>
              <a:xfrm>
                <a:off x="6919842" y="6214583"/>
                <a:ext cx="25886" cy="660522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F0C13AD5-9EA3-863D-B67F-7068E2927FEB}"/>
                  </a:ext>
                </a:extLst>
              </p:cNvPr>
              <p:cNvSpPr/>
              <p:nvPr/>
            </p:nvSpPr>
            <p:spPr>
              <a:xfrm>
                <a:off x="6998207" y="6105201"/>
                <a:ext cx="25886" cy="769904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8745C24-099B-2B2D-4CEF-00FC10FC4BC9}"/>
                  </a:ext>
                </a:extLst>
              </p:cNvPr>
              <p:cNvSpPr/>
              <p:nvPr/>
            </p:nvSpPr>
            <p:spPr>
              <a:xfrm>
                <a:off x="7076572" y="6214583"/>
                <a:ext cx="25886" cy="660523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DA9AFC3E-504E-BA05-8E83-E21723222EDA}"/>
                  </a:ext>
                </a:extLst>
              </p:cNvPr>
              <p:cNvSpPr/>
              <p:nvPr/>
            </p:nvSpPr>
            <p:spPr>
              <a:xfrm>
                <a:off x="7154937" y="6330041"/>
                <a:ext cx="25886" cy="545064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3667911-1B60-7783-1B27-41F6F9F752F4}"/>
                  </a:ext>
                </a:extLst>
              </p:cNvPr>
              <p:cNvSpPr/>
              <p:nvPr/>
            </p:nvSpPr>
            <p:spPr>
              <a:xfrm>
                <a:off x="7233302" y="6466769"/>
                <a:ext cx="25886" cy="408337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35AEB8C9-C902-AE2E-FD82-BE4347E0C5CB}"/>
                  </a:ext>
                </a:extLst>
              </p:cNvPr>
              <p:cNvSpPr/>
              <p:nvPr/>
            </p:nvSpPr>
            <p:spPr>
              <a:xfrm>
                <a:off x="7311667" y="6588303"/>
                <a:ext cx="25886" cy="286802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C2461427-C0BA-5528-0513-B6B8253888BD}"/>
                  </a:ext>
                </a:extLst>
              </p:cNvPr>
              <p:cNvSpPr/>
              <p:nvPr/>
            </p:nvSpPr>
            <p:spPr>
              <a:xfrm>
                <a:off x="7390032" y="6676416"/>
                <a:ext cx="25886" cy="198689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029FB208-B65C-3FB7-E8C4-344B915800DE}"/>
                  </a:ext>
                </a:extLst>
              </p:cNvPr>
              <p:cNvSpPr/>
              <p:nvPr/>
            </p:nvSpPr>
            <p:spPr>
              <a:xfrm>
                <a:off x="7468397" y="6746299"/>
                <a:ext cx="25886" cy="128806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1CEE02EC-9F37-8363-4102-1E5EC22AC6C5}"/>
                  </a:ext>
                </a:extLst>
              </p:cNvPr>
              <p:cNvSpPr/>
              <p:nvPr/>
            </p:nvSpPr>
            <p:spPr>
              <a:xfrm>
                <a:off x="7546761" y="6773644"/>
                <a:ext cx="25886" cy="101460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810281D9-4605-580F-F476-1F40B439AC94}"/>
                  </a:ext>
                </a:extLst>
              </p:cNvPr>
              <p:cNvSpPr/>
              <p:nvPr/>
            </p:nvSpPr>
            <p:spPr>
              <a:xfrm>
                <a:off x="7625126" y="6800990"/>
                <a:ext cx="25886" cy="74115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F57A30EA-87D3-ACD0-C30E-BE4CFD9132BE}"/>
                  </a:ext>
                </a:extLst>
              </p:cNvPr>
              <p:cNvSpPr/>
              <p:nvPr/>
            </p:nvSpPr>
            <p:spPr>
              <a:xfrm>
                <a:off x="7703491" y="6800990"/>
                <a:ext cx="25886" cy="74115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5695CE25-F0A7-A42E-8980-ECE84C211A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06163" y="5421566"/>
                <a:ext cx="0" cy="1463040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8CA40E66-F815-4BF1-C193-7CF7315B77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1654" y="6871975"/>
                <a:ext cx="1124712" cy="0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4" name="Equals 63">
                <a:extLst>
                  <a:ext uri="{FF2B5EF4-FFF2-40B4-BE49-F238E27FC236}">
                    <a16:creationId xmlns:a16="http://schemas.microsoft.com/office/drawing/2014/main" id="{82BB05DC-E78E-66E0-8D69-FEF7953C19E9}"/>
                  </a:ext>
                </a:extLst>
              </p:cNvPr>
              <p:cNvSpPr/>
              <p:nvPr/>
            </p:nvSpPr>
            <p:spPr>
              <a:xfrm>
                <a:off x="6058217" y="5924486"/>
                <a:ext cx="457200" cy="457200"/>
              </a:xfrm>
              <a:prstGeom prst="mathEqual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36C9A4F-E0AF-48FC-B536-BB683CA95B6B}"/>
                  </a:ext>
                </a:extLst>
              </p:cNvPr>
              <p:cNvSpPr/>
              <p:nvPr/>
            </p:nvSpPr>
            <p:spPr>
              <a:xfrm>
                <a:off x="6995078" y="5987433"/>
                <a:ext cx="748109" cy="780690"/>
              </a:xfrm>
              <a:custGeom>
                <a:avLst/>
                <a:gdLst>
                  <a:gd name="connsiteX0" fmla="*/ 0 w 1728216"/>
                  <a:gd name="connsiteY0" fmla="*/ 0 h 1014984"/>
                  <a:gd name="connsiteX1" fmla="*/ 338328 w 1728216"/>
                  <a:gd name="connsiteY1" fmla="*/ 521208 h 1014984"/>
                  <a:gd name="connsiteX2" fmla="*/ 603504 w 1728216"/>
                  <a:gd name="connsiteY2" fmla="*/ 768096 h 1014984"/>
                  <a:gd name="connsiteX3" fmla="*/ 1005840 w 1728216"/>
                  <a:gd name="connsiteY3" fmla="*/ 923544 h 1014984"/>
                  <a:gd name="connsiteX4" fmla="*/ 1728216 w 1728216"/>
                  <a:gd name="connsiteY4" fmla="*/ 1014984 h 10149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28216" h="1014984">
                    <a:moveTo>
                      <a:pt x="0" y="0"/>
                    </a:moveTo>
                    <a:cubicBezTo>
                      <a:pt x="118872" y="196596"/>
                      <a:pt x="237744" y="393192"/>
                      <a:pt x="338328" y="521208"/>
                    </a:cubicBezTo>
                    <a:cubicBezTo>
                      <a:pt x="438912" y="649224"/>
                      <a:pt x="492252" y="701040"/>
                      <a:pt x="603504" y="768096"/>
                    </a:cubicBezTo>
                    <a:cubicBezTo>
                      <a:pt x="714756" y="835152"/>
                      <a:pt x="818388" y="882396"/>
                      <a:pt x="1005840" y="923544"/>
                    </a:cubicBezTo>
                    <a:cubicBezTo>
                      <a:pt x="1193292" y="964692"/>
                      <a:pt x="1460754" y="989838"/>
                      <a:pt x="1728216" y="1014984"/>
                    </a:cubicBezTo>
                  </a:path>
                </a:pathLst>
              </a:custGeom>
              <a:noFill/>
              <a:ln w="28575">
                <a:solidFill>
                  <a:srgbClr val="00B0F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E68389DD-88E7-15C2-FFE7-514B02ED818C}"/>
                  </a:ext>
                </a:extLst>
              </p:cNvPr>
              <p:cNvSpPr/>
              <p:nvPr/>
            </p:nvSpPr>
            <p:spPr>
              <a:xfrm>
                <a:off x="6802642" y="6098963"/>
                <a:ext cx="940545" cy="669160"/>
              </a:xfrm>
              <a:custGeom>
                <a:avLst/>
                <a:gdLst>
                  <a:gd name="connsiteX0" fmla="*/ 0 w 1728216"/>
                  <a:gd name="connsiteY0" fmla="*/ 0 h 1014984"/>
                  <a:gd name="connsiteX1" fmla="*/ 338328 w 1728216"/>
                  <a:gd name="connsiteY1" fmla="*/ 521208 h 1014984"/>
                  <a:gd name="connsiteX2" fmla="*/ 603504 w 1728216"/>
                  <a:gd name="connsiteY2" fmla="*/ 768096 h 1014984"/>
                  <a:gd name="connsiteX3" fmla="*/ 1005840 w 1728216"/>
                  <a:gd name="connsiteY3" fmla="*/ 923544 h 1014984"/>
                  <a:gd name="connsiteX4" fmla="*/ 1728216 w 1728216"/>
                  <a:gd name="connsiteY4" fmla="*/ 1014984 h 10149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28216" h="1014984">
                    <a:moveTo>
                      <a:pt x="0" y="0"/>
                    </a:moveTo>
                    <a:cubicBezTo>
                      <a:pt x="118872" y="196596"/>
                      <a:pt x="237744" y="393192"/>
                      <a:pt x="338328" y="521208"/>
                    </a:cubicBezTo>
                    <a:cubicBezTo>
                      <a:pt x="438912" y="649224"/>
                      <a:pt x="492252" y="701040"/>
                      <a:pt x="603504" y="768096"/>
                    </a:cubicBezTo>
                    <a:cubicBezTo>
                      <a:pt x="714756" y="835152"/>
                      <a:pt x="818388" y="882396"/>
                      <a:pt x="1005840" y="923544"/>
                    </a:cubicBezTo>
                    <a:cubicBezTo>
                      <a:pt x="1193292" y="964692"/>
                      <a:pt x="1460754" y="989838"/>
                      <a:pt x="1728216" y="1014984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2AE99E6-CB2F-E102-0655-14CF4BCBE110}"/>
              </a:ext>
            </a:extLst>
          </p:cNvPr>
          <p:cNvGrpSpPr/>
          <p:nvPr/>
        </p:nvGrpSpPr>
        <p:grpSpPr>
          <a:xfrm>
            <a:off x="1416867" y="7836457"/>
            <a:ext cx="3946314" cy="3162541"/>
            <a:chOff x="8094937" y="4386813"/>
            <a:chExt cx="3946314" cy="316254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8289491-BD6F-BC75-F678-A1DDE91C805F}"/>
                </a:ext>
              </a:extLst>
            </p:cNvPr>
            <p:cNvSpPr txBox="1"/>
            <p:nvPr/>
          </p:nvSpPr>
          <p:spPr>
            <a:xfrm>
              <a:off x="8094937" y="4386813"/>
              <a:ext cx="394631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(C) Estimate</a:t>
              </a:r>
              <a:r>
                <a:rPr lang="el-GR" sz="1600" dirty="0">
                  <a:cs typeface="Times New Roman" panose="02020603050405020304" pitchFamily="18" charset="0"/>
                </a:rPr>
                <a:t> </a:t>
              </a:r>
              <a:r>
                <a:rPr lang="en-US" sz="1600" dirty="0">
                  <a:cs typeface="Times New Roman" panose="02020603050405020304" pitchFamily="18" charset="0"/>
                </a:rPr>
                <a:t>relationship of</a:t>
              </a:r>
              <a:r>
                <a:rPr lang="en-US" sz="1600" dirty="0"/>
                <a:t> </a:t>
              </a:r>
              <a:r>
                <a:rPr lang="en-US" sz="1600" dirty="0">
                  <a:cs typeface="Times New Roman" panose="02020603050405020304" pitchFamily="18" charset="0"/>
                </a:rPr>
                <a:t>λ to environmental gradient (</a:t>
              </a:r>
              <a:r>
                <a:rPr lang="el-GR" sz="1600" dirty="0">
                  <a:cs typeface="Times New Roman" panose="02020603050405020304" pitchFamily="18" charset="0"/>
                </a:rPr>
                <a:t>β</a:t>
              </a:r>
              <a:r>
                <a:rPr lang="en-US" sz="1600" dirty="0">
                  <a:cs typeface="Times New Roman" panose="02020603050405020304" pitchFamily="18" charset="0"/>
                </a:rPr>
                <a:t>) from biased and censored data</a:t>
              </a:r>
              <a:endParaRPr lang="en-US" sz="1600" dirty="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2AD69BF-7318-F8E4-D227-4589BDB6ACFA}"/>
                </a:ext>
              </a:extLst>
            </p:cNvPr>
            <p:cNvCxnSpPr>
              <a:cxnSpLocks/>
            </p:cNvCxnSpPr>
            <p:nvPr/>
          </p:nvCxnSpPr>
          <p:spPr>
            <a:xfrm>
              <a:off x="8966430" y="5241329"/>
              <a:ext cx="1" cy="1699545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B12B49E-0761-D91A-BFC3-280B63EA5B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2652" y="6914928"/>
              <a:ext cx="214538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73EDB0F-AF1A-6F31-7F38-87FF515A5517}"/>
                </a:ext>
              </a:extLst>
            </p:cNvPr>
            <p:cNvSpPr txBox="1"/>
            <p:nvPr/>
          </p:nvSpPr>
          <p:spPr>
            <a:xfrm rot="16200000">
              <a:off x="7906511" y="5940590"/>
              <a:ext cx="15472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cs typeface="Times New Roman" panose="02020603050405020304" pitchFamily="18" charset="0"/>
                </a:rPr>
                <a:t>λ</a:t>
              </a:r>
              <a:r>
                <a:rPr lang="en-US" sz="1400" i="1" baseline="-25000" dirty="0" err="1">
                  <a:cs typeface="Times New Roman" panose="02020603050405020304" pitchFamily="18" charset="0"/>
                </a:rPr>
                <a:t>est</a:t>
              </a:r>
              <a:r>
                <a:rPr lang="en-US" sz="1400" i="1" baseline="-25000" dirty="0">
                  <a:cs typeface="Times New Roman" panose="02020603050405020304" pitchFamily="18" charset="0"/>
                </a:rPr>
                <a:t>.</a:t>
              </a:r>
              <a:endParaRPr lang="en-US" sz="140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67D7B963-A7C1-F7D3-E73A-5A85F4D4BB9C}"/>
                </a:ext>
              </a:extLst>
            </p:cNvPr>
            <p:cNvSpPr/>
            <p:nvPr/>
          </p:nvSpPr>
          <p:spPr>
            <a:xfrm>
              <a:off x="9054538" y="5639586"/>
              <a:ext cx="182880" cy="182880"/>
            </a:xfrm>
            <a:prstGeom prst="ellipse">
              <a:avLst/>
            </a:prstGeom>
            <a:solidFill>
              <a:srgbClr val="FF1984">
                <a:alpha val="9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776977A-B0C5-643B-815D-B282EBA78856}"/>
                </a:ext>
              </a:extLst>
            </p:cNvPr>
            <p:cNvSpPr/>
            <p:nvPr/>
          </p:nvSpPr>
          <p:spPr>
            <a:xfrm>
              <a:off x="9244246" y="5487818"/>
              <a:ext cx="182880" cy="182880"/>
            </a:xfrm>
            <a:prstGeom prst="ellipse">
              <a:avLst/>
            </a:prstGeom>
            <a:solidFill>
              <a:srgbClr val="019AFF">
                <a:alpha val="9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A7D73696-6EEA-9B8D-5003-F42BB333A1C4}"/>
                </a:ext>
              </a:extLst>
            </p:cNvPr>
            <p:cNvSpPr/>
            <p:nvPr/>
          </p:nvSpPr>
          <p:spPr>
            <a:xfrm>
              <a:off x="9933605" y="6310461"/>
              <a:ext cx="182880" cy="182880"/>
            </a:xfrm>
            <a:prstGeom prst="ellipse">
              <a:avLst/>
            </a:prstGeom>
            <a:solidFill>
              <a:srgbClr val="FF1984">
                <a:alpha val="9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DD60BA0F-D8F1-2C07-E3B4-F58F7E86FC23}"/>
                </a:ext>
              </a:extLst>
            </p:cNvPr>
            <p:cNvSpPr/>
            <p:nvPr/>
          </p:nvSpPr>
          <p:spPr>
            <a:xfrm>
              <a:off x="10690047" y="6290141"/>
              <a:ext cx="182880" cy="182880"/>
            </a:xfrm>
            <a:prstGeom prst="ellipse">
              <a:avLst/>
            </a:prstGeom>
            <a:solidFill>
              <a:srgbClr val="FF1984">
                <a:alpha val="9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D515C63D-F298-2583-FEF8-D440DFBBC577}"/>
                </a:ext>
              </a:extLst>
            </p:cNvPr>
            <p:cNvSpPr/>
            <p:nvPr/>
          </p:nvSpPr>
          <p:spPr>
            <a:xfrm>
              <a:off x="10882243" y="6562133"/>
              <a:ext cx="182880" cy="182880"/>
            </a:xfrm>
            <a:prstGeom prst="ellipse">
              <a:avLst/>
            </a:prstGeom>
            <a:solidFill>
              <a:srgbClr val="019AFF">
                <a:alpha val="9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67618770-FD30-129C-5805-F8AA50CE030E}"/>
                </a:ext>
              </a:extLst>
            </p:cNvPr>
            <p:cNvSpPr/>
            <p:nvPr/>
          </p:nvSpPr>
          <p:spPr>
            <a:xfrm>
              <a:off x="10068094" y="5892810"/>
              <a:ext cx="182880" cy="182880"/>
            </a:xfrm>
            <a:prstGeom prst="ellipse">
              <a:avLst/>
            </a:prstGeom>
            <a:solidFill>
              <a:srgbClr val="019AFF">
                <a:alpha val="9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1AAB10CD-A185-379F-75A6-19F4FFD6612D}"/>
                </a:ext>
              </a:extLst>
            </p:cNvPr>
            <p:cNvSpPr txBox="1"/>
            <p:nvPr/>
          </p:nvSpPr>
          <p:spPr>
            <a:xfrm>
              <a:off x="8966429" y="7026133"/>
              <a:ext cx="2145384" cy="523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Environmental Variable, </a:t>
              </a:r>
              <a:r>
                <a:rPr lang="en-US" sz="1400" i="1" dirty="0"/>
                <a:t>x</a:t>
              </a:r>
              <a:endParaRPr lang="en-US" sz="1400" dirty="0"/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BE24F22-A4BE-E1CE-A9FD-D92E3820F413}"/>
                </a:ext>
              </a:extLst>
            </p:cNvPr>
            <p:cNvCxnSpPr>
              <a:cxnSpLocks/>
            </p:cNvCxnSpPr>
            <p:nvPr/>
          </p:nvCxnSpPr>
          <p:spPr>
            <a:xfrm>
              <a:off x="9090182" y="5739224"/>
              <a:ext cx="1700167" cy="677337"/>
            </a:xfrm>
            <a:prstGeom prst="line">
              <a:avLst/>
            </a:prstGeom>
            <a:ln w="76200">
              <a:solidFill>
                <a:schemeClr val="accent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606BBE8-F3C6-8CCE-D83D-E6268F7ECFDB}"/>
                </a:ext>
              </a:extLst>
            </p:cNvPr>
            <p:cNvCxnSpPr>
              <a:cxnSpLocks/>
            </p:cNvCxnSpPr>
            <p:nvPr/>
          </p:nvCxnSpPr>
          <p:spPr>
            <a:xfrm>
              <a:off x="9279890" y="5587456"/>
              <a:ext cx="1611215" cy="1009657"/>
            </a:xfrm>
            <a:prstGeom prst="line">
              <a:avLst/>
            </a:prstGeom>
            <a:ln w="76200">
              <a:solidFill>
                <a:srgbClr val="13A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97160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645B3-3819-46D3-FEEC-93B990A8E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29DF7C-3B5D-E427-BA21-784D935F5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234" y="6000566"/>
            <a:ext cx="3991532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74400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-march-28-2023">
  <a:themeElements>
    <a:clrScheme name="march-28-2023">
      <a:dk1>
        <a:srgbClr val="000000"/>
      </a:dk1>
      <a:lt1>
        <a:srgbClr val="000000"/>
      </a:lt1>
      <a:dk2>
        <a:srgbClr val="D8D8D8"/>
      </a:dk2>
      <a:lt2>
        <a:srgbClr val="FFFFFF"/>
      </a:lt2>
      <a:accent1>
        <a:srgbClr val="F03297"/>
      </a:accent1>
      <a:accent2>
        <a:srgbClr val="ED7D31"/>
      </a:accent2>
      <a:accent3>
        <a:srgbClr val="A732F5"/>
      </a:accent3>
      <a:accent4>
        <a:srgbClr val="81A1B3"/>
      </a:accent4>
      <a:accent5>
        <a:srgbClr val="4B6B7D"/>
      </a:accent5>
      <a:accent6>
        <a:srgbClr val="3A375F"/>
      </a:accent6>
      <a:hlink>
        <a:srgbClr val="0A0AD3"/>
      </a:hlink>
      <a:folHlink>
        <a:srgbClr val="059BAF"/>
      </a:folHlink>
    </a:clrScheme>
    <a:fontScheme name="Custom 2">
      <a:majorFont>
        <a:latin typeface="Josefin Sans Medium"/>
        <a:ea typeface=""/>
        <a:cs typeface=""/>
      </a:majorFont>
      <a:minorFont>
        <a:latin typeface="Montserra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-march-28-2023" id="{B59ACB4B-EAF3-4267-92B0-F931CBB3CF0C}" vid="{B2ABBA1E-CA2E-4EDB-9B99-EDA4150ABD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13236</TotalTime>
  <Words>381</Words>
  <Application>Microsoft Office PowerPoint</Application>
  <PresentationFormat>Custom</PresentationFormat>
  <Paragraphs>94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Aptos</vt:lpstr>
      <vt:lpstr>Arial</vt:lpstr>
      <vt:lpstr>Cambria Math</vt:lpstr>
      <vt:lpstr>Consolas</vt:lpstr>
      <vt:lpstr>Josefin Sans Medium</vt:lpstr>
      <vt:lpstr>Montserrat</vt:lpstr>
      <vt:lpstr>Times New Roman</vt:lpstr>
      <vt:lpstr>Wingdings</vt:lpstr>
      <vt:lpstr>Theme-march-28-2023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Pomeranz, Justin</dc:creator>
  <cp:lastModifiedBy>Justin Pomeranz</cp:lastModifiedBy>
  <cp:revision>13</cp:revision>
  <dcterms:created xsi:type="dcterms:W3CDTF">2025-10-10T15:28:05Z</dcterms:created>
  <dcterms:modified xsi:type="dcterms:W3CDTF">2026-08-18T18:29:36Z</dcterms:modified>
</cp:coreProperties>
</file>