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8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6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46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5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7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2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2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1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7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A154-2967-4900-A7B6-AB79D17593E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A07C3-736A-496E-A1A0-27E29986F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8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30CE17F-EDC4-C7C4-258E-806622035500}"/>
              </a:ext>
            </a:extLst>
          </p:cNvPr>
          <p:cNvGrpSpPr/>
          <p:nvPr/>
        </p:nvGrpSpPr>
        <p:grpSpPr>
          <a:xfrm>
            <a:off x="1057787" y="251137"/>
            <a:ext cx="4336587" cy="3132020"/>
            <a:chOff x="-332279" y="4329401"/>
            <a:chExt cx="4336587" cy="31320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0FDDE8-F9E8-384C-5260-36965A6D3D88}"/>
                </a:ext>
              </a:extLst>
            </p:cNvPr>
            <p:cNvSpPr txBox="1"/>
            <p:nvPr/>
          </p:nvSpPr>
          <p:spPr>
            <a:xfrm>
              <a:off x="506525" y="6938201"/>
              <a:ext cx="21453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Environmental Variable, </a:t>
              </a:r>
              <a:r>
                <a:rPr lang="en-US" sz="1400" i="1" dirty="0"/>
                <a:t>x</a:t>
              </a:r>
              <a:endParaRPr lang="en-US" sz="1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0FEBA51-FBF3-0D92-214A-7AE3AFA034BA}"/>
                </a:ext>
              </a:extLst>
            </p:cNvPr>
            <p:cNvGrpSpPr/>
            <p:nvPr/>
          </p:nvGrpSpPr>
          <p:grpSpPr>
            <a:xfrm>
              <a:off x="-332279" y="4329401"/>
              <a:ext cx="4336587" cy="2878563"/>
              <a:chOff x="-332279" y="4329401"/>
              <a:chExt cx="4336587" cy="2878563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0004914-51C5-A9CE-C88E-DA5E10AC89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733" y="5482567"/>
                <a:ext cx="1767015" cy="1208801"/>
              </a:xfrm>
              <a:prstGeom prst="line">
                <a:avLst/>
              </a:prstGeom>
              <a:ln w="76200">
                <a:solidFill>
                  <a:schemeClr val="bg1">
                    <a:alpha val="62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2C547-C829-51D6-859F-9C9C1B2609D4}"/>
                  </a:ext>
                </a:extLst>
              </p:cNvPr>
              <p:cNvSpPr txBox="1"/>
              <p:nvPr/>
            </p:nvSpPr>
            <p:spPr>
              <a:xfrm rot="16200000">
                <a:off x="-659753" y="6071727"/>
                <a:ext cx="19646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cs typeface="Times New Roman" panose="02020603050405020304" pitchFamily="18" charset="0"/>
                  </a:rPr>
                  <a:t> λ</a:t>
                </a:r>
                <a:endParaRPr lang="en-US" sz="1400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FFAC362-348C-58FD-C813-E176ED142F7E}"/>
                  </a:ext>
                </a:extLst>
              </p:cNvPr>
              <p:cNvSpPr/>
              <p:nvPr/>
            </p:nvSpPr>
            <p:spPr>
              <a:xfrm>
                <a:off x="795196" y="5403872"/>
                <a:ext cx="190878" cy="23221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B4787B6-8EC4-AA84-83DC-038D896633D5}"/>
                  </a:ext>
                </a:extLst>
              </p:cNvPr>
              <p:cNvSpPr/>
              <p:nvPr/>
            </p:nvSpPr>
            <p:spPr>
              <a:xfrm>
                <a:off x="1592039" y="5987433"/>
                <a:ext cx="190878" cy="23221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100F71C-3AA1-D965-F24F-A899AF6607C6}"/>
                  </a:ext>
                </a:extLst>
              </p:cNvPr>
              <p:cNvSpPr/>
              <p:nvPr/>
            </p:nvSpPr>
            <p:spPr>
              <a:xfrm>
                <a:off x="2477591" y="6575259"/>
                <a:ext cx="190878" cy="23221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DBA8131-7548-37B5-92F3-4E6EA608E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396" y="5229534"/>
                <a:ext cx="1" cy="1699545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8818CA8-D2E6-E8DA-6054-0DF56A3F77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9618" y="6892500"/>
                <a:ext cx="2145385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08B18D-899B-F952-FDD7-B5B2DE380595}"/>
                  </a:ext>
                </a:extLst>
              </p:cNvPr>
              <p:cNvSpPr txBox="1"/>
              <p:nvPr/>
            </p:nvSpPr>
            <p:spPr>
              <a:xfrm>
                <a:off x="-332279" y="4329401"/>
                <a:ext cx="4336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(A) </a:t>
                </a:r>
                <a:r>
                  <a:rPr lang="el-GR" sz="1600" dirty="0">
                    <a:cs typeface="Times New Roman" panose="02020603050405020304" pitchFamily="18" charset="0"/>
                  </a:rPr>
                  <a:t>λ</a:t>
                </a:r>
                <a:r>
                  <a:rPr lang="en-US" sz="1600" dirty="0">
                    <a:cs typeface="Times New Roman" panose="02020603050405020304" pitchFamily="18" charset="0"/>
                  </a:rPr>
                  <a:t> (points) varies </a:t>
                </a:r>
                <a:r>
                  <a:rPr lang="en-US" sz="1600" dirty="0"/>
                  <a:t>across a hypothetical environmental variable, </a:t>
                </a:r>
                <a:r>
                  <a:rPr lang="en-US" sz="1600" i="1" dirty="0"/>
                  <a:t>x</a:t>
                </a:r>
                <a:r>
                  <a:rPr lang="en-US" sz="1600" dirty="0"/>
                  <a:t>, with a known relationship, </a:t>
                </a:r>
                <a:r>
                  <a:rPr lang="el-GR" sz="1600" dirty="0">
                    <a:cs typeface="Times New Roman" panose="02020603050405020304" pitchFamily="18" charset="0"/>
                  </a:rPr>
                  <a:t>β</a:t>
                </a:r>
                <a:r>
                  <a:rPr lang="en-US" sz="1600" dirty="0">
                    <a:cs typeface="Times New Roman" panose="02020603050405020304" pitchFamily="18" charset="0"/>
                  </a:rPr>
                  <a:t> (dashed line)</a:t>
                </a:r>
                <a:endParaRPr lang="en-US" sz="1600" dirty="0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6FE0CA-F297-B6E4-B667-A73A874FFEFF}"/>
              </a:ext>
            </a:extLst>
          </p:cNvPr>
          <p:cNvGrpSpPr/>
          <p:nvPr/>
        </p:nvGrpSpPr>
        <p:grpSpPr>
          <a:xfrm>
            <a:off x="6890675" y="3610397"/>
            <a:ext cx="3270555" cy="2982827"/>
            <a:chOff x="7426582" y="7561204"/>
            <a:chExt cx="3270555" cy="2982827"/>
          </a:xfrm>
        </p:grpSpPr>
        <p:sp>
          <p:nvSpPr>
            <p:cNvPr id="16" name="Chord 195">
              <a:extLst>
                <a:ext uri="{FF2B5EF4-FFF2-40B4-BE49-F238E27FC236}">
                  <a16:creationId xmlns:a16="http://schemas.microsoft.com/office/drawing/2014/main" id="{1A256D43-BC16-0BCF-A5F6-30277380AD7E}"/>
                </a:ext>
              </a:extLst>
            </p:cNvPr>
            <p:cNvSpPr/>
            <p:nvPr/>
          </p:nvSpPr>
          <p:spPr>
            <a:xfrm rot="10641725">
              <a:off x="8040301" y="8852046"/>
              <a:ext cx="1129121" cy="1266889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  <a:gd name="connsiteX0" fmla="*/ 1562742 w 1562742"/>
                <a:gd name="connsiteY0" fmla="*/ 26054 h 591172"/>
                <a:gd name="connsiteX1" fmla="*/ 739289 w 1562742"/>
                <a:gd name="connsiteY1" fmla="*/ 591172 h 591172"/>
                <a:gd name="connsiteX2" fmla="*/ 0 w 1562742"/>
                <a:gd name="connsiteY2" fmla="*/ 0 h 591172"/>
                <a:gd name="connsiteX3" fmla="*/ 1562742 w 1562742"/>
                <a:gd name="connsiteY3" fmla="*/ 26054 h 59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2" h="591172">
                  <a:moveTo>
                    <a:pt x="1562742" y="26054"/>
                  </a:moveTo>
                  <a:cubicBezTo>
                    <a:pt x="1008875" y="219672"/>
                    <a:pt x="1191397" y="567677"/>
                    <a:pt x="739289" y="591172"/>
                  </a:cubicBezTo>
                  <a:cubicBezTo>
                    <a:pt x="430094" y="540391"/>
                    <a:pt x="685969" y="59549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019AFF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Chord 195">
              <a:extLst>
                <a:ext uri="{FF2B5EF4-FFF2-40B4-BE49-F238E27FC236}">
                  <a16:creationId xmlns:a16="http://schemas.microsoft.com/office/drawing/2014/main" id="{3D43E22E-B36E-DE15-1B83-01CC5BFB9163}"/>
                </a:ext>
              </a:extLst>
            </p:cNvPr>
            <p:cNvSpPr/>
            <p:nvPr/>
          </p:nvSpPr>
          <p:spPr>
            <a:xfrm rot="10641725">
              <a:off x="8711723" y="8966497"/>
              <a:ext cx="1347710" cy="1092589"/>
            </a:xfrm>
            <a:custGeom>
              <a:avLst/>
              <a:gdLst>
                <a:gd name="connsiteX0" fmla="*/ 1549201 w 1637532"/>
                <a:gd name="connsiteY0" fmla="*/ 1334292 h 1838115"/>
                <a:gd name="connsiteX1" fmla="*/ 790005 w 1637532"/>
                <a:gd name="connsiteY1" fmla="*/ 1837549 h 1838115"/>
                <a:gd name="connsiteX2" fmla="*/ 67984 w 1637532"/>
                <a:gd name="connsiteY2" fmla="*/ 1285728 h 1838115"/>
                <a:gd name="connsiteX3" fmla="*/ 1549201 w 1637532"/>
                <a:gd name="connsiteY3" fmla="*/ 1334292 h 1838115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81217 w 1481217"/>
                <a:gd name="connsiteY0" fmla="*/ 48564 h 552180"/>
                <a:gd name="connsiteX1" fmla="*/ 722021 w 1481217"/>
                <a:gd name="connsiteY1" fmla="*/ 551821 h 552180"/>
                <a:gd name="connsiteX2" fmla="*/ 0 w 1481217"/>
                <a:gd name="connsiteY2" fmla="*/ 0 h 552180"/>
                <a:gd name="connsiteX3" fmla="*/ 1481217 w 1481217"/>
                <a:gd name="connsiteY3" fmla="*/ 48564 h 552180"/>
                <a:gd name="connsiteX0" fmla="*/ 1479346 w 1479346"/>
                <a:gd name="connsiteY0" fmla="*/ 89161 h 552230"/>
                <a:gd name="connsiteX1" fmla="*/ 722021 w 1479346"/>
                <a:gd name="connsiteY1" fmla="*/ 551821 h 552230"/>
                <a:gd name="connsiteX2" fmla="*/ 0 w 1479346"/>
                <a:gd name="connsiteY2" fmla="*/ 0 h 552230"/>
                <a:gd name="connsiteX3" fmla="*/ 1479346 w 1479346"/>
                <a:gd name="connsiteY3" fmla="*/ 89161 h 552230"/>
                <a:gd name="connsiteX0" fmla="*/ 1480281 w 1480281"/>
                <a:gd name="connsiteY0" fmla="*/ 68863 h 552204"/>
                <a:gd name="connsiteX1" fmla="*/ 722021 w 1480281"/>
                <a:gd name="connsiteY1" fmla="*/ 551821 h 552204"/>
                <a:gd name="connsiteX2" fmla="*/ 0 w 1480281"/>
                <a:gd name="connsiteY2" fmla="*/ 0 h 552204"/>
                <a:gd name="connsiteX3" fmla="*/ 1480281 w 1480281"/>
                <a:gd name="connsiteY3" fmla="*/ 68863 h 552204"/>
                <a:gd name="connsiteX0" fmla="*/ 1562742 w 1562743"/>
                <a:gd name="connsiteY0" fmla="*/ 26054 h 552157"/>
                <a:gd name="connsiteX1" fmla="*/ 722021 w 1562743"/>
                <a:gd name="connsiteY1" fmla="*/ 551821 h 552157"/>
                <a:gd name="connsiteX2" fmla="*/ 0 w 1562743"/>
                <a:gd name="connsiteY2" fmla="*/ 0 h 552157"/>
                <a:gd name="connsiteX3" fmla="*/ 1562742 w 1562743"/>
                <a:gd name="connsiteY3" fmla="*/ 26054 h 552157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2155"/>
                <a:gd name="connsiteX1" fmla="*/ 722021 w 1562743"/>
                <a:gd name="connsiteY1" fmla="*/ 551821 h 552155"/>
                <a:gd name="connsiteX2" fmla="*/ 0 w 1562743"/>
                <a:gd name="connsiteY2" fmla="*/ 0 h 552155"/>
                <a:gd name="connsiteX3" fmla="*/ 1562742 w 1562743"/>
                <a:gd name="connsiteY3" fmla="*/ 26054 h 552155"/>
                <a:gd name="connsiteX0" fmla="*/ 1562742 w 1562741"/>
                <a:gd name="connsiteY0" fmla="*/ 26054 h 552155"/>
                <a:gd name="connsiteX1" fmla="*/ 722021 w 1562741"/>
                <a:gd name="connsiteY1" fmla="*/ 551821 h 552155"/>
                <a:gd name="connsiteX2" fmla="*/ 0 w 1562741"/>
                <a:gd name="connsiteY2" fmla="*/ 0 h 552155"/>
                <a:gd name="connsiteX3" fmla="*/ 1562742 w 1562741"/>
                <a:gd name="connsiteY3" fmla="*/ 26054 h 552155"/>
                <a:gd name="connsiteX0" fmla="*/ 1562742 w 1562743"/>
                <a:gd name="connsiteY0" fmla="*/ 26054 h 551821"/>
                <a:gd name="connsiteX1" fmla="*/ 722021 w 1562743"/>
                <a:gd name="connsiteY1" fmla="*/ 551821 h 551821"/>
                <a:gd name="connsiteX2" fmla="*/ 0 w 1562743"/>
                <a:gd name="connsiteY2" fmla="*/ 0 h 551821"/>
                <a:gd name="connsiteX3" fmla="*/ 1562742 w 1562743"/>
                <a:gd name="connsiteY3" fmla="*/ 26054 h 551821"/>
                <a:gd name="connsiteX0" fmla="*/ 1562742 w 1562741"/>
                <a:gd name="connsiteY0" fmla="*/ 26054 h 589658"/>
                <a:gd name="connsiteX1" fmla="*/ 678183 w 1562741"/>
                <a:gd name="connsiteY1" fmla="*/ 589658 h 589658"/>
                <a:gd name="connsiteX2" fmla="*/ 0 w 1562741"/>
                <a:gd name="connsiteY2" fmla="*/ 0 h 589658"/>
                <a:gd name="connsiteX3" fmla="*/ 1562742 w 1562741"/>
                <a:gd name="connsiteY3" fmla="*/ 26054 h 58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2741" h="589658">
                  <a:moveTo>
                    <a:pt x="1562742" y="26054"/>
                  </a:moveTo>
                  <a:cubicBezTo>
                    <a:pt x="1008875" y="219672"/>
                    <a:pt x="1080308" y="553947"/>
                    <a:pt x="678183" y="589658"/>
                  </a:cubicBezTo>
                  <a:cubicBezTo>
                    <a:pt x="368988" y="538877"/>
                    <a:pt x="615478" y="167583"/>
                    <a:pt x="0" y="0"/>
                  </a:cubicBezTo>
                  <a:lnTo>
                    <a:pt x="1562742" y="26054"/>
                  </a:lnTo>
                  <a:close/>
                </a:path>
              </a:pathLst>
            </a:custGeom>
            <a:solidFill>
              <a:srgbClr val="FF198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90BEFCE-A613-024C-E7CB-45B577C0DF71}"/>
                </a:ext>
              </a:extLst>
            </p:cNvPr>
            <p:cNvCxnSpPr>
              <a:cxnSpLocks/>
            </p:cNvCxnSpPr>
            <p:nvPr/>
          </p:nvCxnSpPr>
          <p:spPr>
            <a:xfrm>
              <a:off x="7948762" y="8389272"/>
              <a:ext cx="1" cy="16995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735B4A-C9F8-9104-3CCE-806858637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4984" y="10052238"/>
              <a:ext cx="214538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3518DC-8659-89DC-F7BE-7F84769FD333}"/>
                </a:ext>
              </a:extLst>
            </p:cNvPr>
            <p:cNvSpPr txBox="1"/>
            <p:nvPr/>
          </p:nvSpPr>
          <p:spPr>
            <a:xfrm rot="16200000">
              <a:off x="6888841" y="9088532"/>
              <a:ext cx="1547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cs typeface="Times New Roman" panose="02020603050405020304" pitchFamily="18" charset="0"/>
                </a:rPr>
                <a:t>Density</a:t>
              </a:r>
              <a:endParaRPr lang="en-US" sz="1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0DBE6A-A181-F2B9-B25D-070D5570DF88}"/>
                </a:ext>
              </a:extLst>
            </p:cNvPr>
            <p:cNvSpPr txBox="1"/>
            <p:nvPr/>
          </p:nvSpPr>
          <p:spPr>
            <a:xfrm>
              <a:off x="7862532" y="10236254"/>
              <a:ext cx="22378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Distribution of </a:t>
              </a:r>
              <a:r>
                <a:rPr lang="el-GR" sz="1400" dirty="0">
                  <a:cs typeface="Times New Roman" panose="02020603050405020304" pitchFamily="18" charset="0"/>
                </a:rPr>
                <a:t>β</a:t>
              </a:r>
              <a:r>
                <a:rPr lang="en-US" sz="1400" baseline="-25000" dirty="0" err="1">
                  <a:cs typeface="Times New Roman" panose="02020603050405020304" pitchFamily="18" charset="0"/>
                </a:rPr>
                <a:t>est</a:t>
              </a:r>
              <a:endParaRPr lang="en-US" sz="1400" baseline="-25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9984E01-0E8E-9A87-E5E1-59BF1056859B}"/>
                </a:ext>
              </a:extLst>
            </p:cNvPr>
            <p:cNvSpPr txBox="1"/>
            <p:nvPr/>
          </p:nvSpPr>
          <p:spPr>
            <a:xfrm>
              <a:off x="7426582" y="7561204"/>
              <a:ext cx="32705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(D) Compare distribution of </a:t>
              </a:r>
              <a:r>
                <a:rPr lang="el-GR" sz="1600" dirty="0">
                  <a:cs typeface="Times New Roman" panose="02020603050405020304" pitchFamily="18" charset="0"/>
                </a:rPr>
                <a:t>β</a:t>
              </a:r>
              <a:r>
                <a:rPr lang="en-US" sz="1600" dirty="0">
                  <a:cs typeface="Times New Roman" panose="02020603050405020304" pitchFamily="18" charset="0"/>
                </a:rPr>
                <a:t> estimates (colors) to known value</a:t>
              </a:r>
              <a:r>
                <a:rPr lang="en-US" sz="1600" dirty="0"/>
                <a:t> (dashed vertical line)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A5A1924-1191-152A-D5E2-8E2C1B564195}"/>
                </a:ext>
              </a:extLst>
            </p:cNvPr>
            <p:cNvCxnSpPr>
              <a:cxnSpLocks/>
            </p:cNvCxnSpPr>
            <p:nvPr/>
          </p:nvCxnSpPr>
          <p:spPr>
            <a:xfrm>
              <a:off x="9141404" y="8438437"/>
              <a:ext cx="32766" cy="1667939"/>
            </a:xfrm>
            <a:prstGeom prst="line">
              <a:avLst/>
            </a:prstGeom>
            <a:ln w="76200">
              <a:solidFill>
                <a:schemeClr val="bg1">
                  <a:alpha val="62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8515C7-43F7-6115-7E1F-DCC09D1DB67E}"/>
              </a:ext>
            </a:extLst>
          </p:cNvPr>
          <p:cNvGrpSpPr/>
          <p:nvPr/>
        </p:nvGrpSpPr>
        <p:grpSpPr>
          <a:xfrm>
            <a:off x="6610521" y="228606"/>
            <a:ext cx="4166270" cy="2905483"/>
            <a:chOff x="3753510" y="3946014"/>
            <a:chExt cx="4166270" cy="29054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183A6CB-EDCA-E35D-4E4E-817A9D29991C}"/>
                    </a:ext>
                  </a:extLst>
                </p:cNvPr>
                <p:cNvSpPr txBox="1"/>
                <p:nvPr/>
              </p:nvSpPr>
              <p:spPr>
                <a:xfrm>
                  <a:off x="3864735" y="3946014"/>
                  <a:ext cx="3835602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(B) Sample body sizes, </a:t>
                  </a:r>
                  <a:r>
                    <a:rPr lang="en-US" sz="1600" i="1" dirty="0"/>
                    <a:t>m </a:t>
                  </a:r>
                  <a:r>
                    <a:rPr lang="en-US" sz="1600" dirty="0"/>
                    <a:t>based on known </a:t>
                  </a:r>
                  <a:r>
                    <a:rPr lang="el-GR" sz="1600" dirty="0">
                      <a:cs typeface="Times New Roman" panose="02020603050405020304" pitchFamily="18" charset="0"/>
                    </a:rPr>
                    <a:t>λ</a:t>
                  </a:r>
                  <a:r>
                    <a:rPr lang="en-US" sz="1600" dirty="0">
                      <a:cs typeface="Times New Roman" panose="02020603050405020304" pitchFamily="18" charset="0"/>
                    </a:rPr>
                    <a:t>; Bias data according to sampling probability function; Censor data by estimating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183A6CB-EDCA-E35D-4E4E-817A9D299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735" y="3946014"/>
                  <a:ext cx="3835602" cy="1077218"/>
                </a:xfrm>
                <a:prstGeom prst="rect">
                  <a:avLst/>
                </a:prstGeom>
                <a:blipFill>
                  <a:blip r:embed="rId2"/>
                  <a:stretch>
                    <a:fillRect t="-1705" r="-636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605B84-686C-A951-5189-D0BD5EA8B866}"/>
                </a:ext>
              </a:extLst>
            </p:cNvPr>
            <p:cNvGrpSpPr/>
            <p:nvPr/>
          </p:nvGrpSpPr>
          <p:grpSpPr>
            <a:xfrm>
              <a:off x="3753510" y="5388457"/>
              <a:ext cx="4166270" cy="1463040"/>
              <a:chOff x="3650096" y="5421566"/>
              <a:chExt cx="4166270" cy="146304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21FF8C0-F04A-1392-2F90-73FF15F8359A}"/>
                  </a:ext>
                </a:extLst>
              </p:cNvPr>
              <p:cNvGrpSpPr/>
              <p:nvPr/>
            </p:nvGrpSpPr>
            <p:grpSpPr>
              <a:xfrm>
                <a:off x="5128620" y="5423412"/>
                <a:ext cx="1123974" cy="1459349"/>
                <a:chOff x="5115241" y="1831154"/>
                <a:chExt cx="1986464" cy="2419241"/>
              </a:xfrm>
            </p:grpSpPr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BCA61732-703C-24B5-B139-573B09A7D140}"/>
                    </a:ext>
                  </a:extLst>
                </p:cNvPr>
                <p:cNvSpPr/>
                <p:nvPr/>
              </p:nvSpPr>
              <p:spPr>
                <a:xfrm>
                  <a:off x="5200971" y="2070354"/>
                  <a:ext cx="1815004" cy="1985508"/>
                </a:xfrm>
                <a:custGeom>
                  <a:avLst/>
                  <a:gdLst>
                    <a:gd name="connsiteX0" fmla="*/ 0 w 2381250"/>
                    <a:gd name="connsiteY0" fmla="*/ 1716959 h 1724029"/>
                    <a:gd name="connsiteX1" fmla="*/ 685800 w 2381250"/>
                    <a:gd name="connsiteY1" fmla="*/ 1526459 h 1724029"/>
                    <a:gd name="connsiteX2" fmla="*/ 1257300 w 2381250"/>
                    <a:gd name="connsiteY2" fmla="*/ 402509 h 1724029"/>
                    <a:gd name="connsiteX3" fmla="*/ 1714500 w 2381250"/>
                    <a:gd name="connsiteY3" fmla="*/ 59609 h 1724029"/>
                    <a:gd name="connsiteX4" fmla="*/ 2381250 w 2381250"/>
                    <a:gd name="connsiteY4" fmla="*/ 2459 h 1724029"/>
                    <a:gd name="connsiteX0" fmla="*/ 0 w 3710190"/>
                    <a:gd name="connsiteY0" fmla="*/ 1705042 h 1712112"/>
                    <a:gd name="connsiteX1" fmla="*/ 685800 w 3710190"/>
                    <a:gd name="connsiteY1" fmla="*/ 1514542 h 1712112"/>
                    <a:gd name="connsiteX2" fmla="*/ 1257300 w 3710190"/>
                    <a:gd name="connsiteY2" fmla="*/ 390592 h 1712112"/>
                    <a:gd name="connsiteX3" fmla="*/ 1714500 w 3710190"/>
                    <a:gd name="connsiteY3" fmla="*/ 47692 h 1712112"/>
                    <a:gd name="connsiteX4" fmla="*/ 3710190 w 3710190"/>
                    <a:gd name="connsiteY4" fmla="*/ 6969 h 1712112"/>
                    <a:gd name="connsiteX0" fmla="*/ 0 w 3202066"/>
                    <a:gd name="connsiteY0" fmla="*/ 1705042 h 1712112"/>
                    <a:gd name="connsiteX1" fmla="*/ 685800 w 3202066"/>
                    <a:gd name="connsiteY1" fmla="*/ 1514542 h 1712112"/>
                    <a:gd name="connsiteX2" fmla="*/ 1257300 w 3202066"/>
                    <a:gd name="connsiteY2" fmla="*/ 390592 h 1712112"/>
                    <a:gd name="connsiteX3" fmla="*/ 1714500 w 3202066"/>
                    <a:gd name="connsiteY3" fmla="*/ 47692 h 1712112"/>
                    <a:gd name="connsiteX4" fmla="*/ 3202066 w 3202066"/>
                    <a:gd name="connsiteY4" fmla="*/ 6969 h 1712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02066" h="1712112">
                      <a:moveTo>
                        <a:pt x="0" y="1705042"/>
                      </a:moveTo>
                      <a:cubicBezTo>
                        <a:pt x="238125" y="1719329"/>
                        <a:pt x="476250" y="1733617"/>
                        <a:pt x="685800" y="1514542"/>
                      </a:cubicBezTo>
                      <a:cubicBezTo>
                        <a:pt x="895350" y="1295467"/>
                        <a:pt x="1085850" y="635067"/>
                        <a:pt x="1257300" y="390592"/>
                      </a:cubicBezTo>
                      <a:cubicBezTo>
                        <a:pt x="1428750" y="146117"/>
                        <a:pt x="1527175" y="114367"/>
                        <a:pt x="1714500" y="47692"/>
                      </a:cubicBezTo>
                      <a:cubicBezTo>
                        <a:pt x="1901825" y="-18983"/>
                        <a:pt x="2962353" y="2206"/>
                        <a:pt x="3202066" y="6969"/>
                      </a:cubicBezTo>
                    </a:path>
                  </a:pathLst>
                </a:custGeom>
                <a:noFill/>
                <a:ln w="76200">
                  <a:solidFill>
                    <a:srgbClr val="BC54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E5DFE354-018C-86D9-7FAF-1BB6BE015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8246" y="1831154"/>
                  <a:ext cx="0" cy="2419241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40C12617-4CF9-4179-6361-22AD35BA08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15241" y="4224914"/>
                  <a:ext cx="1986464" cy="0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Multiplication Sign 27">
                <a:extLst>
                  <a:ext uri="{FF2B5EF4-FFF2-40B4-BE49-F238E27FC236}">
                    <a16:creationId xmlns:a16="http://schemas.microsoft.com/office/drawing/2014/main" id="{E456E928-1D6B-7063-714D-0F2D6800C830}"/>
                  </a:ext>
                </a:extLst>
              </p:cNvPr>
              <p:cNvSpPr/>
              <p:nvPr/>
            </p:nvSpPr>
            <p:spPr>
              <a:xfrm>
                <a:off x="4489682" y="5924494"/>
                <a:ext cx="457200" cy="457184"/>
              </a:xfrm>
              <a:prstGeom prst="mathMultiply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68DC1B2-FEA5-5C45-B8AB-5B14BCBCBC79}"/>
                  </a:ext>
                </a:extLst>
              </p:cNvPr>
              <p:cNvGrpSpPr/>
              <p:nvPr/>
            </p:nvGrpSpPr>
            <p:grpSpPr>
              <a:xfrm>
                <a:off x="3650096" y="5423412"/>
                <a:ext cx="1123974" cy="1459349"/>
                <a:chOff x="657574" y="958581"/>
                <a:chExt cx="1986464" cy="2419241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FB062929-654B-E226-4E16-9E9154F8B1B8}"/>
                    </a:ext>
                  </a:extLst>
                </p:cNvPr>
                <p:cNvSpPr/>
                <p:nvPr/>
              </p:nvSpPr>
              <p:spPr>
                <a:xfrm>
                  <a:off x="788063" y="1110110"/>
                  <a:ext cx="45719" cy="22520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0285E5A2-AD7D-3E37-B721-C23DDA6EF02A}"/>
                    </a:ext>
                  </a:extLst>
                </p:cNvPr>
                <p:cNvSpPr/>
                <p:nvPr/>
              </p:nvSpPr>
              <p:spPr>
                <a:xfrm>
                  <a:off x="926471" y="1440901"/>
                  <a:ext cx="45719" cy="19212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3171A97-6F5B-4922-240A-D35EE62B0709}"/>
                    </a:ext>
                  </a:extLst>
                </p:cNvPr>
                <p:cNvSpPr/>
                <p:nvPr/>
              </p:nvSpPr>
              <p:spPr>
                <a:xfrm>
                  <a:off x="1064879" y="1832787"/>
                  <a:ext cx="45719" cy="15293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7552E282-2329-11B9-8207-5934632BC46D}"/>
                    </a:ext>
                  </a:extLst>
                </p:cNvPr>
                <p:cNvSpPr/>
                <p:nvPr/>
              </p:nvSpPr>
              <p:spPr>
                <a:xfrm>
                  <a:off x="1203287" y="2089021"/>
                  <a:ext cx="45719" cy="12730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981DB646-E19D-40B9-C9A8-AFC8C6E84332}"/>
                    </a:ext>
                  </a:extLst>
                </p:cNvPr>
                <p:cNvSpPr/>
                <p:nvPr/>
              </p:nvSpPr>
              <p:spPr>
                <a:xfrm>
                  <a:off x="1341695" y="2269891"/>
                  <a:ext cx="45719" cy="10922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3B3864F-B5D0-520B-1B19-80BEBEEE4AEF}"/>
                    </a:ext>
                  </a:extLst>
                </p:cNvPr>
                <p:cNvSpPr/>
                <p:nvPr/>
              </p:nvSpPr>
              <p:spPr>
                <a:xfrm>
                  <a:off x="1480103" y="2460809"/>
                  <a:ext cx="45719" cy="901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D23D024-A846-8BE7-23CE-5389842118EC}"/>
                    </a:ext>
                  </a:extLst>
                </p:cNvPr>
                <p:cNvSpPr/>
                <p:nvPr/>
              </p:nvSpPr>
              <p:spPr>
                <a:xfrm>
                  <a:off x="1618511" y="2686898"/>
                  <a:ext cx="45719" cy="6752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664C433-23E7-251E-0E94-1E1D5BAF934B}"/>
                    </a:ext>
                  </a:extLst>
                </p:cNvPr>
                <p:cNvSpPr/>
                <p:nvPr/>
              </p:nvSpPr>
              <p:spPr>
                <a:xfrm>
                  <a:off x="1756919" y="2887864"/>
                  <a:ext cx="45719" cy="4742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697E55C-EF16-1DAD-7FAA-43A9988AB498}"/>
                    </a:ext>
                  </a:extLst>
                </p:cNvPr>
                <p:cNvSpPr/>
                <p:nvPr/>
              </p:nvSpPr>
              <p:spPr>
                <a:xfrm>
                  <a:off x="1895327" y="3033565"/>
                  <a:ext cx="45719" cy="328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3944F28-3848-8688-8000-00C1F1962B6E}"/>
                    </a:ext>
                  </a:extLst>
                </p:cNvPr>
                <p:cNvSpPr/>
                <p:nvPr/>
              </p:nvSpPr>
              <p:spPr>
                <a:xfrm>
                  <a:off x="2033735" y="3149121"/>
                  <a:ext cx="45719" cy="2129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A15FE1E-CA61-CA34-192C-BE5E8C083CDE}"/>
                    </a:ext>
                  </a:extLst>
                </p:cNvPr>
                <p:cNvSpPr/>
                <p:nvPr/>
              </p:nvSpPr>
              <p:spPr>
                <a:xfrm>
                  <a:off x="2172143" y="3194339"/>
                  <a:ext cx="45719" cy="1677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4566C48E-3F18-6F3A-3DA3-F9946F5824A0}"/>
                    </a:ext>
                  </a:extLst>
                </p:cNvPr>
                <p:cNvSpPr/>
                <p:nvPr/>
              </p:nvSpPr>
              <p:spPr>
                <a:xfrm>
                  <a:off x="2310551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20BAB58-02DB-0FD0-8A02-8853CC868561}"/>
                    </a:ext>
                  </a:extLst>
                </p:cNvPr>
                <p:cNvSpPr/>
                <p:nvPr/>
              </p:nvSpPr>
              <p:spPr>
                <a:xfrm>
                  <a:off x="2448959" y="3239557"/>
                  <a:ext cx="45719" cy="122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FDA695CA-68D3-BFFE-B70C-A33C8C8117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479" y="958581"/>
                  <a:ext cx="0" cy="2419241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AF927356-0BD6-993A-E12A-DD384A8ACB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574" y="3353145"/>
                  <a:ext cx="1986464" cy="0"/>
                </a:xfrm>
                <a:prstGeom prst="line">
                  <a:avLst/>
                </a:prstGeom>
                <a:ln w="571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37F711D-6A46-0732-C31B-B1424B22319A}"/>
                  </a:ext>
                </a:extLst>
              </p:cNvPr>
              <p:cNvSpPr/>
              <p:nvPr/>
            </p:nvSpPr>
            <p:spPr>
              <a:xfrm>
                <a:off x="6763112" y="6588303"/>
                <a:ext cx="25886" cy="286803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E167951-8955-072A-DE72-DFCAC1B3CE7E}"/>
                  </a:ext>
                </a:extLst>
              </p:cNvPr>
              <p:cNvSpPr/>
              <p:nvPr/>
            </p:nvSpPr>
            <p:spPr>
              <a:xfrm>
                <a:off x="6841477" y="6403204"/>
                <a:ext cx="25886" cy="471902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EA5C39A-2EEA-C715-5D07-91915BFF2BCA}"/>
                  </a:ext>
                </a:extLst>
              </p:cNvPr>
              <p:cNvSpPr/>
              <p:nvPr/>
            </p:nvSpPr>
            <p:spPr>
              <a:xfrm>
                <a:off x="6919842" y="6214583"/>
                <a:ext cx="25886" cy="660522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066919F-41B3-79F3-38B1-AEB6FB80970D}"/>
                  </a:ext>
                </a:extLst>
              </p:cNvPr>
              <p:cNvSpPr/>
              <p:nvPr/>
            </p:nvSpPr>
            <p:spPr>
              <a:xfrm>
                <a:off x="6998207" y="6105201"/>
                <a:ext cx="25886" cy="76990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159AB6D-E3D0-DED3-F462-86333FE75BB4}"/>
                  </a:ext>
                </a:extLst>
              </p:cNvPr>
              <p:cNvSpPr/>
              <p:nvPr/>
            </p:nvSpPr>
            <p:spPr>
              <a:xfrm>
                <a:off x="7076572" y="6214583"/>
                <a:ext cx="25886" cy="660523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104C113-7596-865C-9CE6-B683FF65C291}"/>
                  </a:ext>
                </a:extLst>
              </p:cNvPr>
              <p:cNvSpPr/>
              <p:nvPr/>
            </p:nvSpPr>
            <p:spPr>
              <a:xfrm>
                <a:off x="7154937" y="6330041"/>
                <a:ext cx="25886" cy="54506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DCBD657-AA03-EBF3-B74F-EF4D4812DFB9}"/>
                  </a:ext>
                </a:extLst>
              </p:cNvPr>
              <p:cNvSpPr/>
              <p:nvPr/>
            </p:nvSpPr>
            <p:spPr>
              <a:xfrm>
                <a:off x="7233302" y="6466769"/>
                <a:ext cx="25886" cy="408337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46CB12D-9D08-7EB1-36AC-4F98A0443B2F}"/>
                  </a:ext>
                </a:extLst>
              </p:cNvPr>
              <p:cNvSpPr/>
              <p:nvPr/>
            </p:nvSpPr>
            <p:spPr>
              <a:xfrm>
                <a:off x="7311667" y="6588303"/>
                <a:ext cx="25886" cy="286802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492FBE2-406B-AF7B-54F5-B5932A053996}"/>
                  </a:ext>
                </a:extLst>
              </p:cNvPr>
              <p:cNvSpPr/>
              <p:nvPr/>
            </p:nvSpPr>
            <p:spPr>
              <a:xfrm>
                <a:off x="7390032" y="6676416"/>
                <a:ext cx="25886" cy="198689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544F316-6C94-C8C9-B93D-554291FDB1E2}"/>
                  </a:ext>
                </a:extLst>
              </p:cNvPr>
              <p:cNvSpPr/>
              <p:nvPr/>
            </p:nvSpPr>
            <p:spPr>
              <a:xfrm>
                <a:off x="7468397" y="6746299"/>
                <a:ext cx="25886" cy="128806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4938C09-05A7-4117-B7FC-A5666F4404F5}"/>
                  </a:ext>
                </a:extLst>
              </p:cNvPr>
              <p:cNvSpPr/>
              <p:nvPr/>
            </p:nvSpPr>
            <p:spPr>
              <a:xfrm>
                <a:off x="7546761" y="6773644"/>
                <a:ext cx="25886" cy="101460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BAD942-FE9C-B0B2-2229-F733BFC139C4}"/>
                  </a:ext>
                </a:extLst>
              </p:cNvPr>
              <p:cNvSpPr/>
              <p:nvPr/>
            </p:nvSpPr>
            <p:spPr>
              <a:xfrm>
                <a:off x="7625126" y="6800990"/>
                <a:ext cx="25886" cy="7411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54E13C8-F2C9-DA69-189C-5F34EE03C6C5}"/>
                  </a:ext>
                </a:extLst>
              </p:cNvPr>
              <p:cNvSpPr/>
              <p:nvPr/>
            </p:nvSpPr>
            <p:spPr>
              <a:xfrm>
                <a:off x="7703491" y="6800990"/>
                <a:ext cx="25886" cy="7411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27C497D-9540-C10C-6AEA-F0AE7D96DA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6163" y="5421566"/>
                <a:ext cx="0" cy="146304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ED9103D-4F1F-5733-0ECF-EC32F7DAE3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1654" y="6871975"/>
                <a:ext cx="1124712" cy="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Equals 44">
                <a:extLst>
                  <a:ext uri="{FF2B5EF4-FFF2-40B4-BE49-F238E27FC236}">
                    <a16:creationId xmlns:a16="http://schemas.microsoft.com/office/drawing/2014/main" id="{9020F64A-A8FB-A032-8705-286B78D2A867}"/>
                  </a:ext>
                </a:extLst>
              </p:cNvPr>
              <p:cNvSpPr/>
              <p:nvPr/>
            </p:nvSpPr>
            <p:spPr>
              <a:xfrm>
                <a:off x="6058217" y="5924486"/>
                <a:ext cx="457200" cy="457200"/>
              </a:xfrm>
              <a:prstGeom prst="mathEqual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CF34801-1D59-0822-E09F-EC2AC79275D3}"/>
                  </a:ext>
                </a:extLst>
              </p:cNvPr>
              <p:cNvSpPr/>
              <p:nvPr/>
            </p:nvSpPr>
            <p:spPr>
              <a:xfrm>
                <a:off x="6995078" y="5987433"/>
                <a:ext cx="748109" cy="780690"/>
              </a:xfrm>
              <a:custGeom>
                <a:avLst/>
                <a:gdLst>
                  <a:gd name="connsiteX0" fmla="*/ 0 w 1728216"/>
                  <a:gd name="connsiteY0" fmla="*/ 0 h 1014984"/>
                  <a:gd name="connsiteX1" fmla="*/ 338328 w 1728216"/>
                  <a:gd name="connsiteY1" fmla="*/ 521208 h 1014984"/>
                  <a:gd name="connsiteX2" fmla="*/ 603504 w 1728216"/>
                  <a:gd name="connsiteY2" fmla="*/ 768096 h 1014984"/>
                  <a:gd name="connsiteX3" fmla="*/ 1005840 w 1728216"/>
                  <a:gd name="connsiteY3" fmla="*/ 923544 h 1014984"/>
                  <a:gd name="connsiteX4" fmla="*/ 1728216 w 1728216"/>
                  <a:gd name="connsiteY4" fmla="*/ 1014984 h 101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8216" h="1014984">
                    <a:moveTo>
                      <a:pt x="0" y="0"/>
                    </a:moveTo>
                    <a:cubicBezTo>
                      <a:pt x="118872" y="196596"/>
                      <a:pt x="237744" y="393192"/>
                      <a:pt x="338328" y="521208"/>
                    </a:cubicBezTo>
                    <a:cubicBezTo>
                      <a:pt x="438912" y="649224"/>
                      <a:pt x="492252" y="701040"/>
                      <a:pt x="603504" y="768096"/>
                    </a:cubicBezTo>
                    <a:cubicBezTo>
                      <a:pt x="714756" y="835152"/>
                      <a:pt x="818388" y="882396"/>
                      <a:pt x="1005840" y="923544"/>
                    </a:cubicBezTo>
                    <a:cubicBezTo>
                      <a:pt x="1193292" y="964692"/>
                      <a:pt x="1460754" y="989838"/>
                      <a:pt x="1728216" y="1014984"/>
                    </a:cubicBezTo>
                  </a:path>
                </a:pathLst>
              </a:custGeom>
              <a:noFill/>
              <a:ln w="28575">
                <a:solidFill>
                  <a:srgbClr val="00B0F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ABCB9F0-2CFC-B413-CC87-3B966DD9370E}"/>
                  </a:ext>
                </a:extLst>
              </p:cNvPr>
              <p:cNvSpPr/>
              <p:nvPr/>
            </p:nvSpPr>
            <p:spPr>
              <a:xfrm>
                <a:off x="6802642" y="6098963"/>
                <a:ext cx="940545" cy="669160"/>
              </a:xfrm>
              <a:custGeom>
                <a:avLst/>
                <a:gdLst>
                  <a:gd name="connsiteX0" fmla="*/ 0 w 1728216"/>
                  <a:gd name="connsiteY0" fmla="*/ 0 h 1014984"/>
                  <a:gd name="connsiteX1" fmla="*/ 338328 w 1728216"/>
                  <a:gd name="connsiteY1" fmla="*/ 521208 h 1014984"/>
                  <a:gd name="connsiteX2" fmla="*/ 603504 w 1728216"/>
                  <a:gd name="connsiteY2" fmla="*/ 768096 h 1014984"/>
                  <a:gd name="connsiteX3" fmla="*/ 1005840 w 1728216"/>
                  <a:gd name="connsiteY3" fmla="*/ 923544 h 1014984"/>
                  <a:gd name="connsiteX4" fmla="*/ 1728216 w 1728216"/>
                  <a:gd name="connsiteY4" fmla="*/ 1014984 h 101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8216" h="1014984">
                    <a:moveTo>
                      <a:pt x="0" y="0"/>
                    </a:moveTo>
                    <a:cubicBezTo>
                      <a:pt x="118872" y="196596"/>
                      <a:pt x="237744" y="393192"/>
                      <a:pt x="338328" y="521208"/>
                    </a:cubicBezTo>
                    <a:cubicBezTo>
                      <a:pt x="438912" y="649224"/>
                      <a:pt x="492252" y="701040"/>
                      <a:pt x="603504" y="768096"/>
                    </a:cubicBezTo>
                    <a:cubicBezTo>
                      <a:pt x="714756" y="835152"/>
                      <a:pt x="818388" y="882396"/>
                      <a:pt x="1005840" y="923544"/>
                    </a:cubicBezTo>
                    <a:cubicBezTo>
                      <a:pt x="1193292" y="964692"/>
                      <a:pt x="1460754" y="989838"/>
                      <a:pt x="1728216" y="101498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5B84AF4-F0A4-6AEE-4BA5-8C38EC27677F}"/>
              </a:ext>
            </a:extLst>
          </p:cNvPr>
          <p:cNvGrpSpPr/>
          <p:nvPr/>
        </p:nvGrpSpPr>
        <p:grpSpPr>
          <a:xfrm>
            <a:off x="1155610" y="3588905"/>
            <a:ext cx="3946314" cy="3162541"/>
            <a:chOff x="8094937" y="4386813"/>
            <a:chExt cx="3946314" cy="3162541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E00960-61EC-9192-6C7D-2E5CD5D301D1}"/>
                </a:ext>
              </a:extLst>
            </p:cNvPr>
            <p:cNvSpPr txBox="1"/>
            <p:nvPr/>
          </p:nvSpPr>
          <p:spPr>
            <a:xfrm>
              <a:off x="8094937" y="4386813"/>
              <a:ext cx="3946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(C) Estimate</a:t>
              </a:r>
              <a:r>
                <a:rPr lang="el-GR" sz="1600" dirty="0">
                  <a:cs typeface="Times New Roman" panose="02020603050405020304" pitchFamily="18" charset="0"/>
                </a:rPr>
                <a:t> </a:t>
              </a:r>
              <a:r>
                <a:rPr lang="en-US" sz="1600" dirty="0">
                  <a:cs typeface="Times New Roman" panose="02020603050405020304" pitchFamily="18" charset="0"/>
                </a:rPr>
                <a:t>relationship of</a:t>
              </a:r>
              <a:r>
                <a:rPr lang="en-US" sz="1600" dirty="0"/>
                <a:t> </a:t>
              </a:r>
              <a:r>
                <a:rPr lang="en-US" sz="1600" dirty="0">
                  <a:cs typeface="Times New Roman" panose="02020603050405020304" pitchFamily="18" charset="0"/>
                </a:rPr>
                <a:t>λ to environmental gradient (</a:t>
              </a:r>
              <a:r>
                <a:rPr lang="el-GR" sz="1600" dirty="0">
                  <a:cs typeface="Times New Roman" panose="02020603050405020304" pitchFamily="18" charset="0"/>
                </a:rPr>
                <a:t>β</a:t>
              </a:r>
              <a:r>
                <a:rPr lang="en-US" sz="1600" dirty="0">
                  <a:cs typeface="Times New Roman" panose="02020603050405020304" pitchFamily="18" charset="0"/>
                </a:rPr>
                <a:t>) from biased and censored data</a:t>
              </a:r>
              <a:endParaRPr lang="en-US" sz="1600" dirty="0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CB88DC4-7A05-F029-4CBB-9387F5C6A91B}"/>
                </a:ext>
              </a:extLst>
            </p:cNvPr>
            <p:cNvCxnSpPr>
              <a:cxnSpLocks/>
            </p:cNvCxnSpPr>
            <p:nvPr/>
          </p:nvCxnSpPr>
          <p:spPr>
            <a:xfrm>
              <a:off x="8966430" y="5241329"/>
              <a:ext cx="1" cy="16995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ADA21AD-AA45-6F80-9A48-F816E6F47B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2652" y="6914928"/>
              <a:ext cx="214538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8851A3B-4951-2E38-5F8B-17FD3E9AB550}"/>
                </a:ext>
              </a:extLst>
            </p:cNvPr>
            <p:cNvSpPr txBox="1"/>
            <p:nvPr/>
          </p:nvSpPr>
          <p:spPr>
            <a:xfrm rot="16200000">
              <a:off x="7906511" y="5940590"/>
              <a:ext cx="1547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cs typeface="Times New Roman" panose="02020603050405020304" pitchFamily="18" charset="0"/>
                </a:rPr>
                <a:t>λ</a:t>
              </a:r>
              <a:r>
                <a:rPr lang="en-US" sz="1400" i="1" baseline="-25000" dirty="0" err="1">
                  <a:cs typeface="Times New Roman" panose="02020603050405020304" pitchFamily="18" charset="0"/>
                </a:rPr>
                <a:t>est</a:t>
              </a:r>
              <a:r>
                <a:rPr lang="en-US" sz="1400" i="1" baseline="-25000" dirty="0">
                  <a:cs typeface="Times New Roman" panose="02020603050405020304" pitchFamily="18" charset="0"/>
                </a:rPr>
                <a:t>.</a:t>
              </a:r>
              <a:endParaRPr lang="en-US" sz="140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0EC609D-5AE0-7C57-25C9-1A8389AD4A94}"/>
                </a:ext>
              </a:extLst>
            </p:cNvPr>
            <p:cNvSpPr/>
            <p:nvPr/>
          </p:nvSpPr>
          <p:spPr>
            <a:xfrm>
              <a:off x="9054538" y="5639586"/>
              <a:ext cx="182880" cy="182880"/>
            </a:xfrm>
            <a:prstGeom prst="ellipse">
              <a:avLst/>
            </a:prstGeom>
            <a:solidFill>
              <a:srgbClr val="FF1984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BC89804-0FED-186D-1071-6015AFE994A8}"/>
                </a:ext>
              </a:extLst>
            </p:cNvPr>
            <p:cNvSpPr/>
            <p:nvPr/>
          </p:nvSpPr>
          <p:spPr>
            <a:xfrm>
              <a:off x="9244246" y="5487818"/>
              <a:ext cx="182880" cy="182880"/>
            </a:xfrm>
            <a:prstGeom prst="ellipse">
              <a:avLst/>
            </a:prstGeom>
            <a:solidFill>
              <a:srgbClr val="019AFF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9AA186C-AC54-55C4-934B-4E6D903C6F1F}"/>
                </a:ext>
              </a:extLst>
            </p:cNvPr>
            <p:cNvSpPr/>
            <p:nvPr/>
          </p:nvSpPr>
          <p:spPr>
            <a:xfrm>
              <a:off x="9933605" y="6310461"/>
              <a:ext cx="182880" cy="182880"/>
            </a:xfrm>
            <a:prstGeom prst="ellipse">
              <a:avLst/>
            </a:prstGeom>
            <a:solidFill>
              <a:srgbClr val="FF1984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ED74C54-9E5E-7718-0D25-6D87884E4211}"/>
                </a:ext>
              </a:extLst>
            </p:cNvPr>
            <p:cNvSpPr/>
            <p:nvPr/>
          </p:nvSpPr>
          <p:spPr>
            <a:xfrm>
              <a:off x="10690047" y="6290141"/>
              <a:ext cx="182880" cy="182880"/>
            </a:xfrm>
            <a:prstGeom prst="ellipse">
              <a:avLst/>
            </a:prstGeom>
            <a:solidFill>
              <a:srgbClr val="FF1984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3340C9B-6D56-886D-0B49-192B2BC73ACE}"/>
                </a:ext>
              </a:extLst>
            </p:cNvPr>
            <p:cNvSpPr/>
            <p:nvPr/>
          </p:nvSpPr>
          <p:spPr>
            <a:xfrm>
              <a:off x="10882243" y="6562133"/>
              <a:ext cx="182880" cy="182880"/>
            </a:xfrm>
            <a:prstGeom prst="ellipse">
              <a:avLst/>
            </a:prstGeom>
            <a:solidFill>
              <a:srgbClr val="019AFF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A9309E2-0D3E-409C-05A8-72A45CB32F59}"/>
                </a:ext>
              </a:extLst>
            </p:cNvPr>
            <p:cNvSpPr/>
            <p:nvPr/>
          </p:nvSpPr>
          <p:spPr>
            <a:xfrm>
              <a:off x="10068094" y="5892810"/>
              <a:ext cx="182880" cy="182880"/>
            </a:xfrm>
            <a:prstGeom prst="ellipse">
              <a:avLst/>
            </a:prstGeom>
            <a:solidFill>
              <a:srgbClr val="019AFF">
                <a:alpha val="9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528AB38-A017-9BB0-00DC-E18C8684CF14}"/>
                </a:ext>
              </a:extLst>
            </p:cNvPr>
            <p:cNvSpPr txBox="1"/>
            <p:nvPr/>
          </p:nvSpPr>
          <p:spPr>
            <a:xfrm>
              <a:off x="8966429" y="7026133"/>
              <a:ext cx="2145384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Environmental Variable, </a:t>
              </a:r>
              <a:r>
                <a:rPr lang="en-US" sz="1400" i="1" dirty="0"/>
                <a:t>x</a:t>
              </a:r>
              <a:endParaRPr lang="en-US" sz="1400" dirty="0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73539F5-EBB6-D6A7-1E76-2F51AF72404F}"/>
                </a:ext>
              </a:extLst>
            </p:cNvPr>
            <p:cNvCxnSpPr>
              <a:cxnSpLocks/>
            </p:cNvCxnSpPr>
            <p:nvPr/>
          </p:nvCxnSpPr>
          <p:spPr>
            <a:xfrm>
              <a:off x="9090182" y="5739224"/>
              <a:ext cx="1700167" cy="677337"/>
            </a:xfrm>
            <a:prstGeom prst="line">
              <a:avLst/>
            </a:prstGeom>
            <a:ln w="76200">
              <a:solidFill>
                <a:schemeClr val="accent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1112414-2F9C-FDC6-616C-B86CEE7BCF62}"/>
                </a:ext>
              </a:extLst>
            </p:cNvPr>
            <p:cNvCxnSpPr>
              <a:cxnSpLocks/>
            </p:cNvCxnSpPr>
            <p:nvPr/>
          </p:nvCxnSpPr>
          <p:spPr>
            <a:xfrm>
              <a:off x="9279890" y="5587456"/>
              <a:ext cx="1611215" cy="1009657"/>
            </a:xfrm>
            <a:prstGeom prst="line">
              <a:avLst/>
            </a:prstGeom>
            <a:ln w="76200">
              <a:solidFill>
                <a:srgbClr val="13A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06018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-march-28-2023">
  <a:themeElements>
    <a:clrScheme name="march-28-2023">
      <a:dk1>
        <a:srgbClr val="000000"/>
      </a:dk1>
      <a:lt1>
        <a:srgbClr val="000000"/>
      </a:lt1>
      <a:dk2>
        <a:srgbClr val="D8D8D8"/>
      </a:dk2>
      <a:lt2>
        <a:srgbClr val="FFFFFF"/>
      </a:lt2>
      <a:accent1>
        <a:srgbClr val="F03297"/>
      </a:accent1>
      <a:accent2>
        <a:srgbClr val="ED7D31"/>
      </a:accent2>
      <a:accent3>
        <a:srgbClr val="A732F5"/>
      </a:accent3>
      <a:accent4>
        <a:srgbClr val="81A1B3"/>
      </a:accent4>
      <a:accent5>
        <a:srgbClr val="4B6B7D"/>
      </a:accent5>
      <a:accent6>
        <a:srgbClr val="3A375F"/>
      </a:accent6>
      <a:hlink>
        <a:srgbClr val="0A0AD3"/>
      </a:hlink>
      <a:folHlink>
        <a:srgbClr val="059BAF"/>
      </a:folHlink>
    </a:clrScheme>
    <a:fontScheme name="Custom 2">
      <a:majorFont>
        <a:latin typeface="Josefin Sans Medium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-march-28-2023" id="{B59ACB4B-EAF3-4267-92B0-F931CBB3CF0C}" vid="{B2ABBA1E-CA2E-4EDB-9B99-EDA4150ABD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106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Cambria Math</vt:lpstr>
      <vt:lpstr>Josefin Sans Medium</vt:lpstr>
      <vt:lpstr>Montserrat</vt:lpstr>
      <vt:lpstr>Times New Roman</vt:lpstr>
      <vt:lpstr>Theme-march-28-2023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Pomeranz</dc:creator>
  <cp:lastModifiedBy>Justin Pomeranz</cp:lastModifiedBy>
  <cp:revision>1</cp:revision>
  <dcterms:created xsi:type="dcterms:W3CDTF">2025-11-04T20:18:59Z</dcterms:created>
  <dcterms:modified xsi:type="dcterms:W3CDTF">2025-11-04T20:19:49Z</dcterms:modified>
</cp:coreProperties>
</file>